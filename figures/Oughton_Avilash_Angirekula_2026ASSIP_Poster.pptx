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48" r:id="rId1"/>
  </p:sldMasterIdLst>
  <p:notesMasterIdLst>
    <p:notesMasterId r:id="rId3"/>
  </p:notesMasterIdLst>
  <p:sldIdLst>
    <p:sldId id="256" r:id="rId2"/>
  </p:sldIdLst>
  <p:sldSz cx="32918400" cy="24688800"/>
  <p:notesSz cx="7010400" cy="92360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776"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00"/>
    <a:srgbClr val="00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AD4020C-D529-40F8-BBB5-FADFFD60BAF7}">
  <a:tblStyle styleId="{2AD4020C-D529-40F8-BBB5-FADFFD60BAF7}" styleName="Table_0">
    <a:wholeTbl>
      <a:tcTxStyle>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5BF6B8E-B4C6-4455-9E36-4D0BB332AEDA}" styleName="Table_1">
    <a:wholeTbl>
      <a:tcTxStyle>
        <a:font>
          <a:latin typeface="Arial"/>
          <a:ea typeface="Arial"/>
          <a:cs typeface="Arial"/>
        </a:font>
        <a:srgbClr val="000000"/>
      </a:tcTxStyle>
      <a:tcStyle>
        <a:tcBdr>
          <a:left>
            <a:ln w="12700" cap="flat" cmpd="sng">
              <a:solidFill>
                <a:srgbClr val="9E9E9E"/>
              </a:solidFill>
              <a:prstDash val="solid"/>
              <a:round/>
              <a:headEnd type="none" w="sm" len="sm"/>
              <a:tailEnd type="none" w="sm" len="sm"/>
            </a:ln>
          </a:left>
          <a:right>
            <a:ln w="12700" cap="flat" cmpd="sng">
              <a:solidFill>
                <a:srgbClr val="9E9E9E"/>
              </a:solidFill>
              <a:prstDash val="solid"/>
              <a:round/>
              <a:headEnd type="none" w="sm" len="sm"/>
              <a:tailEnd type="none" w="sm" len="sm"/>
            </a:ln>
          </a:right>
          <a:top>
            <a:ln w="12700" cap="flat" cmpd="sng">
              <a:solidFill>
                <a:srgbClr val="9E9E9E"/>
              </a:solidFill>
              <a:prstDash val="solid"/>
              <a:round/>
              <a:headEnd type="none" w="sm" len="sm"/>
              <a:tailEnd type="none" w="sm" len="sm"/>
            </a:ln>
          </a:top>
          <a:bottom>
            <a:ln w="12700" cap="flat" cmpd="sng">
              <a:solidFill>
                <a:srgbClr val="9E9E9E"/>
              </a:solidFill>
              <a:prstDash val="solid"/>
              <a:round/>
              <a:headEnd type="none" w="sm" len="sm"/>
              <a:tailEnd type="none" w="sm" len="sm"/>
            </a:ln>
          </a:bottom>
          <a:insideH>
            <a:ln w="12700" cap="flat" cmpd="sng">
              <a:solidFill>
                <a:srgbClr val="9E9E9E"/>
              </a:solidFill>
              <a:prstDash val="solid"/>
              <a:round/>
              <a:headEnd type="none" w="sm" len="sm"/>
              <a:tailEnd type="none" w="sm" len="sm"/>
            </a:ln>
          </a:insideH>
          <a:insideV>
            <a:ln w="12700"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171" autoAdjust="0"/>
    <p:restoredTop sz="83290" autoAdjust="0"/>
  </p:normalViewPr>
  <p:slideViewPr>
    <p:cSldViewPr snapToGrid="0">
      <p:cViewPr varScale="1">
        <p:scale>
          <a:sx n="18" d="100"/>
          <a:sy n="18" d="100"/>
        </p:scale>
        <p:origin x="1723" y="72"/>
      </p:cViewPr>
      <p:guideLst>
        <p:guide orient="horz" pos="7776"/>
        <p:guide pos="10368"/>
      </p:guideLst>
    </p:cSldViewPr>
  </p:slideViewPr>
  <p:notesTextViewPr>
    <p:cViewPr>
      <p:scale>
        <a:sx n="1" d="1"/>
        <a:sy n="1" d="1"/>
      </p:scale>
      <p:origin x="0" y="-222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212" cy="461804"/>
          </a:xfrm>
          <a:prstGeom prst="rect">
            <a:avLst/>
          </a:prstGeom>
          <a:noFill/>
          <a:ln>
            <a:noFill/>
          </a:ln>
        </p:spPr>
        <p:txBody>
          <a:bodyPr spcFirstLastPara="1" wrap="square" lIns="90275" tIns="45125" rIns="90275" bIns="45125" anchor="t"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4" name="Google Shape;4;n"/>
          <p:cNvSpPr txBox="1">
            <a:spLocks noGrp="1"/>
          </p:cNvSpPr>
          <p:nvPr>
            <p:ph type="dt" idx="10"/>
          </p:nvPr>
        </p:nvSpPr>
        <p:spPr>
          <a:xfrm>
            <a:off x="3971619" y="0"/>
            <a:ext cx="3037212" cy="461804"/>
          </a:xfrm>
          <a:prstGeom prst="rect">
            <a:avLst/>
          </a:prstGeom>
          <a:noFill/>
          <a:ln>
            <a:noFill/>
          </a:ln>
        </p:spPr>
        <p:txBody>
          <a:bodyPr spcFirstLastPara="1" wrap="square" lIns="90275" tIns="45125" rIns="90275" bIns="45125" anchor="t" anchorCtr="0">
            <a:noAutofit/>
          </a:bodyPr>
          <a:lstStyle>
            <a:lvl1pPr marR="0" lvl="0" algn="r"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5" name="Google Shape;5;n"/>
          <p:cNvSpPr>
            <a:spLocks noGrp="1" noRot="1" noChangeAspect="1"/>
          </p:cNvSpPr>
          <p:nvPr>
            <p:ph type="sldImg" idx="3"/>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lvl1pPr marL="457200" marR="0" lvl="0"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1pPr>
            <a:lvl2pPr marL="914400" marR="0" lvl="1"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2pPr>
            <a:lvl3pPr marL="1371600" marR="0" lvl="2"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3pPr>
            <a:lvl4pPr marL="1828800" marR="0" lvl="3"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4pPr>
            <a:lvl5pPr marL="2286000" marR="0" lvl="4"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772716"/>
            <a:ext cx="3037212" cy="461804"/>
          </a:xfrm>
          <a:prstGeom prst="rect">
            <a:avLst/>
          </a:prstGeom>
          <a:noFill/>
          <a:ln>
            <a:noFill/>
          </a:ln>
        </p:spPr>
        <p:txBody>
          <a:bodyPr spcFirstLastPara="1" wrap="square" lIns="90275" tIns="45125" rIns="90275" bIns="45125" anchor="b"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8" name="Google Shape;8;n"/>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a:t>
            </a:fld>
            <a:endParaRPr sz="1200" b="0" i="0" u="none" strike="noStrike" cap="none">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6" name="Google Shape;86;p1:notes"/>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p>
            <a:pPr marL="0" lvl="0" indent="0" algn="l" rtl="0">
              <a:lnSpc>
                <a:spcPct val="80000"/>
              </a:lnSpc>
              <a:spcBef>
                <a:spcPts val="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ME: 2026 ASSIP Poster Template Instructions</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this section before using the template. </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Questions? Email Dr. Haymond Still at cosassip@gmu.edu</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This is a template for you to use as is or modify WITH MENTOR’S input.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The poster dimensions will print as 27 inches high x 36 inches wide.  </a:t>
            </a:r>
            <a:r>
              <a:rPr lang="en-US" sz="700" b="1" dirty="0">
                <a:solidFill>
                  <a:schemeClr val="dk1"/>
                </a:solidFill>
                <a:latin typeface="Arial" panose="020B0604020202020204" pitchFamily="34" charset="0"/>
                <a:ea typeface="Calibri"/>
                <a:cs typeface="Arial" panose="020B0604020202020204" pitchFamily="34" charset="0"/>
                <a:sym typeface="Calibri"/>
              </a:rPr>
              <a:t>Do not change the poster dimensions, as the pricing and turnaround time I’ve negotiated with Print Services accounts for this sizing.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Be sure to delete the instructions in the text boxes (my instructions are all in italics). You may mess around with the particular font used if you like; just keep it clean and professional. (No Comic Sans!!)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You can change the header names, locations and presence as agreed upon by your mentor.  For example, you may or may not have a Major Citations section. Or, you may need more room for your methods section or want to combine your results and conclusions. This is fine.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Try to keep the font sizes within the specified ranges for legibility. </a:t>
            </a:r>
            <a:r>
              <a:rPr lang="en-US" sz="700" b="0" dirty="0">
                <a:solidFill>
                  <a:schemeClr val="dk1"/>
                </a:solidFill>
                <a:latin typeface="Arial" panose="020B0604020202020204" pitchFamily="34" charset="0"/>
                <a:ea typeface="Calibri"/>
                <a:cs typeface="Arial" panose="020B0604020202020204" pitchFamily="34" charset="0"/>
                <a:sym typeface="Calibri"/>
              </a:rPr>
              <a:t>If you have a super long title, for example, I recommend that you make the title box wider and let the title run across two lines, rather than shrink the title text to fit my box. Again, feel free to resize any boxes as necessary to fit the boxes to your content. </a:t>
            </a:r>
            <a:endParaRPr b="0"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For the poster session printed version, leave the two logos in the left and right corners as is, and the colors as is, for consistency. </a:t>
            </a:r>
          </a:p>
          <a:p>
            <a:pPr marL="0" lvl="0" indent="0" algn="l" rtl="0">
              <a:lnSpc>
                <a:spcPct val="80000"/>
              </a:lnSpc>
              <a:spcBef>
                <a:spcPts val="210"/>
              </a:spcBef>
              <a:spcAft>
                <a:spcPts val="0"/>
              </a:spcAft>
              <a:buNone/>
            </a:pPr>
            <a:endParaRPr lang="en-US" sz="700" b="1"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980" b="1" dirty="0">
                <a:solidFill>
                  <a:schemeClr val="dk1"/>
                </a:solidFill>
                <a:latin typeface="Arial" panose="020B0604020202020204" pitchFamily="34" charset="0"/>
                <a:ea typeface="Calibri"/>
                <a:cs typeface="Arial" panose="020B0604020202020204" pitchFamily="34" charset="0"/>
                <a:sym typeface="Calibri"/>
              </a:rPr>
              <a:t>Your mentor must approve the poster!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lang="en-US"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Remember to save the finished poster as a PDF under the file name:</a:t>
            </a:r>
            <a:endParaRPr b="1"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MentorsLastName_YourFirstName_YourLastName_2026ASSIP_POSTER</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Submit the PDF of the saved poster to Dr. Haymond Still no later than 5pm on Tuesday, August 4</a:t>
            </a:r>
            <a:r>
              <a:rPr lang="en-US" sz="700" baseline="30000" dirty="0">
                <a:solidFill>
                  <a:schemeClr val="dk1"/>
                </a:solidFill>
                <a:latin typeface="Arial" panose="020B0604020202020204" pitchFamily="34" charset="0"/>
                <a:ea typeface="Calibri"/>
                <a:cs typeface="Arial" panose="020B0604020202020204" pitchFamily="34" charset="0"/>
                <a:sym typeface="Calibri"/>
              </a:rPr>
              <a:t>th</a:t>
            </a:r>
            <a:r>
              <a:rPr lang="en-US" sz="700" dirty="0">
                <a:solidFill>
                  <a:schemeClr val="dk1"/>
                </a:solidFill>
                <a:latin typeface="Arial" panose="020B0604020202020204" pitchFamily="34" charset="0"/>
                <a:ea typeface="Calibri"/>
                <a:cs typeface="Arial" panose="020B0604020202020204" pitchFamily="34" charset="0"/>
                <a:sym typeface="Calibri"/>
              </a:rPr>
              <a:t> to our Canvas course site.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If you miss the deadline, I won’t have time to get your poster printed!! </a:t>
            </a:r>
            <a:endParaRPr dirty="0">
              <a:latin typeface="Arial" panose="020B0604020202020204" pitchFamily="34" charset="0"/>
              <a:cs typeface="Arial" panose="020B0604020202020204" pitchFamily="34" charset="0"/>
            </a:endParaRPr>
          </a:p>
        </p:txBody>
      </p:sp>
      <p:sp>
        <p:nvSpPr>
          <p:cNvPr id="87" name="Google Shape;87;p1:notes"/>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1</a:t>
            </a:fld>
            <a:endParaRPr sz="1200" b="0" i="0" u="none" strike="noStrike" cap="none">
              <a:solidFill>
                <a:schemeClr val="dk1"/>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4040507"/>
            <a:ext cx="27980640" cy="8595360"/>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12967337"/>
            <a:ext cx="24688800" cy="5960743"/>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662026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221925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6155062"/>
            <a:ext cx="28392120" cy="10269853"/>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16522072"/>
            <a:ext cx="28392120" cy="5400673"/>
          </a:xfrm>
        </p:spPr>
        <p:txBody>
          <a:bodyPr/>
          <a:lstStyle>
            <a:lvl1pPr marL="0" indent="0">
              <a:buNone/>
              <a:defRPr sz="8640">
                <a:solidFill>
                  <a:schemeClr val="tx1"/>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48298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776190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314455"/>
            <a:ext cx="28392120" cy="4772027"/>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6052187"/>
            <a:ext cx="13926024"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9018270"/>
            <a:ext cx="13926024"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6052187"/>
            <a:ext cx="13994608"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9018270"/>
            <a:ext cx="13994608"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441630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0672259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3305709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3554735"/>
            <a:ext cx="16664940" cy="1754505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876594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3554735"/>
            <a:ext cx="16664940" cy="17545050"/>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12679167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7660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314450"/>
            <a:ext cx="7098030" cy="209226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1314450"/>
            <a:ext cx="20882610" cy="209226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5315397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314455"/>
            <a:ext cx="28392120" cy="477202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6572250"/>
            <a:ext cx="28392120" cy="1566481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22882865"/>
            <a:ext cx="7406640" cy="1314450"/>
          </a:xfrm>
          <a:prstGeom prst="rect">
            <a:avLst/>
          </a:prstGeom>
        </p:spPr>
        <p:txBody>
          <a:bodyPr vert="horz" lIns="91440" tIns="45720" rIns="91440" bIns="45720" rtlCol="0" anchor="ctr"/>
          <a:lstStyle>
            <a:lvl1pPr algn="l">
              <a:defRPr sz="432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10904220" y="22882865"/>
            <a:ext cx="11109960" cy="131445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248620" y="22882865"/>
            <a:ext cx="7406640" cy="1314450"/>
          </a:xfrm>
          <a:prstGeom prst="rect">
            <a:avLst/>
          </a:prstGeom>
        </p:spPr>
        <p:txBody>
          <a:bodyPr vert="horz" lIns="91440" tIns="45720" rIns="91440" bIns="45720" rtlCol="0" anchor="ctr"/>
          <a:lstStyle>
            <a:lvl1pPr algn="r">
              <a:defRPr sz="4320">
                <a:solidFill>
                  <a:schemeClr val="tx1">
                    <a:tint val="75000"/>
                  </a:schemeClr>
                </a:solidFill>
              </a:defRPr>
            </a:lvl1pPr>
          </a:lstStyle>
          <a:p>
            <a:fld id="{00000000-1234-1234-1234-123412341234}" type="slidenum">
              <a:rPr lang="en-US" smtClean="0"/>
              <a:pPr/>
              <a:t>‹#›</a:t>
            </a:fld>
            <a:endParaRPr lang="en-US"/>
          </a:p>
        </p:txBody>
      </p:sp>
    </p:spTree>
    <p:extLst>
      <p:ext uri="{BB962C8B-B14F-4D97-AF65-F5344CB8AC3E}">
        <p14:creationId xmlns:p14="http://schemas.microsoft.com/office/powerpoint/2010/main" val="2195114939"/>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Lst>
  <p:hf sldNum="0" hdr="0" ftr="0" dt="0"/>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5E5E5"/>
        </a:solidFill>
        <a:effectLst/>
      </p:bgPr>
    </p:bg>
    <p:spTree>
      <p:nvGrpSpPr>
        <p:cNvPr id="1" name="Shape 88"/>
        <p:cNvGrpSpPr/>
        <p:nvPr/>
      </p:nvGrpSpPr>
      <p:grpSpPr>
        <a:xfrm>
          <a:off x="0" y="0"/>
          <a:ext cx="0" cy="0"/>
          <a:chOff x="0" y="0"/>
          <a:chExt cx="0" cy="0"/>
        </a:xfrm>
      </p:grpSpPr>
      <p:pic>
        <p:nvPicPr>
          <p:cNvPr id="105" name="Google Shape;105;p13"/>
          <p:cNvPicPr preferRelativeResize="0"/>
          <p:nvPr/>
        </p:nvPicPr>
        <p:blipFill rotWithShape="1">
          <a:blip r:embed="rId3">
            <a:alphaModFix/>
          </a:blip>
          <a:srcRect/>
          <a:stretch/>
        </p:blipFill>
        <p:spPr>
          <a:xfrm>
            <a:off x="16448774" y="10597775"/>
            <a:ext cx="232029" cy="14859"/>
          </a:xfrm>
          <a:prstGeom prst="rect">
            <a:avLst/>
          </a:prstGeom>
          <a:noFill/>
          <a:ln>
            <a:noFill/>
          </a:ln>
        </p:spPr>
      </p:pic>
      <p:sp>
        <p:nvSpPr>
          <p:cNvPr id="108" name="Google Shape;108;p13"/>
          <p:cNvSpPr txBox="1"/>
          <p:nvPr/>
        </p:nvSpPr>
        <p:spPr>
          <a:xfrm>
            <a:off x="11411573" y="139227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0" name="Google Shape;110;p13"/>
          <p:cNvSpPr txBox="1"/>
          <p:nvPr/>
        </p:nvSpPr>
        <p:spPr>
          <a:xfrm>
            <a:off x="17388319" y="144713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1" name="Google Shape;111;p13"/>
          <p:cNvSpPr txBox="1"/>
          <p:nvPr/>
        </p:nvSpPr>
        <p:spPr>
          <a:xfrm>
            <a:off x="21747721" y="560171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2" name="Google Shape;112;p13"/>
          <p:cNvSpPr txBox="1"/>
          <p:nvPr/>
        </p:nvSpPr>
        <p:spPr>
          <a:xfrm>
            <a:off x="21503119" y="52359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3" name="Google Shape;113;p13"/>
          <p:cNvSpPr txBox="1"/>
          <p:nvPr/>
        </p:nvSpPr>
        <p:spPr>
          <a:xfrm>
            <a:off x="21404821" y="55102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31" name="Google Shape;131;p13"/>
          <p:cNvSpPr txBox="1"/>
          <p:nvPr/>
        </p:nvSpPr>
        <p:spPr>
          <a:xfrm>
            <a:off x="376700" y="5251774"/>
            <a:ext cx="10282778" cy="3649979"/>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AI and cloud computing have concentrated US computing capacity into a few hundred sites.</a:t>
            </a:r>
            <a:endParaRPr sz="2600" dirty="0">
              <a:latin typeface="Palatino"/>
              <a:ea typeface="Palatino"/>
              <a:cs typeface="Palatino"/>
              <a:sym typeface="Palatino"/>
            </a:endParaRPr>
          </a:p>
          <a:p>
            <a:pPr algn="l" marL="346710" indent="-346710">
              <a:lnSpc>
                <a:spcPct val="95000"/>
              </a:lnSpc>
              <a:spcAft>
                <a:spcPts val="1000"/>
              </a:spcAft>
            </a:pPr>
            <a:r>
              <a:rPr sz="2600" b="0">
                <a:solidFill>
                  <a:srgbClr val="000000"/>
                </a:solidFill>
                <a:latin typeface="Arial"/>
              </a:rPr>
              <a:t>•  Those sites face earthquakes, wildfire and flooding, but no open dataset records where they physically stand.</a:t>
            </a:r>
          </a:p>
          <a:p>
            <a:pPr algn="l" marL="346710" indent="-346710">
              <a:lnSpc>
                <a:spcPct val="95000"/>
              </a:lnSpc>
              <a:spcAft>
                <a:spcPts val="1000"/>
              </a:spcAft>
            </a:pPr>
            <a:r>
              <a:rPr sz="2600" b="0">
                <a:solidFill>
                  <a:srgbClr val="000000"/>
                </a:solidFill>
                <a:latin typeface="Arial"/>
              </a:rPr>
              <a:t>•  Existing sources are proprietary, aggregated above the building level, or unverified.</a:t>
            </a:r>
          </a:p>
          <a:p>
            <a:pPr algn="l" marL="346710" indent="-346710">
              <a:lnSpc>
                <a:spcPct val="95000"/>
              </a:lnSpc>
              <a:spcAft>
                <a:spcPts val="1000"/>
              </a:spcAft>
            </a:pPr>
            <a:r>
              <a:rPr sz="2600" b="0">
                <a:solidFill>
                  <a:srgbClr val="000000"/>
                </a:solidFill>
                <a:latin typeface="Arial"/>
              </a:rPr>
              <a:t>•  We measured exposure: whether a facility sits in a hazard zone. We did not model damage, so nothing here is a loss estimate.</a:t>
            </a:r>
          </a:p>
        </p:txBody>
      </p:sp>
      <p:sp>
        <p:nvSpPr>
          <p:cNvPr id="106" name="Google Shape;106;p13"/>
          <p:cNvSpPr txBox="1"/>
          <p:nvPr/>
        </p:nvSpPr>
        <p:spPr>
          <a:xfrm>
            <a:off x="27127967" y="263118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7" name="Google Shape;107;p13"/>
          <p:cNvSpPr txBox="1"/>
          <p:nvPr/>
        </p:nvSpPr>
        <p:spPr>
          <a:xfrm>
            <a:off x="10774921" y="140141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9" name="Google Shape;109;p13"/>
          <p:cNvSpPr txBox="1"/>
          <p:nvPr/>
        </p:nvSpPr>
        <p:spPr>
          <a:xfrm>
            <a:off x="11265269" y="139684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4" name="Google Shape;114;p13"/>
          <p:cNvSpPr txBox="1"/>
          <p:nvPr/>
        </p:nvSpPr>
        <p:spPr>
          <a:xfrm>
            <a:off x="3826040" y="2264134"/>
            <a:ext cx="25266317" cy="1192930"/>
          </a:xfrm>
          <a:prstGeom prst="rect">
            <a:avLst/>
          </a:prstGeom>
          <a:solidFill>
            <a:schemeClr val="lt1"/>
          </a:solidFill>
          <a:ln>
            <a:noFill/>
          </a:ln>
        </p:spPr>
        <p:txBody>
          <a:bodyPr spcFirstLastPara="1" wrap="square" anchor="t" anchorCtr="0"/>
          <a:lstStyle/>
          <a:p>
            <a:pPr algn="ctr">
              <a:lnSpc>
                <a:spcPct val="95000"/>
              </a:lnSpc>
              <a:spcAft>
                <a:spcPts val="1000"/>
              </a:spcAft>
            </a:pPr>
            <a:r>
              <a:rPr sz="3800" b="1">
                <a:solidFill>
                  <a:srgbClr val="000000"/>
                </a:solidFill>
                <a:latin typeface="Arial"/>
              </a:rPr>
              <a:t>Avilash Angirekula¹, Dennies Bor¹, Edward J. Oughton¹</a:t>
            </a:r>
            <a:endParaRPr sz="3600" baseline="30000" dirty="0">
              <a:solidFill>
                <a:schemeClr val="dk1"/>
              </a:solidFill>
              <a:latin typeface="Arial" panose="020B0604020202020204" pitchFamily="34" charset="0"/>
              <a:ea typeface="Helvetica Neue"/>
              <a:cs typeface="Arial" panose="020B0604020202020204" pitchFamily="34" charset="0"/>
              <a:sym typeface="Helvetica Neue"/>
            </a:endParaRPr>
          </a:p>
        </p:txBody>
      </p:sp>
      <p:sp>
        <p:nvSpPr>
          <p:cNvPr id="119" name="Google Shape;119;p13"/>
          <p:cNvSpPr txBox="1"/>
          <p:nvPr/>
        </p:nvSpPr>
        <p:spPr>
          <a:xfrm>
            <a:off x="29357053" y="435681"/>
            <a:ext cx="3130666" cy="3656905"/>
          </a:xfrm>
          <a:prstGeom prst="rect">
            <a:avLst/>
          </a:prstGeom>
          <a:solidFill>
            <a:srgbClr val="FFCC00">
              <a:alpha val="84314"/>
            </a:srgbClr>
          </a:solidFill>
          <a:ln w="76200" cap="flat" cmpd="thickThin">
            <a:solidFill>
              <a:schemeClr val="lt1"/>
            </a:solidFill>
            <a:prstDash val="solid"/>
            <a:round/>
            <a:headEnd type="none" w="sm" len="sm"/>
            <a:tailEnd type="none" w="sm" len="sm"/>
          </a:ln>
        </p:spPr>
        <p:txBody>
          <a:bodyPr spcFirstLastPara="1" wrap="square" lIns="65826" tIns="32904" rIns="65826" bIns="32904" anchor="ctr" anchorCtr="0">
            <a:noAutofit/>
          </a:bodyPr>
          <a:lstStyle/>
          <a:p>
            <a:pPr algn="ctr"/>
            <a:r>
              <a:rPr lang="en-US" sz="3240" b="1" dirty="0">
                <a:solidFill>
                  <a:srgbClr val="006600"/>
                </a:solidFill>
                <a:latin typeface="Arial" panose="020B0604020202020204" pitchFamily="34" charset="0"/>
                <a:cs typeface="Arial" panose="020B0604020202020204" pitchFamily="34" charset="0"/>
              </a:rPr>
              <a:t>Aspiring Scientists Summer Internship Program </a:t>
            </a:r>
          </a:p>
          <a:p>
            <a:pPr algn="ctr"/>
            <a:r>
              <a:rPr lang="en-US" sz="3240" b="1" dirty="0">
                <a:solidFill>
                  <a:srgbClr val="006600"/>
                </a:solidFill>
                <a:latin typeface="Arial" panose="020B0604020202020204" pitchFamily="34" charset="0"/>
                <a:cs typeface="Arial" panose="020B0604020202020204" pitchFamily="34" charset="0"/>
              </a:rPr>
              <a:t>2026</a:t>
            </a:r>
            <a:endParaRPr sz="3240" b="1" dirty="0">
              <a:solidFill>
                <a:srgbClr val="006600"/>
              </a:solidFill>
              <a:latin typeface="Arial" panose="020B0604020202020204" pitchFamily="34" charset="0"/>
              <a:cs typeface="Arial" panose="020B0604020202020204" pitchFamily="34" charset="0"/>
            </a:endParaRPr>
          </a:p>
        </p:txBody>
      </p:sp>
      <p:sp>
        <p:nvSpPr>
          <p:cNvPr id="73" name="Google Shape;113;p13">
            <a:extLst>
              <a:ext uri="{FF2B5EF4-FFF2-40B4-BE49-F238E27FC236}">
                <a16:creationId xmlns:a16="http://schemas.microsoft.com/office/drawing/2014/main" id="{B7028C15-A27E-415D-88A6-B08B48F45D43}"/>
              </a:ext>
            </a:extLst>
          </p:cNvPr>
          <p:cNvSpPr txBox="1"/>
          <p:nvPr/>
        </p:nvSpPr>
        <p:spPr>
          <a:xfrm>
            <a:off x="3826040" y="3431258"/>
            <a:ext cx="25266317" cy="703207"/>
          </a:xfrm>
          <a:prstGeom prst="rect">
            <a:avLst/>
          </a:prstGeom>
          <a:solidFill>
            <a:schemeClr val="lt1"/>
          </a:solidFill>
          <a:ln>
            <a:noFill/>
          </a:ln>
        </p:spPr>
        <p:txBody>
          <a:bodyPr spcFirstLastPara="1" wrap="square" anchor="t" anchorCtr="0"/>
          <a:lstStyle/>
          <a:p>
            <a:pPr algn="ctr">
              <a:lnSpc>
                <a:spcPct val="95000"/>
              </a:lnSpc>
              <a:spcAft>
                <a:spcPts val="1000"/>
              </a:spcAft>
            </a:pPr>
            <a:r>
              <a:rPr sz="2600" b="0">
                <a:solidFill>
                  <a:srgbClr val="333333"/>
                </a:solidFill>
                <a:latin typeface="Arial"/>
              </a:rPr>
              <a:t>¹Department of Geography and Geoinformation Sciences, College of Science, George Mason University</a:t>
            </a:r>
            <a:endParaRPr sz="2880" dirty="0">
              <a:solidFill>
                <a:schemeClr val="dk1"/>
              </a:solidFill>
              <a:latin typeface="Arial" panose="020B0604020202020204" pitchFamily="34" charset="0"/>
              <a:ea typeface="Times New Roman"/>
              <a:cs typeface="Arial" panose="020B0604020202020204" pitchFamily="34" charset="0"/>
              <a:sym typeface="Times New Roman"/>
            </a:endParaRPr>
          </a:p>
        </p:txBody>
      </p:sp>
      <p:sp>
        <p:nvSpPr>
          <p:cNvPr id="3" name="Rectangle 2">
            <a:extLst>
              <a:ext uri="{FF2B5EF4-FFF2-40B4-BE49-F238E27FC236}">
                <a16:creationId xmlns:a16="http://schemas.microsoft.com/office/drawing/2014/main" id="{5414C21D-6153-426C-A648-2F7D91B0A3F2}"/>
              </a:ext>
            </a:extLst>
          </p:cNvPr>
          <p:cNvSpPr/>
          <p:nvPr/>
        </p:nvSpPr>
        <p:spPr>
          <a:xfrm>
            <a:off x="430679" y="4389682"/>
            <a:ext cx="10228799"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Background</a:t>
            </a:r>
          </a:p>
        </p:txBody>
      </p:sp>
      <p:sp>
        <p:nvSpPr>
          <p:cNvPr id="6" name="Rectangle 5">
            <a:extLst>
              <a:ext uri="{FF2B5EF4-FFF2-40B4-BE49-F238E27FC236}">
                <a16:creationId xmlns:a16="http://schemas.microsoft.com/office/drawing/2014/main" id="{8BB275A5-62F7-1742-4380-8AB1A17FAF66}"/>
              </a:ext>
            </a:extLst>
          </p:cNvPr>
          <p:cNvSpPr/>
          <p:nvPr/>
        </p:nvSpPr>
        <p:spPr>
          <a:xfrm>
            <a:off x="10965973" y="4386008"/>
            <a:ext cx="10781748" cy="85752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Results</a:t>
            </a:r>
          </a:p>
        </p:txBody>
      </p:sp>
      <p:sp>
        <p:nvSpPr>
          <p:cNvPr id="7" name="Rectangle 6">
            <a:extLst>
              <a:ext uri="{FF2B5EF4-FFF2-40B4-BE49-F238E27FC236}">
                <a16:creationId xmlns:a16="http://schemas.microsoft.com/office/drawing/2014/main" id="{822515BF-9734-0282-2B15-A32512AD598B}"/>
              </a:ext>
            </a:extLst>
          </p:cNvPr>
          <p:cNvSpPr/>
          <p:nvPr/>
        </p:nvSpPr>
        <p:spPr>
          <a:xfrm>
            <a:off x="22090619" y="4386009"/>
            <a:ext cx="10397100" cy="809607"/>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Conclusions</a:t>
            </a:r>
          </a:p>
        </p:txBody>
      </p:sp>
      <p:sp>
        <p:nvSpPr>
          <p:cNvPr id="8" name="Rectangle 7">
            <a:extLst>
              <a:ext uri="{FF2B5EF4-FFF2-40B4-BE49-F238E27FC236}">
                <a16:creationId xmlns:a16="http://schemas.microsoft.com/office/drawing/2014/main" id="{D4731E14-0938-740A-787A-D2B6693BCB6C}"/>
              </a:ext>
            </a:extLst>
          </p:cNvPr>
          <p:cNvSpPr/>
          <p:nvPr/>
        </p:nvSpPr>
        <p:spPr>
          <a:xfrm>
            <a:off x="430679" y="14378013"/>
            <a:ext cx="10228799" cy="82748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Materials and Methods</a:t>
            </a:r>
          </a:p>
        </p:txBody>
      </p:sp>
      <p:sp>
        <p:nvSpPr>
          <p:cNvPr id="9" name="Rectangle 8">
            <a:extLst>
              <a:ext uri="{FF2B5EF4-FFF2-40B4-BE49-F238E27FC236}">
                <a16:creationId xmlns:a16="http://schemas.microsoft.com/office/drawing/2014/main" id="{2AEA7A76-8036-99F5-636B-AB0CDCB6D5FE}"/>
              </a:ext>
            </a:extLst>
          </p:cNvPr>
          <p:cNvSpPr/>
          <p:nvPr/>
        </p:nvSpPr>
        <p:spPr>
          <a:xfrm>
            <a:off x="22090621" y="15371883"/>
            <a:ext cx="10451076"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Major Citations</a:t>
            </a:r>
          </a:p>
        </p:txBody>
      </p:sp>
      <p:sp>
        <p:nvSpPr>
          <p:cNvPr id="10" name="Rectangle 9">
            <a:extLst>
              <a:ext uri="{FF2B5EF4-FFF2-40B4-BE49-F238E27FC236}">
                <a16:creationId xmlns:a16="http://schemas.microsoft.com/office/drawing/2014/main" id="{51247692-30D3-AF09-61BE-4D4CC0F1B37F}"/>
              </a:ext>
            </a:extLst>
          </p:cNvPr>
          <p:cNvSpPr/>
          <p:nvPr/>
        </p:nvSpPr>
        <p:spPr>
          <a:xfrm>
            <a:off x="22061034" y="20737925"/>
            <a:ext cx="10480664"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Acknowledgements</a:t>
            </a:r>
          </a:p>
        </p:txBody>
      </p:sp>
      <p:sp>
        <p:nvSpPr>
          <p:cNvPr id="11" name="Google Shape;131;p13">
            <a:extLst>
              <a:ext uri="{FF2B5EF4-FFF2-40B4-BE49-F238E27FC236}">
                <a16:creationId xmlns:a16="http://schemas.microsoft.com/office/drawing/2014/main" id="{47302C31-0708-183B-7F10-E19B6238F926}"/>
              </a:ext>
            </a:extLst>
          </p:cNvPr>
          <p:cNvSpPr txBox="1"/>
          <p:nvPr/>
        </p:nvSpPr>
        <p:spPr>
          <a:xfrm>
            <a:off x="376700" y="15205502"/>
            <a:ext cx="10282778" cy="2313749"/>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600" b="0">
                <a:solidFill>
                  <a:srgbClr val="000000"/>
                </a:solidFill>
                <a:latin typeface="Arial"/>
              </a:rPr>
              <a:t>We merged OpenStreetMap, PeeringDB and Wikidata into one row per site. Records within 60 m with matching fuzzy names are unioned, campus siblings are kept apart, and every merge is logged.</a:t>
            </a:r>
          </a:p>
          <a:p>
            <a:pPr algn="l">
              <a:lnSpc>
                <a:spcPct val="95000"/>
              </a:lnSpc>
              <a:spcAft>
                <a:spcPts val="1000"/>
              </a:spcAft>
            </a:pPr>
            <a:r>
              <a:rPr sz="2600" b="0">
                <a:solidFill>
                  <a:srgbClr val="000000"/>
                </a:solidFill>
                <a:latin typeface="Arial"/>
              </a:rPr>
              <a:t>We then graded each coordinate against FEMA USA Structures building footprints and sampled hazards in an equal-area projection:</a:t>
            </a:r>
          </a:p>
        </p:txBody>
      </p:sp>
      <p:sp>
        <p:nvSpPr>
          <p:cNvPr id="12" name="Google Shape;131;p13">
            <a:extLst>
              <a:ext uri="{FF2B5EF4-FFF2-40B4-BE49-F238E27FC236}">
                <a16:creationId xmlns:a16="http://schemas.microsoft.com/office/drawing/2014/main" id="{65A629E7-2609-D28B-DA5D-ABE9038EE679}"/>
              </a:ext>
            </a:extLst>
          </p:cNvPr>
          <p:cNvSpPr txBox="1"/>
          <p:nvPr/>
        </p:nvSpPr>
        <p:spPr>
          <a:xfrm>
            <a:off x="10965973" y="6952558"/>
            <a:ext cx="10781748" cy="1187767"/>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900" b="1">
                <a:solidFill>
                  <a:srgbClr val="000000"/>
                </a:solidFill>
                <a:latin typeface="Arial"/>
              </a:rPr>
              <a:t>Where a facility sits predicts its hazard exposure far better than anything about the facility itself.</a:t>
            </a:r>
          </a:p>
        </p:txBody>
      </p:sp>
      <p:sp>
        <p:nvSpPr>
          <p:cNvPr id="14" name="Rectangle 13">
            <a:extLst>
              <a:ext uri="{FF2B5EF4-FFF2-40B4-BE49-F238E27FC236}">
                <a16:creationId xmlns:a16="http://schemas.microsoft.com/office/drawing/2014/main" id="{161551E7-54AC-5EDA-0356-93EDDEC4719A}"/>
              </a:ext>
            </a:extLst>
          </p:cNvPr>
          <p:cNvSpPr/>
          <p:nvPr/>
        </p:nvSpPr>
        <p:spPr>
          <a:xfrm>
            <a:off x="3826040" y="425006"/>
            <a:ext cx="25266318" cy="1674193"/>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wrap="square"/>
          <a:lstStyle/>
          <a:p>
            <a:pPr algn="ctr">
              <a:lnSpc>
                <a:spcPct val="92000"/>
              </a:lnSpc>
              <a:spcAft>
                <a:spcPts val="1000"/>
              </a:spcAft>
            </a:pPr>
            <a:r>
              <a:rPr sz="7800" b="1">
                <a:solidFill>
                  <a:srgbClr val="000000"/>
                </a:solidFill>
                <a:latin typeface="Arial"/>
              </a:rPr>
              <a:t>A Multi-Hazard Assessment of 2,696 US Data Centers</a:t>
            </a:r>
          </a:p>
        </p:txBody>
      </p:sp>
      <p:sp>
        <p:nvSpPr>
          <p:cNvPr id="15" name="Google Shape;131;p13">
            <a:extLst>
              <a:ext uri="{FF2B5EF4-FFF2-40B4-BE49-F238E27FC236}">
                <a16:creationId xmlns:a16="http://schemas.microsoft.com/office/drawing/2014/main" id="{E8AE6323-EAA4-4495-A94C-00059D534A29}"/>
              </a:ext>
            </a:extLst>
          </p:cNvPr>
          <p:cNvSpPr txBox="1"/>
          <p:nvPr/>
        </p:nvSpPr>
        <p:spPr>
          <a:xfrm>
            <a:off x="22090621" y="5251774"/>
            <a:ext cx="10397100" cy="2928493"/>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The national 35% figure describes no real state.</a:t>
            </a:r>
          </a:p>
          <a:p>
            <a:pPr algn="l" marL="346710" indent="-346710">
              <a:lnSpc>
                <a:spcPct val="95000"/>
              </a:lnSpc>
              <a:spcAft>
                <a:spcPts val="1000"/>
              </a:spcAft>
            </a:pPr>
            <a:r>
              <a:rPr sz="2600" b="0">
                <a:solidFill>
                  <a:srgbClr val="000000"/>
                </a:solidFill>
                <a:latin typeface="Arial"/>
              </a:rPr>
              <a:t>•  Most sit in low-exposure regions, but we did not test why. Power price and fiber routes are likelier drivers than hazard avoidance.</a:t>
            </a:r>
          </a:p>
          <a:p>
            <a:pPr algn="l" marL="346710" indent="-346710">
              <a:lnSpc>
                <a:spcPct val="95000"/>
              </a:lnSpc>
              <a:spcAft>
                <a:spcPts val="1000"/>
              </a:spcAft>
            </a:pPr>
            <a:r>
              <a:rPr sz="2600" b="0">
                <a:solidFill>
                  <a:srgbClr val="000000"/>
                </a:solidFill>
                <a:latin typeface="Arial"/>
              </a:rPr>
              <a:t>•  Two states can both read 100% and face different hazards, so a combined index must keep them separate.</a:t>
            </a:r>
          </a:p>
          <a:p>
            <a:pPr algn="l" marL="346710" indent="-346710">
              <a:lnSpc>
                <a:spcPct val="95000"/>
              </a:lnSpc>
              <a:spcAft>
                <a:spcPts val="1000"/>
              </a:spcAft>
            </a:pPr>
            <a:r>
              <a:rPr sz="2600" b="0">
                <a:solidFill>
                  <a:srgbClr val="000000"/>
                </a:solidFill>
                <a:latin typeface="Arial"/>
              </a:rPr>
              <a:t>•  Next: fragility curves to turn exposure into estimated loss.</a:t>
            </a:r>
          </a:p>
        </p:txBody>
      </p:sp>
      <p:sp>
        <p:nvSpPr>
          <p:cNvPr id="16" name="Google Shape;131;p13">
            <a:extLst>
              <a:ext uri="{FF2B5EF4-FFF2-40B4-BE49-F238E27FC236}">
                <a16:creationId xmlns:a16="http://schemas.microsoft.com/office/drawing/2014/main" id="{9992E202-91ED-B6FF-C77B-9E72DD0EB5FB}"/>
              </a:ext>
            </a:extLst>
          </p:cNvPr>
          <p:cNvSpPr txBox="1"/>
          <p:nvPr/>
        </p:nvSpPr>
        <p:spPr>
          <a:xfrm>
            <a:off x="22090621" y="16218476"/>
            <a:ext cx="10418660" cy="3646932"/>
          </a:xfrm>
          <a:prstGeom prst="rect">
            <a:avLst/>
          </a:prstGeom>
          <a:solidFill>
            <a:schemeClr val="bg1"/>
          </a:solidFill>
          <a:ln>
            <a:noFill/>
          </a:ln>
        </p:spPr>
        <p:txBody>
          <a:bodyPr spcFirstLastPara="1" wrap="square" anchor="t" anchorCtr="0"/>
          <a:lstStyle/>
          <a:p>
            <a:pPr algn="l">
              <a:lnSpc>
                <a:spcPct val="90000"/>
              </a:lnSpc>
              <a:spcAft>
                <a:spcPts val="1000"/>
              </a:spcAft>
              <a:buClr>
                <a:schemeClr val="dk1"/>
              </a:buClr>
              <a:buSzPts val="1100"/>
            </a:pPr>
            <a:r>
              <a:rPr sz="2000" b="0">
                <a:solidFill>
                  <a:srgbClr val="333333"/>
                </a:solidFill>
                <a:latin typeface="Arial"/>
              </a:rPr>
              <a:t>Dillon, G.K. (2023) Wildfire Hazard Potential for the United States, 270-m, v2023. USDA Forest Service. doi:10.2737/RDS-2015-0047-4</a:t>
            </a:r>
            <a:endParaRPr sz="2600" i="1" dirty="0">
              <a:latin typeface="Arial" panose="020B0604020202020204" pitchFamily="34" charset="0"/>
              <a:ea typeface="Palatino"/>
              <a:cs typeface="Arial" panose="020B0604020202020204" pitchFamily="34" charset="0"/>
              <a:sym typeface="Palatino"/>
            </a:endParaRPr>
          </a:p>
          <a:p>
            <a:pPr algn="l">
              <a:lnSpc>
                <a:spcPct val="90000"/>
              </a:lnSpc>
              <a:spcAft>
                <a:spcPts val="1000"/>
              </a:spcAft>
            </a:pPr>
            <a:r>
              <a:rPr sz="2000" b="0">
                <a:solidFill>
                  <a:srgbClr val="333333"/>
                </a:solidFill>
                <a:latin typeface="Arial"/>
              </a:rPr>
              <a:t>Petersen, M.D. et al. (2023) 2023 US National Seismic Hazard Model. USGS. doi:10.5066/P9GNPCOD</a:t>
            </a:r>
          </a:p>
          <a:p>
            <a:pPr algn="l">
              <a:lnSpc>
                <a:spcPct val="90000"/>
              </a:lnSpc>
              <a:spcAft>
                <a:spcPts val="1000"/>
              </a:spcAft>
            </a:pPr>
            <a:r>
              <a:rPr sz="2000" b="0">
                <a:solidFill>
                  <a:srgbClr val="333333"/>
                </a:solidFill>
                <a:latin typeface="Arial"/>
              </a:rPr>
              <a:t>FEMA (2026) National Flood Hazard Layer. hazards.fema.gov</a:t>
            </a:r>
          </a:p>
          <a:p>
            <a:pPr algn="l">
              <a:lnSpc>
                <a:spcPct val="90000"/>
              </a:lnSpc>
              <a:spcAft>
                <a:spcPts val="1000"/>
              </a:spcAft>
            </a:pPr>
            <a:r>
              <a:rPr sz="2000" b="0">
                <a:solidFill>
                  <a:srgbClr val="333333"/>
                </a:solidFill>
                <a:latin typeface="Arial"/>
              </a:rPr>
              <a:t>Oughton, E.J. and Weigel, R. (2026) A Comparative Multi-Hazard Risk Assessment of the US High-Voltage Transmission Network. Zenodo. doi:10.5281/zenodo.20331026 (CC BY 4.0)</a:t>
            </a:r>
          </a:p>
          <a:p>
            <a:pPr algn="l">
              <a:lnSpc>
                <a:spcPct val="90000"/>
              </a:lnSpc>
              <a:spcAft>
                <a:spcPts val="1000"/>
              </a:spcAft>
            </a:pPr>
            <a:r>
              <a:rPr sz="2000" b="0">
                <a:solidFill>
                  <a:srgbClr val="333333"/>
                </a:solidFill>
                <a:latin typeface="Arial"/>
              </a:rPr>
              <a:t>FEMA and ORNL (2024) USA Structures. gis.fema.gov</a:t>
            </a:r>
          </a:p>
          <a:p>
            <a:pPr algn="l">
              <a:lnSpc>
                <a:spcPct val="90000"/>
              </a:lnSpc>
              <a:spcAft>
                <a:spcPts val="1000"/>
              </a:spcAft>
            </a:pPr>
            <a:r>
              <a:rPr sz="2000" b="0">
                <a:solidFill>
                  <a:srgbClr val="333333"/>
                </a:solidFill>
                <a:latin typeface="Arial"/>
              </a:rPr>
              <a:t>WRI (2023) Aqueduct 4.0 Water Risk Atlas.</a:t>
            </a:r>
          </a:p>
        </p:txBody>
      </p:sp>
      <p:sp>
        <p:nvSpPr>
          <p:cNvPr id="17" name="Google Shape;131;p13">
            <a:extLst>
              <a:ext uri="{FF2B5EF4-FFF2-40B4-BE49-F238E27FC236}">
                <a16:creationId xmlns:a16="http://schemas.microsoft.com/office/drawing/2014/main" id="{305E6470-FBE8-3798-FA5A-2630CB85C23B}"/>
              </a:ext>
            </a:extLst>
          </p:cNvPr>
          <p:cNvSpPr txBox="1"/>
          <p:nvPr/>
        </p:nvSpPr>
        <p:spPr>
          <a:xfrm>
            <a:off x="22061036" y="21636297"/>
            <a:ext cx="10480664" cy="1620012"/>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000" b="0">
                <a:solidFill>
                  <a:srgbClr val="333333"/>
                </a:solidFill>
                <a:latin typeface="Arial"/>
              </a:rPr>
              <a:t>This research was made possible through the support of George Mason University's College of Science, which supports the ASSIP Program, and by the NCAR multi-hazards project.</a:t>
            </a:r>
            <a:endParaRPr sz="2600" i="1" dirty="0">
              <a:latin typeface="Arial" panose="020B0604020202020204" pitchFamily="34" charset="0"/>
              <a:ea typeface="Palatino"/>
              <a:cs typeface="Arial" panose="020B0604020202020204" pitchFamily="34" charset="0"/>
              <a:sym typeface="Palatino"/>
            </a:endParaRPr>
          </a:p>
          <a:p>
            <a:pPr algn="l">
              <a:lnSpc>
                <a:spcPct val="95000"/>
              </a:lnSpc>
              <a:spcAft>
                <a:spcPts val="1000"/>
              </a:spcAft>
            </a:pPr>
            <a:r>
              <a:rPr sz="2000" b="0">
                <a:solidFill>
                  <a:srgbClr val="333333"/>
                </a:solidFill>
                <a:latin typeface="Arial"/>
              </a:rPr>
              <a:t>Data and code: github.com/aviangirekula/datacenter-dataset</a:t>
            </a:r>
          </a:p>
        </p:txBody>
      </p:sp>
      <p:pic>
        <p:nvPicPr>
          <p:cNvPr id="4" name="Picture 3">
            <a:extLst>
              <a:ext uri="{FF2B5EF4-FFF2-40B4-BE49-F238E27FC236}">
                <a16:creationId xmlns:a16="http://schemas.microsoft.com/office/drawing/2014/main" id="{6CEA0A40-9CB0-F6FB-B739-920187535AC5}"/>
              </a:ext>
            </a:extLst>
          </p:cNvPr>
          <p:cNvPicPr>
            <a:picLocks noChangeAspect="1"/>
          </p:cNvPicPr>
          <p:nvPr/>
        </p:nvPicPr>
        <p:blipFill>
          <a:blip r:embed="rId4"/>
          <a:stretch>
            <a:fillRect/>
          </a:stretch>
        </p:blipFill>
        <p:spPr>
          <a:xfrm>
            <a:off x="84706" y="0"/>
            <a:ext cx="4007774" cy="4742023"/>
          </a:xfrm>
          <a:prstGeom prst="rect">
            <a:avLst/>
          </a:prstGeom>
        </p:spPr>
      </p:pic>
      <p:sp>
        <p:nvSpPr>
          <p:cNvPr id="132" name="Rectangle 131"/>
          <p:cNvSpPr/>
          <p:nvPr/>
        </p:nvSpPr>
        <p:spPr>
          <a:xfrm>
            <a:off x="376700" y="9139498"/>
            <a:ext cx="10282778" cy="4979892"/>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376700" y="9139498"/>
            <a:ext cx="128016" cy="4979892"/>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614444" y="9212650"/>
            <a:ext cx="9871298" cy="4833588"/>
          </a:xfrm>
          <a:prstGeom prst="rect">
            <a:avLst/>
          </a:prstGeom>
          <a:noFill/>
        </p:spPr>
        <p:txBody>
          <a:bodyPr wrap="square" anchor="t" tIns="36576" bIns="36576">
            <a:spAutoFit/>
          </a:bodyPr>
          <a:lstStyle/>
          <a:p>
            <a:pPr algn="l">
              <a:lnSpc>
                <a:spcPct val="95000"/>
              </a:lnSpc>
              <a:spcAft>
                <a:spcPts val="800"/>
              </a:spcAft>
            </a:pPr>
            <a:r>
              <a:rPr sz="2500" b="1">
                <a:solidFill>
                  <a:srgbClr val="000000"/>
                </a:solidFill>
                <a:latin typeface="Arial"/>
              </a:rPr>
              <a:t>Bounds on these results</a:t>
            </a:r>
          </a:p>
          <a:p>
            <a:pPr algn="l" marL="320040" indent="-320040">
              <a:lnSpc>
                <a:spcPct val="95000"/>
              </a:lnSpc>
              <a:spcAft>
                <a:spcPts val="800"/>
              </a:spcAft>
            </a:pPr>
            <a:r>
              <a:rPr sz="2400" b="0">
                <a:solidFill>
                  <a:srgbClr val="000000"/>
                </a:solidFill>
                <a:latin typeface="Arial"/>
              </a:rPr>
              <a:t>•  Coverage is incomplete. Open sources list 2,696 US facilities where commercial directories list several thousand, and mapping density varies by state.</a:t>
            </a:r>
          </a:p>
          <a:p>
            <a:pPr algn="l" marL="320040" indent="-320040">
              <a:lnSpc>
                <a:spcPct val="95000"/>
              </a:lnSpc>
              <a:spcAft>
                <a:spcPts val="800"/>
              </a:spcAft>
            </a:pPr>
            <a:r>
              <a:rPr sz="2400" b="0">
                <a:solidFill>
                  <a:srgbClr val="000000"/>
                </a:solidFill>
                <a:latin typeface="Arial"/>
              </a:rPr>
              <a:t>•  Hail and wind reports rise with observer density (Spearman 0.39 and 0.34 within state), so we excluded both.</a:t>
            </a:r>
          </a:p>
          <a:p>
            <a:pPr algn="l" marL="320040" indent="-320040">
              <a:lnSpc>
                <a:spcPct val="95000"/>
              </a:lnSpc>
              <a:spcAft>
                <a:spcPts val="800"/>
              </a:spcAft>
            </a:pPr>
            <a:r>
              <a:rPr sz="2400" b="0">
                <a:solidFill>
                  <a:srgbClr val="000000"/>
                </a:solidFill>
                <a:latin typeface="Arial"/>
              </a:rPr>
              <a:t>•  Power capacity is unrecorded, so we count facilities, never megawatts.</a:t>
            </a:r>
          </a:p>
          <a:p>
            <a:pPr algn="l" marL="320040" indent="-320040">
              <a:lnSpc>
                <a:spcPct val="95000"/>
              </a:lnSpc>
              <a:spcAft>
                <a:spcPts val="800"/>
              </a:spcAft>
            </a:pPr>
            <a:r>
              <a:rPr sz="2400" b="0">
                <a:solidFill>
                  <a:srgbClr val="000000"/>
                </a:solidFill>
                <a:latin typeface="Arial"/>
              </a:rPr>
              <a:t>•  48 facilities shown as facing no hazard sit outside FEMA's mapped extent, so 35% is a floor.</a:t>
            </a:r>
          </a:p>
          <a:p>
            <a:pPr algn="l" marL="320040" indent="-320040">
              <a:lnSpc>
                <a:spcPct val="95000"/>
              </a:lnSpc>
              <a:spcAft>
                <a:spcPts val="800"/>
              </a:spcAft>
            </a:pPr>
            <a:r>
              <a:rPr sz="2400" b="0">
                <a:solidFill>
                  <a:srgbClr val="000000"/>
                </a:solidFill>
                <a:latin typeface="Arial"/>
              </a:rPr>
              <a:t>•  Across 500 relocations, 1,681 sites never changed wildfire class.</a:t>
            </a:r>
          </a:p>
        </p:txBody>
      </p:sp>
      <p:sp>
        <p:nvSpPr>
          <p:cNvPr id="135" name="Rectangle 134"/>
          <p:cNvSpPr/>
          <p:nvPr/>
        </p:nvSpPr>
        <p:spPr>
          <a:xfrm>
            <a:off x="422419" y="17610691"/>
            <a:ext cx="10191338" cy="67665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559580" y="17647267"/>
            <a:ext cx="2926080" cy="603504"/>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Earthquake</a:t>
            </a:r>
          </a:p>
        </p:txBody>
      </p:sp>
      <p:sp>
        <p:nvSpPr>
          <p:cNvPr id="137" name="TextBox 136"/>
          <p:cNvSpPr txBox="1"/>
          <p:nvPr/>
        </p:nvSpPr>
        <p:spPr>
          <a:xfrm>
            <a:off x="3531380" y="17647267"/>
            <a:ext cx="6899497" cy="603504"/>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USGS ASCE 7-22, MCE_G PGA, site class BC</a:t>
            </a:r>
          </a:p>
        </p:txBody>
      </p:sp>
      <p:sp>
        <p:nvSpPr>
          <p:cNvPr id="138" name="Rectangle 137"/>
          <p:cNvSpPr/>
          <p:nvPr/>
        </p:nvSpPr>
        <p:spPr>
          <a:xfrm>
            <a:off x="422419" y="18378787"/>
            <a:ext cx="10191338" cy="67665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559580" y="18415363"/>
            <a:ext cx="2926080" cy="603504"/>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Wildfire</a:t>
            </a:r>
          </a:p>
        </p:txBody>
      </p:sp>
      <p:sp>
        <p:nvSpPr>
          <p:cNvPr id="140" name="TextBox 139"/>
          <p:cNvSpPr txBox="1"/>
          <p:nvPr/>
        </p:nvSpPr>
        <p:spPr>
          <a:xfrm>
            <a:off x="3531380" y="18415363"/>
            <a:ext cx="6899497" cy="603504"/>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USFS Hazard Potential 270 m, max in 2.4 km</a:t>
            </a:r>
          </a:p>
        </p:txBody>
      </p:sp>
      <p:sp>
        <p:nvSpPr>
          <p:cNvPr id="141" name="Rectangle 140"/>
          <p:cNvSpPr/>
          <p:nvPr/>
        </p:nvSpPr>
        <p:spPr>
          <a:xfrm>
            <a:off x="422419" y="19146883"/>
            <a:ext cx="10191338" cy="67665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559580" y="19183459"/>
            <a:ext cx="2926080" cy="603504"/>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Flood</a:t>
            </a:r>
          </a:p>
        </p:txBody>
      </p:sp>
      <p:sp>
        <p:nvSpPr>
          <p:cNvPr id="143" name="TextBox 142"/>
          <p:cNvSpPr txBox="1"/>
          <p:nvPr/>
        </p:nvSpPr>
        <p:spPr>
          <a:xfrm>
            <a:off x="3531380" y="19183459"/>
            <a:ext cx="6899497" cy="603504"/>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FEMA NFHL layer 28, SFHA flag</a:t>
            </a:r>
          </a:p>
        </p:txBody>
      </p:sp>
      <p:sp>
        <p:nvSpPr>
          <p:cNvPr id="144" name="Rectangle 143"/>
          <p:cNvSpPr/>
          <p:nvPr/>
        </p:nvSpPr>
        <p:spPr>
          <a:xfrm>
            <a:off x="422419" y="19914979"/>
            <a:ext cx="10191338" cy="67665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559580" y="19951555"/>
            <a:ext cx="2926080" cy="603504"/>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Water stress</a:t>
            </a:r>
          </a:p>
        </p:txBody>
      </p:sp>
      <p:sp>
        <p:nvSpPr>
          <p:cNvPr id="146" name="TextBox 145"/>
          <p:cNvSpPr txBox="1"/>
          <p:nvPr/>
        </p:nvSpPr>
        <p:spPr>
          <a:xfrm>
            <a:off x="3531380" y="19951555"/>
            <a:ext cx="6899497" cy="603504"/>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WRI Aqueduct 4.0 (a resource limit, not a hazard)</a:t>
            </a:r>
          </a:p>
        </p:txBody>
      </p:sp>
      <p:sp>
        <p:nvSpPr>
          <p:cNvPr id="147" name="Rectangle 146"/>
          <p:cNvSpPr/>
          <p:nvPr/>
        </p:nvSpPr>
        <p:spPr>
          <a:xfrm>
            <a:off x="422419" y="20683075"/>
            <a:ext cx="10191338" cy="67665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559580" y="20719651"/>
            <a:ext cx="2926080" cy="603504"/>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Uncertainty</a:t>
            </a:r>
          </a:p>
        </p:txBody>
      </p:sp>
      <p:sp>
        <p:nvSpPr>
          <p:cNvPr id="149" name="TextBox 148"/>
          <p:cNvSpPr txBox="1"/>
          <p:nvPr/>
        </p:nvSpPr>
        <p:spPr>
          <a:xfrm>
            <a:off x="3531380" y="20719651"/>
            <a:ext cx="6899497" cy="603504"/>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500 draws, sigma 10-500 m by coordinate tier</a:t>
            </a:r>
          </a:p>
        </p:txBody>
      </p:sp>
      <p:sp>
        <p:nvSpPr>
          <p:cNvPr id="150" name="TextBox 149"/>
          <p:cNvSpPr txBox="1"/>
          <p:nvPr/>
        </p:nvSpPr>
        <p:spPr>
          <a:xfrm>
            <a:off x="376700" y="21542611"/>
            <a:ext cx="10282778" cy="2186749"/>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A facility counts as exposed if it lies within 2.4 km of land rated High or Very High for wildfire, inside a FEMA Special Flood Hazard Area, or at peak ground acceleration of 0.30 g or above (2% chance in 50 years). Where a hazard layer has no value we record it as unknown rather than counting the site as safe.</a:t>
            </a:r>
          </a:p>
        </p:txBody>
      </p:sp>
      <p:sp>
        <p:nvSpPr>
          <p:cNvPr id="151" name="TextBox 150"/>
          <p:cNvSpPr txBox="1"/>
          <p:nvPr/>
        </p:nvSpPr>
        <p:spPr>
          <a:xfrm>
            <a:off x="11011693"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65%</a:t>
            </a:r>
          </a:p>
        </p:txBody>
      </p:sp>
      <p:sp>
        <p:nvSpPr>
          <p:cNvPr id="152" name="TextBox 151"/>
          <p:cNvSpPr txBox="1"/>
          <p:nvPr/>
        </p:nvSpPr>
        <p:spPr>
          <a:xfrm>
            <a:off x="11011693"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face no mapped hazard</a:t>
            </a:r>
          </a:p>
        </p:txBody>
      </p:sp>
      <p:sp>
        <p:nvSpPr>
          <p:cNvPr id="153" name="TextBox 152"/>
          <p:cNvSpPr txBox="1"/>
          <p:nvPr/>
        </p:nvSpPr>
        <p:spPr>
          <a:xfrm>
            <a:off x="13711702"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15</a:t>
            </a:r>
          </a:p>
        </p:txBody>
      </p:sp>
      <p:sp>
        <p:nvSpPr>
          <p:cNvPr id="154" name="TextBox 153"/>
          <p:cNvSpPr txBox="1"/>
          <p:nvPr/>
        </p:nvSpPr>
        <p:spPr>
          <a:xfrm>
            <a:off x="13711702"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states below 10% exposed</a:t>
            </a:r>
          </a:p>
        </p:txBody>
      </p:sp>
      <p:sp>
        <p:nvSpPr>
          <p:cNvPr id="155" name="TextBox 154"/>
          <p:cNvSpPr txBox="1"/>
          <p:nvPr/>
        </p:nvSpPr>
        <p:spPr>
          <a:xfrm>
            <a:off x="16411711"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10</a:t>
            </a:r>
          </a:p>
        </p:txBody>
      </p:sp>
      <p:sp>
        <p:nvSpPr>
          <p:cNvPr id="156" name="TextBox 155"/>
          <p:cNvSpPr txBox="1"/>
          <p:nvPr/>
        </p:nvSpPr>
        <p:spPr>
          <a:xfrm>
            <a:off x="16411711"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states above 60%</a:t>
            </a:r>
          </a:p>
        </p:txBody>
      </p:sp>
      <p:sp>
        <p:nvSpPr>
          <p:cNvPr id="157" name="TextBox 156"/>
          <p:cNvSpPr txBox="1"/>
          <p:nvPr/>
        </p:nvSpPr>
        <p:spPr>
          <a:xfrm>
            <a:off x="19111720"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2,696</a:t>
            </a:r>
          </a:p>
        </p:txBody>
      </p:sp>
      <p:sp>
        <p:nvSpPr>
          <p:cNvPr id="158" name="TextBox 157"/>
          <p:cNvSpPr txBox="1"/>
          <p:nvPr/>
        </p:nvSpPr>
        <p:spPr>
          <a:xfrm>
            <a:off x="19111720"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facilities mapped</a:t>
            </a:r>
          </a:p>
        </p:txBody>
      </p:sp>
      <p:pic>
        <p:nvPicPr>
          <p:cNvPr id="159" name="Picture 158" descr="fig1_map.png"/>
          <p:cNvPicPr>
            <a:picLocks noChangeAspect="1"/>
          </p:cNvPicPr>
          <p:nvPr/>
        </p:nvPicPr>
        <p:blipFill>
          <a:blip r:embed="rId5"/>
          <a:stretch>
            <a:fillRect/>
          </a:stretch>
        </p:blipFill>
        <p:spPr>
          <a:xfrm>
            <a:off x="10965973" y="8231765"/>
            <a:ext cx="10781748" cy="5086182"/>
          </a:xfrm>
          <a:prstGeom prst="rect">
            <a:avLst/>
          </a:prstGeom>
        </p:spPr>
      </p:pic>
      <p:sp>
        <p:nvSpPr>
          <p:cNvPr id="160" name="TextBox 159"/>
          <p:cNvSpPr txBox="1"/>
          <p:nvPr/>
        </p:nvSpPr>
        <p:spPr>
          <a:xfrm>
            <a:off x="10965973" y="13391100"/>
            <a:ext cx="10781748" cy="993521"/>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1. Two thirds of US data centers face no mapped hazard. The exposed ones cluster in the West and the Northeast.</a:t>
            </a:r>
          </a:p>
        </p:txBody>
      </p:sp>
      <p:sp>
        <p:nvSpPr>
          <p:cNvPr id="161" name="TextBox 160"/>
          <p:cNvSpPr txBox="1"/>
          <p:nvPr/>
        </p:nvSpPr>
        <p:spPr>
          <a:xfrm>
            <a:off x="10965973" y="14476061"/>
            <a:ext cx="10781748" cy="3522979"/>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Which hazard dominates changes by region. New Jersey reaches 100% entirely through wildfire and 0% through earthquake. California is 96% earthquake. Nationally wildfire drives 646 facilities, earthquake 448, flood only 71.</a:t>
            </a:r>
          </a:p>
          <a:p>
            <a:pPr algn="l">
              <a:lnSpc>
                <a:spcPct val="95000"/>
              </a:lnSpc>
              <a:spcAft>
                <a:spcPts val="800"/>
              </a:spcAft>
            </a:pPr>
            <a:r>
              <a:rPr sz="2600" b="0">
                <a:solidFill>
                  <a:srgbClr val="000000"/>
                </a:solidFill>
                <a:latin typeface="Arial"/>
              </a:rPr>
              <a:t>Water stress is the one hazard that reaches Virginia. 31% of its facilities sit in high-stress basins, against 0.7% for mapped hazards.</a:t>
            </a:r>
          </a:p>
          <a:p>
            <a:pPr algn="l">
              <a:lnSpc>
                <a:spcPct val="95000"/>
              </a:lnSpc>
              <a:spcAft>
                <a:spcPts val="800"/>
              </a:spcAft>
            </a:pPr>
            <a:r>
              <a:rPr sz="2600" b="0">
                <a:solidFill>
                  <a:srgbClr val="000000"/>
                </a:solidFill>
                <a:latin typeface="Arial"/>
              </a:rPr>
              <a:t>At a 5 km wildfire buffer the national count rises to 953, more than one third of the fleet.</a:t>
            </a:r>
          </a:p>
        </p:txBody>
      </p:sp>
      <p:pic>
        <p:nvPicPr>
          <p:cNvPr id="162" name="Picture 161" descr="fig2_states.png"/>
          <p:cNvPicPr>
            <a:picLocks noChangeAspect="1"/>
          </p:cNvPicPr>
          <p:nvPr/>
        </p:nvPicPr>
        <p:blipFill>
          <a:blip r:embed="rId6"/>
          <a:stretch>
            <a:fillRect/>
          </a:stretch>
        </p:blipFill>
        <p:spPr>
          <a:xfrm>
            <a:off x="10965973" y="18090481"/>
            <a:ext cx="10781748" cy="4238557"/>
          </a:xfrm>
          <a:prstGeom prst="rect">
            <a:avLst/>
          </a:prstGeom>
        </p:spPr>
      </p:pic>
      <p:sp>
        <p:nvSpPr>
          <p:cNvPr id="163" name="TextBox 162"/>
          <p:cNvSpPr txBox="1"/>
          <p:nvPr/>
        </p:nvSpPr>
        <p:spPr>
          <a:xfrm>
            <a:off x="10965973" y="22383902"/>
            <a:ext cx="10781748" cy="993521"/>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2. Every state with 20 or more facilities. 25 of 32 sit below 10% or above 60%, and colour shows which hazard drives each one.</a:t>
            </a:r>
          </a:p>
        </p:txBody>
      </p:sp>
      <p:sp>
        <p:nvSpPr>
          <p:cNvPr id="164" name="Rectangle 163"/>
          <p:cNvSpPr/>
          <p:nvPr/>
        </p:nvSpPr>
        <p:spPr>
          <a:xfrm>
            <a:off x="22090621" y="8363146"/>
            <a:ext cx="10397100" cy="2390679"/>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22090621" y="8363146"/>
            <a:ext cx="128016" cy="2390679"/>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22328365" y="8436298"/>
            <a:ext cx="9985620" cy="2244375"/>
          </a:xfrm>
          <a:prstGeom prst="rect">
            <a:avLst/>
          </a:prstGeom>
          <a:noFill/>
        </p:spPr>
        <p:txBody>
          <a:bodyPr wrap="square" anchor="t" tIns="36576" bIns="36576">
            <a:spAutoFit/>
          </a:bodyPr>
          <a:lstStyle/>
          <a:p>
            <a:pPr algn="l">
              <a:lnSpc>
                <a:spcPct val="95000"/>
              </a:lnSpc>
              <a:spcAft>
                <a:spcPts val="800"/>
              </a:spcAft>
            </a:pPr>
            <a:r>
              <a:rPr sz="2500" b="1">
                <a:solidFill>
                  <a:srgbClr val="000000"/>
                </a:solidFill>
                <a:latin typeface="Arial"/>
              </a:rPr>
              <a:t>Two checks that came back negative</a:t>
            </a:r>
          </a:p>
          <a:p>
            <a:pPr algn="l">
              <a:lnSpc>
                <a:spcPct val="95000"/>
              </a:lnSpc>
              <a:spcAft>
                <a:spcPts val="800"/>
              </a:spcAft>
            </a:pPr>
            <a:r>
              <a:rPr sz="2400" b="0">
                <a:solidFill>
                  <a:srgbClr val="000000"/>
                </a:solidFill>
                <a:latin typeface="Arial"/>
              </a:rPr>
              <a:t>Measuring hazard across the whole footprint rather than at one point changed the answer for 29 of the 326 facilities where the two could be compared. Building height showed no association with exposure once state was held constant.</a:t>
            </a:r>
          </a:p>
        </p:txBody>
      </p:sp>
      <p:pic>
        <p:nvPicPr>
          <p:cNvPr id="167" name="Picture 166" descr="fig3_confidence.png"/>
          <p:cNvPicPr>
            <a:picLocks noChangeAspect="1"/>
          </p:cNvPicPr>
          <p:nvPr/>
        </p:nvPicPr>
        <p:blipFill>
          <a:blip r:embed="rId7"/>
          <a:stretch>
            <a:fillRect/>
          </a:stretch>
        </p:blipFill>
        <p:spPr>
          <a:xfrm>
            <a:off x="22090621" y="10881842"/>
            <a:ext cx="10397100" cy="3717481"/>
          </a:xfrm>
          <a:prstGeom prst="rect">
            <a:avLst/>
          </a:prstGeom>
        </p:spPr>
      </p:pic>
      <p:sp>
        <p:nvSpPr>
          <p:cNvPr id="168" name="TextBox 167"/>
          <p:cNvSpPr txBox="1"/>
          <p:nvPr/>
        </p:nvSpPr>
        <p:spPr>
          <a:xfrm>
            <a:off x="22090621" y="14635900"/>
            <a:ext cx="10397100" cy="688276"/>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3. We re-ran the analysis with simulated location error.</a:t>
            </a:r>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1916</TotalTime>
  <Words>1018</Words>
  <Application>Microsoft Office PowerPoint</Application>
  <PresentationFormat>Custom</PresentationFormat>
  <Paragraphs>59</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Times New Roman</vt:lpstr>
      <vt:lpstr>Arial</vt:lpstr>
      <vt:lpstr>Calibri</vt:lpstr>
      <vt:lpstr>Palatino</vt:lpstr>
      <vt:lpstr>Calibri Light</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Haymond</dc:creator>
  <cp:lastModifiedBy>Amanda Still</cp:lastModifiedBy>
  <cp:revision>45</cp:revision>
  <dcterms:modified xsi:type="dcterms:W3CDTF">2026-06-17T19:45:41Z</dcterms:modified>
</cp:coreProperties>
</file>
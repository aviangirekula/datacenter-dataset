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48" r:id="rId1"/>
  </p:sldMasterIdLst>
  <p:notesMasterIdLst>
    <p:notesMasterId r:id="rId3"/>
  </p:notesMasterIdLst>
  <p:sldIdLst>
    <p:sldId id="256" r:id="rId2"/>
  </p:sldIdLst>
  <p:sldSz cx="32918400" cy="24688800"/>
  <p:notesSz cx="7010400" cy="923607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776" userDrawn="1">
          <p15:clr>
            <a:srgbClr val="A4A3A4"/>
          </p15:clr>
        </p15:guide>
        <p15:guide id="2" pos="1036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00"/>
    <a:srgbClr val="00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AD4020C-D529-40F8-BBB5-FADFFD60BAF7}">
  <a:tblStyle styleId="{2AD4020C-D529-40F8-BBB5-FADFFD60BAF7}" styleName="Table_0">
    <a:wholeTbl>
      <a:tcTxStyle>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95BF6B8E-B4C6-4455-9E36-4D0BB332AEDA}" styleName="Table_1">
    <a:wholeTbl>
      <a:tcTxStyle>
        <a:font>
          <a:latin typeface="Arial"/>
          <a:ea typeface="Arial"/>
          <a:cs typeface="Arial"/>
        </a:font>
        <a:srgbClr val="000000"/>
      </a:tcTxStyle>
      <a:tcStyle>
        <a:tcBdr>
          <a:left>
            <a:ln w="12700" cap="flat" cmpd="sng">
              <a:solidFill>
                <a:srgbClr val="9E9E9E"/>
              </a:solidFill>
              <a:prstDash val="solid"/>
              <a:round/>
              <a:headEnd type="none" w="sm" len="sm"/>
              <a:tailEnd type="none" w="sm" len="sm"/>
            </a:ln>
          </a:left>
          <a:right>
            <a:ln w="12700" cap="flat" cmpd="sng">
              <a:solidFill>
                <a:srgbClr val="9E9E9E"/>
              </a:solidFill>
              <a:prstDash val="solid"/>
              <a:round/>
              <a:headEnd type="none" w="sm" len="sm"/>
              <a:tailEnd type="none" w="sm" len="sm"/>
            </a:ln>
          </a:right>
          <a:top>
            <a:ln w="12700" cap="flat" cmpd="sng">
              <a:solidFill>
                <a:srgbClr val="9E9E9E"/>
              </a:solidFill>
              <a:prstDash val="solid"/>
              <a:round/>
              <a:headEnd type="none" w="sm" len="sm"/>
              <a:tailEnd type="none" w="sm" len="sm"/>
            </a:ln>
          </a:top>
          <a:bottom>
            <a:ln w="12700" cap="flat" cmpd="sng">
              <a:solidFill>
                <a:srgbClr val="9E9E9E"/>
              </a:solidFill>
              <a:prstDash val="solid"/>
              <a:round/>
              <a:headEnd type="none" w="sm" len="sm"/>
              <a:tailEnd type="none" w="sm" len="sm"/>
            </a:ln>
          </a:bottom>
          <a:insideH>
            <a:ln w="12700" cap="flat" cmpd="sng">
              <a:solidFill>
                <a:srgbClr val="9E9E9E"/>
              </a:solidFill>
              <a:prstDash val="solid"/>
              <a:round/>
              <a:headEnd type="none" w="sm" len="sm"/>
              <a:tailEnd type="none" w="sm" len="sm"/>
            </a:ln>
          </a:insideH>
          <a:insideV>
            <a:ln w="12700"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171" autoAdjust="0"/>
    <p:restoredTop sz="83290" autoAdjust="0"/>
  </p:normalViewPr>
  <p:slideViewPr>
    <p:cSldViewPr snapToGrid="0">
      <p:cViewPr varScale="1">
        <p:scale>
          <a:sx n="18" d="100"/>
          <a:sy n="18" d="100"/>
        </p:scale>
        <p:origin x="1723" y="72"/>
      </p:cViewPr>
      <p:guideLst>
        <p:guide orient="horz" pos="7776"/>
        <p:guide pos="10368"/>
      </p:guideLst>
    </p:cSldViewPr>
  </p:slideViewPr>
  <p:notesTextViewPr>
    <p:cViewPr>
      <p:scale>
        <a:sx n="1" d="1"/>
        <a:sy n="1" d="1"/>
      </p:scale>
      <p:origin x="0" y="-2222"/>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37212" cy="461804"/>
          </a:xfrm>
          <a:prstGeom prst="rect">
            <a:avLst/>
          </a:prstGeom>
          <a:noFill/>
          <a:ln>
            <a:noFill/>
          </a:ln>
        </p:spPr>
        <p:txBody>
          <a:bodyPr spcFirstLastPara="1" wrap="square" lIns="90275" tIns="45125" rIns="90275" bIns="45125" anchor="t" anchorCtr="0">
            <a:noAutofit/>
          </a:bodyPr>
          <a:lstStyle>
            <a:lvl1pPr marR="0" lvl="0" algn="l" rtl="0">
              <a:spcBef>
                <a:spcPts val="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21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21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21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21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21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21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21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2100" b="0" i="0" u="none" strike="noStrike" cap="none">
                <a:solidFill>
                  <a:schemeClr val="dk1"/>
                </a:solidFill>
                <a:latin typeface="Times New Roman"/>
                <a:ea typeface="Times New Roman"/>
                <a:cs typeface="Times New Roman"/>
                <a:sym typeface="Times New Roman"/>
              </a:defRPr>
            </a:lvl9pPr>
          </a:lstStyle>
          <a:p>
            <a:endParaRPr/>
          </a:p>
        </p:txBody>
      </p:sp>
      <p:sp>
        <p:nvSpPr>
          <p:cNvPr id="4" name="Google Shape;4;n"/>
          <p:cNvSpPr txBox="1">
            <a:spLocks noGrp="1"/>
          </p:cNvSpPr>
          <p:nvPr>
            <p:ph type="dt" idx="10"/>
          </p:nvPr>
        </p:nvSpPr>
        <p:spPr>
          <a:xfrm>
            <a:off x="3971619" y="0"/>
            <a:ext cx="3037212" cy="461804"/>
          </a:xfrm>
          <a:prstGeom prst="rect">
            <a:avLst/>
          </a:prstGeom>
          <a:noFill/>
          <a:ln>
            <a:noFill/>
          </a:ln>
        </p:spPr>
        <p:txBody>
          <a:bodyPr spcFirstLastPara="1" wrap="square" lIns="90275" tIns="45125" rIns="90275" bIns="45125" anchor="t" anchorCtr="0">
            <a:noAutofit/>
          </a:bodyPr>
          <a:lstStyle>
            <a:lvl1pPr marR="0" lvl="0" algn="r" rtl="0">
              <a:spcBef>
                <a:spcPts val="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21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21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21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21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21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21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21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2100" b="0" i="0" u="none" strike="noStrike" cap="none">
                <a:solidFill>
                  <a:schemeClr val="dk1"/>
                </a:solidFill>
                <a:latin typeface="Times New Roman"/>
                <a:ea typeface="Times New Roman"/>
                <a:cs typeface="Times New Roman"/>
                <a:sym typeface="Times New Roman"/>
              </a:defRPr>
            </a:lvl9pPr>
          </a:lstStyle>
          <a:p>
            <a:endParaRPr/>
          </a:p>
        </p:txBody>
      </p:sp>
      <p:sp>
        <p:nvSpPr>
          <p:cNvPr id="5" name="Google Shape;5;n"/>
          <p:cNvSpPr>
            <a:spLocks noGrp="1" noRot="1" noChangeAspect="1"/>
          </p:cNvSpPr>
          <p:nvPr>
            <p:ph type="sldImg" idx="3"/>
          </p:nvPr>
        </p:nvSpPr>
        <p:spPr>
          <a:xfrm>
            <a:off x="1196975" y="693738"/>
            <a:ext cx="4616450" cy="346233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00413" y="4387913"/>
            <a:ext cx="5609576" cy="4156234"/>
          </a:xfrm>
          <a:prstGeom prst="rect">
            <a:avLst/>
          </a:prstGeom>
          <a:noFill/>
          <a:ln>
            <a:noFill/>
          </a:ln>
        </p:spPr>
        <p:txBody>
          <a:bodyPr spcFirstLastPara="1" wrap="square" lIns="90275" tIns="45125" rIns="90275" bIns="45125" anchor="t" anchorCtr="0">
            <a:noAutofit/>
          </a:bodyPr>
          <a:lstStyle>
            <a:lvl1pPr marL="457200" marR="0" lvl="0" indent="-228600" algn="l" rtl="0">
              <a:spcBef>
                <a:spcPts val="300"/>
              </a:spcBef>
              <a:spcAft>
                <a:spcPts val="0"/>
              </a:spcAft>
              <a:buSzPts val="1400"/>
              <a:buNone/>
              <a:defRPr sz="1000" b="0" i="0" u="none" strike="noStrike" cap="none">
                <a:solidFill>
                  <a:schemeClr val="dk1"/>
                </a:solidFill>
                <a:latin typeface="Calibri"/>
                <a:ea typeface="Calibri"/>
                <a:cs typeface="Calibri"/>
                <a:sym typeface="Calibri"/>
              </a:defRPr>
            </a:lvl1pPr>
            <a:lvl2pPr marL="914400" marR="0" lvl="1" indent="-228600" algn="l" rtl="0">
              <a:spcBef>
                <a:spcPts val="300"/>
              </a:spcBef>
              <a:spcAft>
                <a:spcPts val="0"/>
              </a:spcAft>
              <a:buSzPts val="1400"/>
              <a:buNone/>
              <a:defRPr sz="1000" b="0" i="0" u="none" strike="noStrike" cap="none">
                <a:solidFill>
                  <a:schemeClr val="dk1"/>
                </a:solidFill>
                <a:latin typeface="Calibri"/>
                <a:ea typeface="Calibri"/>
                <a:cs typeface="Calibri"/>
                <a:sym typeface="Calibri"/>
              </a:defRPr>
            </a:lvl2pPr>
            <a:lvl3pPr marL="1371600" marR="0" lvl="2" indent="-228600" algn="l" rtl="0">
              <a:spcBef>
                <a:spcPts val="300"/>
              </a:spcBef>
              <a:spcAft>
                <a:spcPts val="0"/>
              </a:spcAft>
              <a:buSzPts val="1400"/>
              <a:buNone/>
              <a:defRPr sz="1000" b="0" i="0" u="none" strike="noStrike" cap="none">
                <a:solidFill>
                  <a:schemeClr val="dk1"/>
                </a:solidFill>
                <a:latin typeface="Calibri"/>
                <a:ea typeface="Calibri"/>
                <a:cs typeface="Calibri"/>
                <a:sym typeface="Calibri"/>
              </a:defRPr>
            </a:lvl3pPr>
            <a:lvl4pPr marL="1828800" marR="0" lvl="3" indent="-228600" algn="l" rtl="0">
              <a:spcBef>
                <a:spcPts val="300"/>
              </a:spcBef>
              <a:spcAft>
                <a:spcPts val="0"/>
              </a:spcAft>
              <a:buSzPts val="1400"/>
              <a:buNone/>
              <a:defRPr sz="1000" b="0" i="0" u="none" strike="noStrike" cap="none">
                <a:solidFill>
                  <a:schemeClr val="dk1"/>
                </a:solidFill>
                <a:latin typeface="Calibri"/>
                <a:ea typeface="Calibri"/>
                <a:cs typeface="Calibri"/>
                <a:sym typeface="Calibri"/>
              </a:defRPr>
            </a:lvl4pPr>
            <a:lvl5pPr marL="2286000" marR="0" lvl="4" indent="-228600" algn="l" rtl="0">
              <a:spcBef>
                <a:spcPts val="300"/>
              </a:spcBef>
              <a:spcAft>
                <a:spcPts val="0"/>
              </a:spcAft>
              <a:buSzPts val="1400"/>
              <a:buNone/>
              <a:defRPr sz="10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0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0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0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0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772716"/>
            <a:ext cx="3037212" cy="461804"/>
          </a:xfrm>
          <a:prstGeom prst="rect">
            <a:avLst/>
          </a:prstGeom>
          <a:noFill/>
          <a:ln>
            <a:noFill/>
          </a:ln>
        </p:spPr>
        <p:txBody>
          <a:bodyPr spcFirstLastPara="1" wrap="square" lIns="90275" tIns="45125" rIns="90275" bIns="45125" anchor="b" anchorCtr="0">
            <a:noAutofit/>
          </a:bodyPr>
          <a:lstStyle>
            <a:lvl1pPr marR="0" lvl="0" algn="l" rtl="0">
              <a:spcBef>
                <a:spcPts val="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21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21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21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21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21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21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21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2100" b="0" i="0" u="none" strike="noStrike" cap="none">
                <a:solidFill>
                  <a:schemeClr val="dk1"/>
                </a:solidFill>
                <a:latin typeface="Times New Roman"/>
                <a:ea typeface="Times New Roman"/>
                <a:cs typeface="Times New Roman"/>
                <a:sym typeface="Times New Roman"/>
              </a:defRPr>
            </a:lvl9pPr>
          </a:lstStyle>
          <a:p>
            <a:endParaRPr/>
          </a:p>
        </p:txBody>
      </p:sp>
      <p:sp>
        <p:nvSpPr>
          <p:cNvPr id="8" name="Google Shape;8;n"/>
          <p:cNvSpPr txBox="1">
            <a:spLocks noGrp="1"/>
          </p:cNvSpPr>
          <p:nvPr>
            <p:ph type="sldNum" idx="12"/>
          </p:nvPr>
        </p:nvSpPr>
        <p:spPr>
          <a:xfrm>
            <a:off x="3971619" y="8772716"/>
            <a:ext cx="3037212" cy="461804"/>
          </a:xfrm>
          <a:prstGeom prst="rect">
            <a:avLst/>
          </a:prstGeom>
          <a:noFill/>
          <a:ln>
            <a:noFill/>
          </a:ln>
        </p:spPr>
        <p:txBody>
          <a:bodyPr spcFirstLastPara="1" wrap="square" lIns="90275" tIns="45125" rIns="90275" bIns="45125"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t>‹#›</a:t>
            </a:fld>
            <a:endParaRPr sz="1200" b="0" i="0" u="none" strike="noStrike" cap="none">
              <a:solidFill>
                <a:schemeClr val="dk1"/>
              </a:solidFill>
              <a:latin typeface="Times New Roman"/>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26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26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26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26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26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26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26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26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26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1196975" y="693738"/>
            <a:ext cx="4616450" cy="346233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6" name="Google Shape;86;p1:notes"/>
          <p:cNvSpPr txBox="1">
            <a:spLocks noGrp="1"/>
          </p:cNvSpPr>
          <p:nvPr>
            <p:ph type="body" idx="1"/>
          </p:nvPr>
        </p:nvSpPr>
        <p:spPr>
          <a:xfrm>
            <a:off x="700413" y="4387913"/>
            <a:ext cx="5609576" cy="4156234"/>
          </a:xfrm>
          <a:prstGeom prst="rect">
            <a:avLst/>
          </a:prstGeom>
          <a:noFill/>
          <a:ln>
            <a:noFill/>
          </a:ln>
        </p:spPr>
        <p:txBody>
          <a:bodyPr spcFirstLastPara="1" wrap="square" lIns="90275" tIns="45125" rIns="90275" bIns="45125" anchor="t" anchorCtr="0">
            <a:noAutofit/>
          </a:bodyPr>
          <a:lstStyle/>
          <a:p>
            <a:pPr marL="0" lvl="0" indent="0" algn="l" rtl="0">
              <a:lnSpc>
                <a:spcPct val="80000"/>
              </a:lnSpc>
              <a:spcBef>
                <a:spcPts val="0"/>
              </a:spcBef>
              <a:spcAft>
                <a:spcPts val="0"/>
              </a:spcAft>
              <a:buNone/>
            </a:pPr>
            <a:r>
              <a:rPr lang="en-US" sz="700" u="sng" dirty="0">
                <a:solidFill>
                  <a:schemeClr val="dk1"/>
                </a:solidFill>
                <a:latin typeface="Arial" panose="020B0604020202020204" pitchFamily="34" charset="0"/>
                <a:ea typeface="Calibri"/>
                <a:cs typeface="Arial" panose="020B0604020202020204" pitchFamily="34" charset="0"/>
                <a:sym typeface="Calibri"/>
              </a:rPr>
              <a:t>READ ME: 2026 ASSIP Poster Template Instructions</a:t>
            </a:r>
            <a:endParaRPr sz="700" dirty="0">
              <a:solidFill>
                <a:schemeClr val="dk1"/>
              </a:solidFill>
              <a:latin typeface="Arial" panose="020B0604020202020204" pitchFamily="34" charset="0"/>
              <a:ea typeface="Calibri"/>
              <a:cs typeface="Arial" panose="020B0604020202020204" pitchFamily="34" charset="0"/>
              <a:sym typeface="Calibri"/>
            </a:endParaRPr>
          </a:p>
          <a:p>
            <a:pPr marL="0" lvl="0" indent="0" algn="l" rtl="0">
              <a:lnSpc>
                <a:spcPct val="80000"/>
              </a:lnSpc>
              <a:spcBef>
                <a:spcPts val="210"/>
              </a:spcBef>
              <a:spcAft>
                <a:spcPts val="0"/>
              </a:spcAft>
              <a:buNone/>
            </a:pPr>
            <a:r>
              <a:rPr lang="en-US" sz="700" u="sng" dirty="0">
                <a:solidFill>
                  <a:schemeClr val="dk1"/>
                </a:solidFill>
                <a:latin typeface="Arial" panose="020B0604020202020204" pitchFamily="34" charset="0"/>
                <a:ea typeface="Calibri"/>
                <a:cs typeface="Arial" panose="020B0604020202020204" pitchFamily="34" charset="0"/>
                <a:sym typeface="Calibri"/>
              </a:rPr>
              <a:t>Read this section before using the template. </a:t>
            </a:r>
            <a:endParaRPr sz="700" dirty="0">
              <a:solidFill>
                <a:schemeClr val="dk1"/>
              </a:solidFill>
              <a:latin typeface="Arial" panose="020B0604020202020204" pitchFamily="34" charset="0"/>
              <a:ea typeface="Calibri"/>
              <a:cs typeface="Arial" panose="020B0604020202020204" pitchFamily="34" charset="0"/>
              <a:sym typeface="Calibri"/>
            </a:endParaRPr>
          </a:p>
          <a:p>
            <a:pPr marL="0" lvl="0" indent="0" algn="l" rtl="0">
              <a:lnSpc>
                <a:spcPct val="80000"/>
              </a:lnSpc>
              <a:spcBef>
                <a:spcPts val="210"/>
              </a:spcBef>
              <a:spcAft>
                <a:spcPts val="0"/>
              </a:spcAft>
              <a:buNone/>
            </a:pPr>
            <a:r>
              <a:rPr lang="en-US" sz="700" dirty="0">
                <a:solidFill>
                  <a:schemeClr val="dk1"/>
                </a:solidFill>
                <a:latin typeface="Arial" panose="020B0604020202020204" pitchFamily="34" charset="0"/>
                <a:ea typeface="Calibri"/>
                <a:cs typeface="Arial" panose="020B0604020202020204" pitchFamily="34" charset="0"/>
                <a:sym typeface="Calibri"/>
              </a:rPr>
              <a:t>Questions? Email Dr. Haymond Still at cosassip@gmu.edu</a:t>
            </a:r>
            <a:endParaRPr sz="700" dirty="0">
              <a:solidFill>
                <a:schemeClr val="dk1"/>
              </a:solidFill>
              <a:latin typeface="Arial" panose="020B0604020202020204" pitchFamily="34" charset="0"/>
              <a:ea typeface="Calibri"/>
              <a:cs typeface="Arial" panose="020B0604020202020204" pitchFamily="34" charset="0"/>
              <a:sym typeface="Calibri"/>
            </a:endParaRPr>
          </a:p>
          <a:p>
            <a:pPr marL="0" lvl="0" indent="0" algn="l" rtl="0">
              <a:lnSpc>
                <a:spcPct val="80000"/>
              </a:lnSpc>
              <a:spcBef>
                <a:spcPts val="210"/>
              </a:spcBef>
              <a:spcAft>
                <a:spcPts val="0"/>
              </a:spcAft>
              <a:buNone/>
            </a:pPr>
            <a:r>
              <a:rPr lang="en-US" sz="700" dirty="0">
                <a:solidFill>
                  <a:schemeClr val="dk1"/>
                </a:solidFill>
                <a:latin typeface="Arial" panose="020B0604020202020204" pitchFamily="34" charset="0"/>
                <a:ea typeface="Calibri"/>
                <a:cs typeface="Arial" panose="020B0604020202020204" pitchFamily="34" charset="0"/>
                <a:sym typeface="Calibri"/>
              </a:rPr>
              <a:t> </a:t>
            </a:r>
            <a:endParaRPr dirty="0">
              <a:latin typeface="Arial" panose="020B0604020202020204" pitchFamily="34" charset="0"/>
              <a:cs typeface="Arial" panose="020B0604020202020204" pitchFamily="34" charset="0"/>
            </a:endParaRPr>
          </a:p>
          <a:p>
            <a:pPr marL="0" lvl="0" indent="0" algn="l" rtl="0">
              <a:lnSpc>
                <a:spcPct val="80000"/>
              </a:lnSpc>
              <a:spcBef>
                <a:spcPts val="210"/>
              </a:spcBef>
              <a:spcAft>
                <a:spcPts val="0"/>
              </a:spcAft>
              <a:buNone/>
            </a:pPr>
            <a:r>
              <a:rPr lang="en-US" sz="700" dirty="0">
                <a:solidFill>
                  <a:schemeClr val="dk1"/>
                </a:solidFill>
                <a:latin typeface="Arial" panose="020B0604020202020204" pitchFamily="34" charset="0"/>
                <a:ea typeface="Calibri"/>
                <a:cs typeface="Arial" panose="020B0604020202020204" pitchFamily="34" charset="0"/>
                <a:sym typeface="Calibri"/>
              </a:rPr>
              <a:t>This is a template for you to use as is or modify WITH MENTOR’S input.  </a:t>
            </a:r>
            <a:endParaRPr dirty="0">
              <a:latin typeface="Arial" panose="020B0604020202020204" pitchFamily="34" charset="0"/>
              <a:cs typeface="Arial" panose="020B0604020202020204" pitchFamily="34" charset="0"/>
            </a:endParaRPr>
          </a:p>
          <a:p>
            <a:pPr marL="0" lvl="0" indent="0" algn="l" rtl="0">
              <a:lnSpc>
                <a:spcPct val="80000"/>
              </a:lnSpc>
              <a:spcBef>
                <a:spcPts val="210"/>
              </a:spcBef>
              <a:spcAft>
                <a:spcPts val="0"/>
              </a:spcAft>
              <a:buNone/>
            </a:pPr>
            <a:r>
              <a:rPr lang="en-US" sz="700" dirty="0">
                <a:solidFill>
                  <a:schemeClr val="dk1"/>
                </a:solidFill>
                <a:latin typeface="Arial" panose="020B0604020202020204" pitchFamily="34" charset="0"/>
                <a:ea typeface="Calibri"/>
                <a:cs typeface="Arial" panose="020B0604020202020204" pitchFamily="34" charset="0"/>
                <a:sym typeface="Calibri"/>
              </a:rPr>
              <a:t>The poster dimensions will print as 27 inches high x 36 inches wide.  </a:t>
            </a:r>
            <a:r>
              <a:rPr lang="en-US" sz="700" b="1" dirty="0">
                <a:solidFill>
                  <a:schemeClr val="dk1"/>
                </a:solidFill>
                <a:latin typeface="Arial" panose="020B0604020202020204" pitchFamily="34" charset="0"/>
                <a:ea typeface="Calibri"/>
                <a:cs typeface="Arial" panose="020B0604020202020204" pitchFamily="34" charset="0"/>
                <a:sym typeface="Calibri"/>
              </a:rPr>
              <a:t>Do not change the poster dimensions, as the pricing and turnaround time I’ve negotiated with Print Services accounts for this sizing. </a:t>
            </a:r>
          </a:p>
          <a:p>
            <a:pPr marL="0" lvl="0" indent="0" algn="l" rtl="0">
              <a:lnSpc>
                <a:spcPct val="80000"/>
              </a:lnSpc>
              <a:spcBef>
                <a:spcPts val="210"/>
              </a:spcBef>
              <a:spcAft>
                <a:spcPts val="0"/>
              </a:spcAft>
              <a:buNone/>
            </a:pPr>
            <a:endParaRPr sz="700" dirty="0">
              <a:solidFill>
                <a:schemeClr val="dk1"/>
              </a:solidFill>
              <a:latin typeface="Arial" panose="020B0604020202020204" pitchFamily="34" charset="0"/>
              <a:ea typeface="Calibri"/>
              <a:cs typeface="Arial" panose="020B0604020202020204" pitchFamily="34" charset="0"/>
              <a:sym typeface="Calibri"/>
            </a:endParaRPr>
          </a:p>
          <a:p>
            <a:pPr marL="0" lvl="0" indent="0" algn="l" rtl="0">
              <a:lnSpc>
                <a:spcPct val="80000"/>
              </a:lnSpc>
              <a:spcBef>
                <a:spcPts val="210"/>
              </a:spcBef>
              <a:spcAft>
                <a:spcPts val="0"/>
              </a:spcAft>
              <a:buNone/>
            </a:pPr>
            <a:r>
              <a:rPr lang="en-US" sz="700" dirty="0">
                <a:solidFill>
                  <a:schemeClr val="dk1"/>
                </a:solidFill>
                <a:latin typeface="Arial" panose="020B0604020202020204" pitchFamily="34" charset="0"/>
                <a:ea typeface="Calibri"/>
                <a:cs typeface="Arial" panose="020B0604020202020204" pitchFamily="34" charset="0"/>
                <a:sym typeface="Calibri"/>
              </a:rPr>
              <a:t>Be sure to delete the instructions in the text boxes (my instructions are all in italics). You may mess around with the particular font used if you like; just keep it clean and professional. (No Comic Sans!!) </a:t>
            </a:r>
            <a:endParaRPr dirty="0">
              <a:latin typeface="Arial" panose="020B0604020202020204" pitchFamily="34" charset="0"/>
              <a:cs typeface="Arial" panose="020B0604020202020204" pitchFamily="34" charset="0"/>
            </a:endParaRPr>
          </a:p>
          <a:p>
            <a:pPr marL="0" lvl="0" indent="0" algn="l" rtl="0">
              <a:lnSpc>
                <a:spcPct val="80000"/>
              </a:lnSpc>
              <a:spcBef>
                <a:spcPts val="210"/>
              </a:spcBef>
              <a:spcAft>
                <a:spcPts val="0"/>
              </a:spcAft>
              <a:buNone/>
            </a:pPr>
            <a:endParaRPr sz="700" dirty="0">
              <a:solidFill>
                <a:schemeClr val="dk1"/>
              </a:solidFill>
              <a:latin typeface="Arial" panose="020B0604020202020204" pitchFamily="34" charset="0"/>
              <a:ea typeface="Calibri"/>
              <a:cs typeface="Arial" panose="020B0604020202020204" pitchFamily="34" charset="0"/>
              <a:sym typeface="Calibri"/>
            </a:endParaRPr>
          </a:p>
          <a:p>
            <a:pPr marL="0" lvl="0" indent="0" algn="l" rtl="0">
              <a:lnSpc>
                <a:spcPct val="80000"/>
              </a:lnSpc>
              <a:spcBef>
                <a:spcPts val="210"/>
              </a:spcBef>
              <a:spcAft>
                <a:spcPts val="0"/>
              </a:spcAft>
              <a:buNone/>
            </a:pPr>
            <a:r>
              <a:rPr lang="en-US" sz="700" dirty="0">
                <a:solidFill>
                  <a:schemeClr val="dk1"/>
                </a:solidFill>
                <a:latin typeface="Arial" panose="020B0604020202020204" pitchFamily="34" charset="0"/>
                <a:ea typeface="Calibri"/>
                <a:cs typeface="Arial" panose="020B0604020202020204" pitchFamily="34" charset="0"/>
                <a:sym typeface="Calibri"/>
              </a:rPr>
              <a:t>You can change the header names, locations and presence as agreed upon by your mentor.  For example, you may or may not have a Major Citations section. Or, you may need more room for your methods section or want to combine your results and conclusions. This is fine. </a:t>
            </a:r>
          </a:p>
          <a:p>
            <a:pPr marL="0" lvl="0" indent="0" algn="l" rtl="0">
              <a:lnSpc>
                <a:spcPct val="80000"/>
              </a:lnSpc>
              <a:spcBef>
                <a:spcPts val="210"/>
              </a:spcBef>
              <a:spcAft>
                <a:spcPts val="0"/>
              </a:spcAft>
              <a:buNone/>
            </a:pPr>
            <a:endParaRPr sz="700" dirty="0">
              <a:solidFill>
                <a:schemeClr val="dk1"/>
              </a:solidFill>
              <a:latin typeface="Arial" panose="020B0604020202020204" pitchFamily="34" charset="0"/>
              <a:ea typeface="Calibri"/>
              <a:cs typeface="Arial" panose="020B0604020202020204" pitchFamily="34" charset="0"/>
              <a:sym typeface="Calibri"/>
            </a:endParaRPr>
          </a:p>
          <a:p>
            <a:pPr marL="0" lvl="0" indent="0" algn="l" rtl="0">
              <a:lnSpc>
                <a:spcPct val="80000"/>
              </a:lnSpc>
              <a:spcBef>
                <a:spcPts val="210"/>
              </a:spcBef>
              <a:spcAft>
                <a:spcPts val="0"/>
              </a:spcAft>
              <a:buNone/>
            </a:pPr>
            <a:r>
              <a:rPr lang="en-US" sz="700" b="1" dirty="0">
                <a:solidFill>
                  <a:schemeClr val="dk1"/>
                </a:solidFill>
                <a:latin typeface="Arial" panose="020B0604020202020204" pitchFamily="34" charset="0"/>
                <a:ea typeface="Calibri"/>
                <a:cs typeface="Arial" panose="020B0604020202020204" pitchFamily="34" charset="0"/>
                <a:sym typeface="Calibri"/>
              </a:rPr>
              <a:t>Try to keep the font sizes within the specified ranges for legibility. </a:t>
            </a:r>
            <a:r>
              <a:rPr lang="en-US" sz="700" b="0" dirty="0">
                <a:solidFill>
                  <a:schemeClr val="dk1"/>
                </a:solidFill>
                <a:latin typeface="Arial" panose="020B0604020202020204" pitchFamily="34" charset="0"/>
                <a:ea typeface="Calibri"/>
                <a:cs typeface="Arial" panose="020B0604020202020204" pitchFamily="34" charset="0"/>
                <a:sym typeface="Calibri"/>
              </a:rPr>
              <a:t>If you have a super long title, for example, I recommend that you make the title box wider and let the title run across two lines, rather than shrink the title text to fit my box. Again, feel free to resize any boxes as necessary to fit the boxes to your content. </a:t>
            </a:r>
            <a:endParaRPr b="0" dirty="0">
              <a:latin typeface="Arial" panose="020B0604020202020204" pitchFamily="34" charset="0"/>
              <a:cs typeface="Arial" panose="020B0604020202020204" pitchFamily="34" charset="0"/>
            </a:endParaRPr>
          </a:p>
          <a:p>
            <a:pPr marL="0" lvl="0" indent="0" algn="l" rtl="0">
              <a:lnSpc>
                <a:spcPct val="80000"/>
              </a:lnSpc>
              <a:spcBef>
                <a:spcPts val="210"/>
              </a:spcBef>
              <a:spcAft>
                <a:spcPts val="0"/>
              </a:spcAft>
              <a:buNone/>
            </a:pPr>
            <a:r>
              <a:rPr lang="en-US" sz="700" dirty="0">
                <a:solidFill>
                  <a:schemeClr val="dk1"/>
                </a:solidFill>
                <a:latin typeface="Arial" panose="020B0604020202020204" pitchFamily="34" charset="0"/>
                <a:ea typeface="Calibri"/>
                <a:cs typeface="Arial" panose="020B0604020202020204" pitchFamily="34" charset="0"/>
                <a:sym typeface="Calibri"/>
              </a:rPr>
              <a:t> </a:t>
            </a:r>
            <a:endParaRPr dirty="0">
              <a:latin typeface="Arial" panose="020B0604020202020204" pitchFamily="34" charset="0"/>
              <a:cs typeface="Arial" panose="020B0604020202020204" pitchFamily="34" charset="0"/>
            </a:endParaRPr>
          </a:p>
          <a:p>
            <a:pPr marL="0" lvl="0" indent="0" algn="l" rtl="0">
              <a:lnSpc>
                <a:spcPct val="80000"/>
              </a:lnSpc>
              <a:spcBef>
                <a:spcPts val="210"/>
              </a:spcBef>
              <a:spcAft>
                <a:spcPts val="0"/>
              </a:spcAft>
              <a:buNone/>
            </a:pPr>
            <a:r>
              <a:rPr lang="en-US" sz="700" dirty="0">
                <a:solidFill>
                  <a:schemeClr val="dk1"/>
                </a:solidFill>
                <a:latin typeface="Arial" panose="020B0604020202020204" pitchFamily="34" charset="0"/>
                <a:ea typeface="Calibri"/>
                <a:cs typeface="Arial" panose="020B0604020202020204" pitchFamily="34" charset="0"/>
                <a:sym typeface="Calibri"/>
              </a:rPr>
              <a:t>For the poster session printed version, leave the two logos in the left and right corners as is, and the colors as is, for consistency. </a:t>
            </a:r>
          </a:p>
          <a:p>
            <a:pPr marL="0" lvl="0" indent="0" algn="l" rtl="0">
              <a:lnSpc>
                <a:spcPct val="80000"/>
              </a:lnSpc>
              <a:spcBef>
                <a:spcPts val="210"/>
              </a:spcBef>
              <a:spcAft>
                <a:spcPts val="0"/>
              </a:spcAft>
              <a:buNone/>
            </a:pPr>
            <a:endParaRPr lang="en-US" sz="700" b="1" dirty="0">
              <a:solidFill>
                <a:schemeClr val="dk1"/>
              </a:solidFill>
              <a:latin typeface="Arial" panose="020B0604020202020204" pitchFamily="34" charset="0"/>
              <a:ea typeface="Calibri"/>
              <a:cs typeface="Arial" panose="020B0604020202020204" pitchFamily="34" charset="0"/>
              <a:sym typeface="Calibri"/>
            </a:endParaRPr>
          </a:p>
          <a:p>
            <a:pPr marL="0" lvl="0" indent="0" algn="l" rtl="0">
              <a:lnSpc>
                <a:spcPct val="80000"/>
              </a:lnSpc>
              <a:spcBef>
                <a:spcPts val="210"/>
              </a:spcBef>
              <a:spcAft>
                <a:spcPts val="0"/>
              </a:spcAft>
              <a:buNone/>
            </a:pPr>
            <a:r>
              <a:rPr lang="en-US" sz="980" b="1" dirty="0">
                <a:solidFill>
                  <a:schemeClr val="dk1"/>
                </a:solidFill>
                <a:latin typeface="Arial" panose="020B0604020202020204" pitchFamily="34" charset="0"/>
                <a:ea typeface="Calibri"/>
                <a:cs typeface="Arial" panose="020B0604020202020204" pitchFamily="34" charset="0"/>
                <a:sym typeface="Calibri"/>
              </a:rPr>
              <a:t>Your mentor must approve the poster!  </a:t>
            </a:r>
            <a:endParaRPr dirty="0">
              <a:latin typeface="Arial" panose="020B0604020202020204" pitchFamily="34" charset="0"/>
              <a:cs typeface="Arial" panose="020B0604020202020204" pitchFamily="34" charset="0"/>
            </a:endParaRPr>
          </a:p>
          <a:p>
            <a:pPr marL="0" lvl="0" indent="0" algn="l" rtl="0">
              <a:lnSpc>
                <a:spcPct val="80000"/>
              </a:lnSpc>
              <a:spcBef>
                <a:spcPts val="210"/>
              </a:spcBef>
              <a:spcAft>
                <a:spcPts val="0"/>
              </a:spcAft>
              <a:buNone/>
            </a:pPr>
            <a:endParaRPr lang="en-US" sz="700" dirty="0">
              <a:solidFill>
                <a:schemeClr val="dk1"/>
              </a:solidFill>
              <a:latin typeface="Arial" panose="020B0604020202020204" pitchFamily="34" charset="0"/>
              <a:ea typeface="Calibri"/>
              <a:cs typeface="Arial" panose="020B0604020202020204" pitchFamily="34" charset="0"/>
              <a:sym typeface="Calibri"/>
            </a:endParaRPr>
          </a:p>
          <a:p>
            <a:pPr marL="0" lvl="0" indent="0" algn="l" rtl="0">
              <a:lnSpc>
                <a:spcPct val="80000"/>
              </a:lnSpc>
              <a:spcBef>
                <a:spcPts val="210"/>
              </a:spcBef>
              <a:spcAft>
                <a:spcPts val="0"/>
              </a:spcAft>
              <a:buNone/>
            </a:pPr>
            <a:r>
              <a:rPr lang="en-US" sz="700" b="1" dirty="0">
                <a:solidFill>
                  <a:schemeClr val="dk1"/>
                </a:solidFill>
                <a:latin typeface="Arial" panose="020B0604020202020204" pitchFamily="34" charset="0"/>
                <a:ea typeface="Calibri"/>
                <a:cs typeface="Arial" panose="020B0604020202020204" pitchFamily="34" charset="0"/>
                <a:sym typeface="Calibri"/>
              </a:rPr>
              <a:t>Remember to save the finished poster as a PDF under the file name:</a:t>
            </a:r>
            <a:endParaRPr b="1" dirty="0">
              <a:latin typeface="Arial" panose="020B0604020202020204" pitchFamily="34" charset="0"/>
              <a:cs typeface="Arial" panose="020B0604020202020204" pitchFamily="34" charset="0"/>
            </a:endParaRPr>
          </a:p>
          <a:p>
            <a:pPr marL="0" lvl="0" indent="0" algn="l" rtl="0">
              <a:lnSpc>
                <a:spcPct val="80000"/>
              </a:lnSpc>
              <a:spcBef>
                <a:spcPts val="210"/>
              </a:spcBef>
              <a:spcAft>
                <a:spcPts val="0"/>
              </a:spcAft>
              <a:buNone/>
            </a:pPr>
            <a:r>
              <a:rPr lang="en-US" sz="700" dirty="0">
                <a:solidFill>
                  <a:schemeClr val="dk1"/>
                </a:solidFill>
                <a:latin typeface="Arial" panose="020B0604020202020204" pitchFamily="34" charset="0"/>
                <a:ea typeface="Calibri"/>
                <a:cs typeface="Arial" panose="020B0604020202020204" pitchFamily="34" charset="0"/>
                <a:sym typeface="Calibri"/>
              </a:rPr>
              <a:t>MentorsLastName_YourFirstName_YourLastName_2026ASSIP_POSTER</a:t>
            </a:r>
            <a:endParaRPr dirty="0">
              <a:latin typeface="Arial" panose="020B0604020202020204" pitchFamily="34" charset="0"/>
              <a:cs typeface="Arial" panose="020B0604020202020204" pitchFamily="34" charset="0"/>
            </a:endParaRPr>
          </a:p>
          <a:p>
            <a:pPr marL="0" lvl="0" indent="0" algn="l" rtl="0">
              <a:lnSpc>
                <a:spcPct val="80000"/>
              </a:lnSpc>
              <a:spcBef>
                <a:spcPts val="210"/>
              </a:spcBef>
              <a:spcAft>
                <a:spcPts val="0"/>
              </a:spcAft>
              <a:buNone/>
            </a:pPr>
            <a:endParaRPr sz="700" dirty="0">
              <a:solidFill>
                <a:schemeClr val="dk1"/>
              </a:solidFill>
              <a:latin typeface="Arial" panose="020B0604020202020204" pitchFamily="34" charset="0"/>
              <a:ea typeface="Calibri"/>
              <a:cs typeface="Arial" panose="020B0604020202020204" pitchFamily="34" charset="0"/>
              <a:sym typeface="Calibri"/>
            </a:endParaRPr>
          </a:p>
          <a:p>
            <a:pPr marL="0" lvl="0" indent="0" algn="l" rtl="0">
              <a:lnSpc>
                <a:spcPct val="80000"/>
              </a:lnSpc>
              <a:spcBef>
                <a:spcPts val="210"/>
              </a:spcBef>
              <a:spcAft>
                <a:spcPts val="0"/>
              </a:spcAft>
              <a:buNone/>
            </a:pPr>
            <a:r>
              <a:rPr lang="en-US" sz="700" dirty="0">
                <a:solidFill>
                  <a:schemeClr val="dk1"/>
                </a:solidFill>
                <a:latin typeface="Arial" panose="020B0604020202020204" pitchFamily="34" charset="0"/>
                <a:ea typeface="Calibri"/>
                <a:cs typeface="Arial" panose="020B0604020202020204" pitchFamily="34" charset="0"/>
                <a:sym typeface="Calibri"/>
              </a:rPr>
              <a:t>Submit the PDF of the saved poster to Dr. Haymond Still no later than 5pm on Tuesday, August 4</a:t>
            </a:r>
            <a:r>
              <a:rPr lang="en-US" sz="700" baseline="30000" dirty="0">
                <a:solidFill>
                  <a:schemeClr val="dk1"/>
                </a:solidFill>
                <a:latin typeface="Arial" panose="020B0604020202020204" pitchFamily="34" charset="0"/>
                <a:ea typeface="Calibri"/>
                <a:cs typeface="Arial" panose="020B0604020202020204" pitchFamily="34" charset="0"/>
                <a:sym typeface="Calibri"/>
              </a:rPr>
              <a:t>th</a:t>
            </a:r>
            <a:r>
              <a:rPr lang="en-US" sz="700" dirty="0">
                <a:solidFill>
                  <a:schemeClr val="dk1"/>
                </a:solidFill>
                <a:latin typeface="Arial" panose="020B0604020202020204" pitchFamily="34" charset="0"/>
                <a:ea typeface="Calibri"/>
                <a:cs typeface="Arial" panose="020B0604020202020204" pitchFamily="34" charset="0"/>
                <a:sym typeface="Calibri"/>
              </a:rPr>
              <a:t> to our Canvas course site. </a:t>
            </a:r>
            <a:endParaRPr dirty="0">
              <a:latin typeface="Arial" panose="020B0604020202020204" pitchFamily="34" charset="0"/>
              <a:cs typeface="Arial" panose="020B0604020202020204" pitchFamily="34" charset="0"/>
            </a:endParaRPr>
          </a:p>
          <a:p>
            <a:pPr marL="0" lvl="0" indent="0" algn="l" rtl="0">
              <a:lnSpc>
                <a:spcPct val="80000"/>
              </a:lnSpc>
              <a:spcBef>
                <a:spcPts val="210"/>
              </a:spcBef>
              <a:spcAft>
                <a:spcPts val="0"/>
              </a:spcAft>
              <a:buNone/>
            </a:pPr>
            <a:r>
              <a:rPr lang="en-US" sz="700" dirty="0">
                <a:solidFill>
                  <a:schemeClr val="dk1"/>
                </a:solidFill>
                <a:latin typeface="Arial" panose="020B0604020202020204" pitchFamily="34" charset="0"/>
                <a:ea typeface="Calibri"/>
                <a:cs typeface="Arial" panose="020B0604020202020204" pitchFamily="34" charset="0"/>
                <a:sym typeface="Calibri"/>
              </a:rPr>
              <a:t>If you miss the deadline, I won’t have time to get your poster printed!! </a:t>
            </a:r>
            <a:endParaRPr dirty="0">
              <a:latin typeface="Arial" panose="020B0604020202020204" pitchFamily="34" charset="0"/>
              <a:cs typeface="Arial" panose="020B0604020202020204" pitchFamily="34" charset="0"/>
            </a:endParaRPr>
          </a:p>
        </p:txBody>
      </p:sp>
      <p:sp>
        <p:nvSpPr>
          <p:cNvPr id="87" name="Google Shape;87;p1:notes"/>
          <p:cNvSpPr txBox="1">
            <a:spLocks noGrp="1"/>
          </p:cNvSpPr>
          <p:nvPr>
            <p:ph type="sldNum" idx="12"/>
          </p:nvPr>
        </p:nvSpPr>
        <p:spPr>
          <a:xfrm>
            <a:off x="3971619" y="8772716"/>
            <a:ext cx="3037212" cy="461804"/>
          </a:xfrm>
          <a:prstGeom prst="rect">
            <a:avLst/>
          </a:prstGeom>
          <a:noFill/>
          <a:ln>
            <a:noFill/>
          </a:ln>
        </p:spPr>
        <p:txBody>
          <a:bodyPr spcFirstLastPara="1" wrap="square" lIns="90275" tIns="45125" rIns="90275" bIns="45125"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t>1</a:t>
            </a:fld>
            <a:endParaRPr sz="1200" b="0" i="0" u="none" strike="noStrike" cap="none">
              <a:solidFill>
                <a:schemeClr val="dk1"/>
              </a:solidFill>
              <a:latin typeface="Times New Roman"/>
              <a:ea typeface="Times New Roman"/>
              <a:cs typeface="Times New Roman"/>
              <a:sym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68880" y="4040507"/>
            <a:ext cx="27980640" cy="8595360"/>
          </a:xfrm>
        </p:spPr>
        <p:txBody>
          <a:bodyPr anchor="b"/>
          <a:lstStyle>
            <a:lvl1pPr algn="ctr">
              <a:defRPr sz="21600"/>
            </a:lvl1pPr>
          </a:lstStyle>
          <a:p>
            <a:r>
              <a:rPr lang="en-US"/>
              <a:t>Click to edit Master title style</a:t>
            </a:r>
            <a:endParaRPr lang="en-US" dirty="0"/>
          </a:p>
        </p:txBody>
      </p:sp>
      <p:sp>
        <p:nvSpPr>
          <p:cNvPr id="3" name="Subtitle 2"/>
          <p:cNvSpPr>
            <a:spLocks noGrp="1"/>
          </p:cNvSpPr>
          <p:nvPr>
            <p:ph type="subTitle" idx="1"/>
          </p:nvPr>
        </p:nvSpPr>
        <p:spPr>
          <a:xfrm>
            <a:off x="4114800" y="12967337"/>
            <a:ext cx="24688800" cy="5960743"/>
          </a:xfrm>
        </p:spPr>
        <p:txBody>
          <a:bodyPr/>
          <a:lstStyle>
            <a:lvl1pPr marL="0" indent="0" algn="ctr">
              <a:buNone/>
              <a:defRPr sz="8640"/>
            </a:lvl1pPr>
            <a:lvl2pPr marL="1645920" indent="0" algn="ctr">
              <a:buNone/>
              <a:defRPr sz="7200"/>
            </a:lvl2pPr>
            <a:lvl3pPr marL="3291840" indent="0" algn="ctr">
              <a:buNone/>
              <a:defRPr sz="6480"/>
            </a:lvl3pPr>
            <a:lvl4pPr marL="4937760" indent="0" algn="ctr">
              <a:buNone/>
              <a:defRPr sz="5760"/>
            </a:lvl4pPr>
            <a:lvl5pPr marL="6583680" indent="0" algn="ctr">
              <a:buNone/>
              <a:defRPr sz="5760"/>
            </a:lvl5pPr>
            <a:lvl6pPr marL="8229600" indent="0" algn="ctr">
              <a:buNone/>
              <a:defRPr sz="5760"/>
            </a:lvl6pPr>
            <a:lvl7pPr marL="9875520" indent="0" algn="ctr">
              <a:buNone/>
              <a:defRPr sz="5760"/>
            </a:lvl7pPr>
            <a:lvl8pPr marL="11521440" indent="0" algn="ctr">
              <a:buNone/>
              <a:defRPr sz="5760"/>
            </a:lvl8pPr>
            <a:lvl9pPr marL="13167360" indent="0" algn="ctr">
              <a:buNone/>
              <a:defRPr sz="576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6620268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16221925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245997" y="6155062"/>
            <a:ext cx="28392120" cy="10269853"/>
          </a:xfrm>
        </p:spPr>
        <p:txBody>
          <a:bodyPr anchor="b"/>
          <a:lstStyle>
            <a:lvl1pPr>
              <a:defRPr sz="21600"/>
            </a:lvl1pPr>
          </a:lstStyle>
          <a:p>
            <a:r>
              <a:rPr lang="en-US"/>
              <a:t>Click to edit Master title style</a:t>
            </a:r>
            <a:endParaRPr lang="en-US" dirty="0"/>
          </a:p>
        </p:txBody>
      </p:sp>
      <p:sp>
        <p:nvSpPr>
          <p:cNvPr id="3" name="Text Placeholder 2"/>
          <p:cNvSpPr>
            <a:spLocks noGrp="1"/>
          </p:cNvSpPr>
          <p:nvPr>
            <p:ph type="body" idx="1"/>
          </p:nvPr>
        </p:nvSpPr>
        <p:spPr>
          <a:xfrm>
            <a:off x="2245997" y="16522072"/>
            <a:ext cx="28392120" cy="5400673"/>
          </a:xfrm>
        </p:spPr>
        <p:txBody>
          <a:bodyPr/>
          <a:lstStyle>
            <a:lvl1pPr marL="0" indent="0">
              <a:buNone/>
              <a:defRPr sz="8640">
                <a:solidFill>
                  <a:schemeClr val="tx1"/>
                </a:solidFill>
              </a:defRPr>
            </a:lvl1pPr>
            <a:lvl2pPr marL="1645920" indent="0">
              <a:buNone/>
              <a:defRPr sz="7200">
                <a:solidFill>
                  <a:schemeClr val="tx1">
                    <a:tint val="75000"/>
                  </a:schemeClr>
                </a:solidFill>
              </a:defRPr>
            </a:lvl2pPr>
            <a:lvl3pPr marL="3291840" indent="0">
              <a:buNone/>
              <a:defRPr sz="6480">
                <a:solidFill>
                  <a:schemeClr val="tx1">
                    <a:tint val="75000"/>
                  </a:schemeClr>
                </a:solidFill>
              </a:defRPr>
            </a:lvl3pPr>
            <a:lvl4pPr marL="4937760" indent="0">
              <a:buNone/>
              <a:defRPr sz="5760">
                <a:solidFill>
                  <a:schemeClr val="tx1">
                    <a:tint val="75000"/>
                  </a:schemeClr>
                </a:solidFill>
              </a:defRPr>
            </a:lvl4pPr>
            <a:lvl5pPr marL="6583680" indent="0">
              <a:buNone/>
              <a:defRPr sz="5760">
                <a:solidFill>
                  <a:schemeClr val="tx1">
                    <a:tint val="75000"/>
                  </a:schemeClr>
                </a:solidFill>
              </a:defRPr>
            </a:lvl5pPr>
            <a:lvl6pPr marL="8229600" indent="0">
              <a:buNone/>
              <a:defRPr sz="5760">
                <a:solidFill>
                  <a:schemeClr val="tx1">
                    <a:tint val="75000"/>
                  </a:schemeClr>
                </a:solidFill>
              </a:defRPr>
            </a:lvl6pPr>
            <a:lvl7pPr marL="9875520" indent="0">
              <a:buNone/>
              <a:defRPr sz="5760">
                <a:solidFill>
                  <a:schemeClr val="tx1">
                    <a:tint val="75000"/>
                  </a:schemeClr>
                </a:solidFill>
              </a:defRPr>
            </a:lvl7pPr>
            <a:lvl8pPr marL="11521440" indent="0">
              <a:buNone/>
              <a:defRPr sz="5760">
                <a:solidFill>
                  <a:schemeClr val="tx1">
                    <a:tint val="75000"/>
                  </a:schemeClr>
                </a:solidFill>
              </a:defRPr>
            </a:lvl8pPr>
            <a:lvl9pPr marL="13167360" indent="0">
              <a:buNone/>
              <a:defRPr sz="5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2482988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263140" y="6572250"/>
            <a:ext cx="13990320" cy="156648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6664940" y="6572250"/>
            <a:ext cx="13990320" cy="156648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17761904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267428" y="1314455"/>
            <a:ext cx="28392120" cy="4772027"/>
          </a:xfrm>
        </p:spPr>
        <p:txBody>
          <a:bodyPr/>
          <a:lstStyle/>
          <a:p>
            <a:r>
              <a:rPr lang="en-US"/>
              <a:t>Click to edit Master title style</a:t>
            </a:r>
            <a:endParaRPr lang="en-US" dirty="0"/>
          </a:p>
        </p:txBody>
      </p:sp>
      <p:sp>
        <p:nvSpPr>
          <p:cNvPr id="3" name="Text Placeholder 2"/>
          <p:cNvSpPr>
            <a:spLocks noGrp="1"/>
          </p:cNvSpPr>
          <p:nvPr>
            <p:ph type="body" idx="1"/>
          </p:nvPr>
        </p:nvSpPr>
        <p:spPr>
          <a:xfrm>
            <a:off x="2267431" y="6052187"/>
            <a:ext cx="13926024" cy="2966083"/>
          </a:xfrm>
        </p:spPr>
        <p:txBody>
          <a:bodyPr anchor="b"/>
          <a:lstStyle>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a:pPr lvl="0"/>
            <a:r>
              <a:rPr lang="en-US"/>
              <a:t>Click to edit Master text styles</a:t>
            </a:r>
          </a:p>
        </p:txBody>
      </p:sp>
      <p:sp>
        <p:nvSpPr>
          <p:cNvPr id="4" name="Content Placeholder 3"/>
          <p:cNvSpPr>
            <a:spLocks noGrp="1"/>
          </p:cNvSpPr>
          <p:nvPr>
            <p:ph sz="half" idx="2"/>
          </p:nvPr>
        </p:nvSpPr>
        <p:spPr>
          <a:xfrm>
            <a:off x="2267431" y="9018270"/>
            <a:ext cx="13926024" cy="132645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6664942" y="6052187"/>
            <a:ext cx="13994608" cy="2966083"/>
          </a:xfrm>
        </p:spPr>
        <p:txBody>
          <a:bodyPr anchor="b"/>
          <a:lstStyle>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a:pPr lvl="0"/>
            <a:r>
              <a:rPr lang="en-US"/>
              <a:t>Click to edit Master text styles</a:t>
            </a:r>
          </a:p>
        </p:txBody>
      </p:sp>
      <p:sp>
        <p:nvSpPr>
          <p:cNvPr id="6" name="Content Placeholder 5"/>
          <p:cNvSpPr>
            <a:spLocks noGrp="1"/>
          </p:cNvSpPr>
          <p:nvPr>
            <p:ph sz="quarter" idx="4"/>
          </p:nvPr>
        </p:nvSpPr>
        <p:spPr>
          <a:xfrm>
            <a:off x="16664942" y="9018270"/>
            <a:ext cx="13994608" cy="132645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14416305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20672259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33057098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67428" y="1645920"/>
            <a:ext cx="10617041" cy="5760720"/>
          </a:xfrm>
        </p:spPr>
        <p:txBody>
          <a:bodyPr anchor="b"/>
          <a:lstStyle>
            <a:lvl1pPr>
              <a:defRPr sz="11520"/>
            </a:lvl1pPr>
          </a:lstStyle>
          <a:p>
            <a:r>
              <a:rPr lang="en-US"/>
              <a:t>Click to edit Master title style</a:t>
            </a:r>
            <a:endParaRPr lang="en-US" dirty="0"/>
          </a:p>
        </p:txBody>
      </p:sp>
      <p:sp>
        <p:nvSpPr>
          <p:cNvPr id="3" name="Content Placeholder 2"/>
          <p:cNvSpPr>
            <a:spLocks noGrp="1"/>
          </p:cNvSpPr>
          <p:nvPr>
            <p:ph idx="1"/>
          </p:nvPr>
        </p:nvSpPr>
        <p:spPr>
          <a:xfrm>
            <a:off x="13994608" y="3554735"/>
            <a:ext cx="16664940" cy="17545050"/>
          </a:xfrm>
        </p:spPr>
        <p:txBody>
          <a:bodyPr/>
          <a:lstStyle>
            <a:lvl1pPr>
              <a:defRPr sz="11520"/>
            </a:lvl1pPr>
            <a:lvl2pPr>
              <a:defRPr sz="10080"/>
            </a:lvl2pPr>
            <a:lvl3pPr>
              <a:defRPr sz="8640"/>
            </a:lvl3pPr>
            <a:lvl4pPr>
              <a:defRPr sz="7200"/>
            </a:lvl4pPr>
            <a:lvl5pPr>
              <a:defRPr sz="7200"/>
            </a:lvl5pPr>
            <a:lvl6pPr>
              <a:defRPr sz="7200"/>
            </a:lvl6pPr>
            <a:lvl7pPr>
              <a:defRPr sz="7200"/>
            </a:lvl7pPr>
            <a:lvl8pPr>
              <a:defRPr sz="7200"/>
            </a:lvl8pPr>
            <a:lvl9pPr>
              <a:defRPr sz="7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267428" y="7406640"/>
            <a:ext cx="10617041" cy="13721717"/>
          </a:xfrm>
        </p:spPr>
        <p:txBody>
          <a:bodyPr/>
          <a:lstStyle>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28765945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67428" y="1645920"/>
            <a:ext cx="10617041" cy="5760720"/>
          </a:xfrm>
        </p:spPr>
        <p:txBody>
          <a:bodyPr anchor="b"/>
          <a:lstStyle>
            <a:lvl1pPr>
              <a:defRPr sz="1152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994608" y="3554735"/>
            <a:ext cx="16664940" cy="17545050"/>
          </a:xfrm>
        </p:spPr>
        <p:txBody>
          <a:bodyPr anchor="t"/>
          <a:lstStyle>
            <a:lvl1pPr marL="0" indent="0">
              <a:buNone/>
              <a:defRPr sz="11520"/>
            </a:lvl1pPr>
            <a:lvl2pPr marL="1645920" indent="0">
              <a:buNone/>
              <a:defRPr sz="10080"/>
            </a:lvl2pPr>
            <a:lvl3pPr marL="3291840" indent="0">
              <a:buNone/>
              <a:defRPr sz="8640"/>
            </a:lvl3pPr>
            <a:lvl4pPr marL="4937760" indent="0">
              <a:buNone/>
              <a:defRPr sz="7200"/>
            </a:lvl4pPr>
            <a:lvl5pPr marL="6583680" indent="0">
              <a:buNone/>
              <a:defRPr sz="7200"/>
            </a:lvl5pPr>
            <a:lvl6pPr marL="8229600" indent="0">
              <a:buNone/>
              <a:defRPr sz="7200"/>
            </a:lvl6pPr>
            <a:lvl7pPr marL="9875520" indent="0">
              <a:buNone/>
              <a:defRPr sz="7200"/>
            </a:lvl7pPr>
            <a:lvl8pPr marL="11521440" indent="0">
              <a:buNone/>
              <a:defRPr sz="7200"/>
            </a:lvl8pPr>
            <a:lvl9pPr marL="13167360" indent="0">
              <a:buNone/>
              <a:defRPr sz="7200"/>
            </a:lvl9pPr>
          </a:lstStyle>
          <a:p>
            <a:r>
              <a:rPr lang="en-US"/>
              <a:t>Click icon to add picture</a:t>
            </a:r>
            <a:endParaRPr lang="en-US" dirty="0"/>
          </a:p>
        </p:txBody>
      </p:sp>
      <p:sp>
        <p:nvSpPr>
          <p:cNvPr id="4" name="Text Placeholder 3"/>
          <p:cNvSpPr>
            <a:spLocks noGrp="1"/>
          </p:cNvSpPr>
          <p:nvPr>
            <p:ph type="body" sz="half" idx="2"/>
          </p:nvPr>
        </p:nvSpPr>
        <p:spPr>
          <a:xfrm>
            <a:off x="2267428" y="7406640"/>
            <a:ext cx="10617041" cy="13721717"/>
          </a:xfrm>
        </p:spPr>
        <p:txBody>
          <a:bodyPr/>
          <a:lstStyle>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2126791679"/>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1676602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3557232" y="1314450"/>
            <a:ext cx="7098030" cy="2092261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63142" y="1314450"/>
            <a:ext cx="20882610" cy="209226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253153972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63140" y="1314455"/>
            <a:ext cx="28392120" cy="477202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63140" y="6572250"/>
            <a:ext cx="28392120" cy="1566481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263140" y="22882865"/>
            <a:ext cx="7406640" cy="1314450"/>
          </a:xfrm>
          <a:prstGeom prst="rect">
            <a:avLst/>
          </a:prstGeom>
        </p:spPr>
        <p:txBody>
          <a:bodyPr vert="horz" lIns="91440" tIns="45720" rIns="91440" bIns="45720" rtlCol="0" anchor="ctr"/>
          <a:lstStyle>
            <a:lvl1pPr algn="l">
              <a:defRPr sz="432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10904220" y="22882865"/>
            <a:ext cx="11109960" cy="1314450"/>
          </a:xfrm>
          <a:prstGeom prst="rect">
            <a:avLst/>
          </a:prstGeom>
        </p:spPr>
        <p:txBody>
          <a:bodyPr vert="horz" lIns="91440" tIns="45720" rIns="91440" bIns="45720" rtlCol="0" anchor="ctr"/>
          <a:lstStyle>
            <a:lvl1pPr algn="ctr">
              <a:defRPr sz="4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3248620" y="22882865"/>
            <a:ext cx="7406640" cy="1314450"/>
          </a:xfrm>
          <a:prstGeom prst="rect">
            <a:avLst/>
          </a:prstGeom>
        </p:spPr>
        <p:txBody>
          <a:bodyPr vert="horz" lIns="91440" tIns="45720" rIns="91440" bIns="45720" rtlCol="0" anchor="ctr"/>
          <a:lstStyle>
            <a:lvl1pPr algn="r">
              <a:defRPr sz="4320">
                <a:solidFill>
                  <a:schemeClr val="tx1">
                    <a:tint val="75000"/>
                  </a:schemeClr>
                </a:solidFill>
              </a:defRPr>
            </a:lvl1pPr>
          </a:lstStyle>
          <a:p>
            <a:fld id="{00000000-1234-1234-1234-123412341234}" type="slidenum">
              <a:rPr lang="en-US" smtClean="0"/>
              <a:pPr/>
              <a:t>‹#›</a:t>
            </a:fld>
            <a:endParaRPr lang="en-US"/>
          </a:p>
        </p:txBody>
      </p:sp>
    </p:spTree>
    <p:extLst>
      <p:ext uri="{BB962C8B-B14F-4D97-AF65-F5344CB8AC3E}">
        <p14:creationId xmlns:p14="http://schemas.microsoft.com/office/powerpoint/2010/main" val="2195114939"/>
      </p:ext>
    </p:extLst>
  </p:cSld>
  <p:clrMap bg1="lt1" tx1="dk1" bg2="lt2" tx2="dk2" accent1="accent1" accent2="accent2" accent3="accent3" accent4="accent4" accent5="accent5" accent6="accent6" hlink="hlink" folHlink="folHlink"/>
  <p:sldLayoutIdLst>
    <p:sldLayoutId id="2147483749" r:id="rId1"/>
    <p:sldLayoutId id="2147483750" r:id="rId2"/>
    <p:sldLayoutId id="2147483751" r:id="rId3"/>
    <p:sldLayoutId id="2147483752" r:id="rId4"/>
    <p:sldLayoutId id="2147483753" r:id="rId5"/>
    <p:sldLayoutId id="2147483754" r:id="rId6"/>
    <p:sldLayoutId id="2147483755" r:id="rId7"/>
    <p:sldLayoutId id="2147483756" r:id="rId8"/>
    <p:sldLayoutId id="2147483757" r:id="rId9"/>
    <p:sldLayoutId id="2147483758" r:id="rId10"/>
    <p:sldLayoutId id="2147483759" r:id="rId11"/>
  </p:sldLayoutIdLst>
  <p:hf sldNum="0" hdr="0" ftr="0" dt="0"/>
  <p:txStyles>
    <p:titleStyle>
      <a:lvl1pPr algn="l" defTabSz="3291840" rtl="0" eaLnBrk="1" latinLnBrk="0" hangingPunct="1">
        <a:lnSpc>
          <a:spcPct val="90000"/>
        </a:lnSpc>
        <a:spcBef>
          <a:spcPct val="0"/>
        </a:spcBef>
        <a:buNone/>
        <a:defRPr sz="15840" kern="1200">
          <a:solidFill>
            <a:schemeClr val="tx1"/>
          </a:solidFill>
          <a:latin typeface="+mj-lt"/>
          <a:ea typeface="+mj-ea"/>
          <a:cs typeface="+mj-cs"/>
        </a:defRPr>
      </a:lvl1pPr>
    </p:titleStyle>
    <p:bodyStyle>
      <a:lvl1pPr marL="822960" indent="-822960" algn="l" defTabSz="3291840" rtl="0" eaLnBrk="1" latinLnBrk="0" hangingPunct="1">
        <a:lnSpc>
          <a:spcPct val="90000"/>
        </a:lnSpc>
        <a:spcBef>
          <a:spcPts val="3600"/>
        </a:spcBef>
        <a:buFont typeface="Arial" panose="020B0604020202020204" pitchFamily="34" charset="0"/>
        <a:buChar char="•"/>
        <a:defRPr sz="10080" kern="1200">
          <a:solidFill>
            <a:schemeClr val="tx1"/>
          </a:solidFill>
          <a:latin typeface="+mn-lt"/>
          <a:ea typeface="+mn-ea"/>
          <a:cs typeface="+mn-cs"/>
        </a:defRPr>
      </a:lvl1pPr>
      <a:lvl2pPr marL="2468880" indent="-822960" algn="l" defTabSz="3291840" rtl="0" eaLnBrk="1" latinLnBrk="0" hangingPunct="1">
        <a:lnSpc>
          <a:spcPct val="90000"/>
        </a:lnSpc>
        <a:spcBef>
          <a:spcPts val="1800"/>
        </a:spcBef>
        <a:buFont typeface="Arial" panose="020B0604020202020204" pitchFamily="34" charset="0"/>
        <a:buChar char="•"/>
        <a:defRPr sz="8640" kern="1200">
          <a:solidFill>
            <a:schemeClr val="tx1"/>
          </a:solidFill>
          <a:latin typeface="+mn-lt"/>
          <a:ea typeface="+mn-ea"/>
          <a:cs typeface="+mn-cs"/>
        </a:defRPr>
      </a:lvl2pPr>
      <a:lvl3pPr marL="4114800" indent="-822960" algn="l" defTabSz="3291840" rtl="0" eaLnBrk="1" latinLnBrk="0" hangingPunct="1">
        <a:lnSpc>
          <a:spcPct val="90000"/>
        </a:lnSpc>
        <a:spcBef>
          <a:spcPts val="1800"/>
        </a:spcBef>
        <a:buFont typeface="Arial" panose="020B0604020202020204" pitchFamily="34" charset="0"/>
        <a:buChar char="•"/>
        <a:defRPr sz="7200" kern="1200">
          <a:solidFill>
            <a:schemeClr val="tx1"/>
          </a:solidFill>
          <a:latin typeface="+mn-lt"/>
          <a:ea typeface="+mn-ea"/>
          <a:cs typeface="+mn-cs"/>
        </a:defRPr>
      </a:lvl3pPr>
      <a:lvl4pPr marL="576072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4pPr>
      <a:lvl5pPr marL="740664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5pPr>
      <a:lvl6pPr marL="905256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6pPr>
      <a:lvl7pPr marL="1069848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7pPr>
      <a:lvl8pPr marL="1234440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8pPr>
      <a:lvl9pPr marL="1399032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9pPr>
    </p:bodyStyle>
    <p:otherStyle>
      <a:defPPr>
        <a:defRPr lang="en-US"/>
      </a:defPPr>
      <a:lvl1pPr marL="0" algn="l" defTabSz="3291840" rtl="0" eaLnBrk="1" latinLnBrk="0" hangingPunct="1">
        <a:defRPr sz="6480" kern="1200">
          <a:solidFill>
            <a:schemeClr val="tx1"/>
          </a:solidFill>
          <a:latin typeface="+mn-lt"/>
          <a:ea typeface="+mn-ea"/>
          <a:cs typeface="+mn-cs"/>
        </a:defRPr>
      </a:lvl1pPr>
      <a:lvl2pPr marL="1645920" algn="l" defTabSz="3291840" rtl="0" eaLnBrk="1" latinLnBrk="0" hangingPunct="1">
        <a:defRPr sz="6480" kern="1200">
          <a:solidFill>
            <a:schemeClr val="tx1"/>
          </a:solidFill>
          <a:latin typeface="+mn-lt"/>
          <a:ea typeface="+mn-ea"/>
          <a:cs typeface="+mn-cs"/>
        </a:defRPr>
      </a:lvl2pPr>
      <a:lvl3pPr marL="3291840" algn="l" defTabSz="3291840" rtl="0" eaLnBrk="1" latinLnBrk="0" hangingPunct="1">
        <a:defRPr sz="6480" kern="1200">
          <a:solidFill>
            <a:schemeClr val="tx1"/>
          </a:solidFill>
          <a:latin typeface="+mn-lt"/>
          <a:ea typeface="+mn-ea"/>
          <a:cs typeface="+mn-cs"/>
        </a:defRPr>
      </a:lvl3pPr>
      <a:lvl4pPr marL="4937760" algn="l" defTabSz="3291840" rtl="0" eaLnBrk="1" latinLnBrk="0" hangingPunct="1">
        <a:defRPr sz="6480" kern="1200">
          <a:solidFill>
            <a:schemeClr val="tx1"/>
          </a:solidFill>
          <a:latin typeface="+mn-lt"/>
          <a:ea typeface="+mn-ea"/>
          <a:cs typeface="+mn-cs"/>
        </a:defRPr>
      </a:lvl4pPr>
      <a:lvl5pPr marL="6583680" algn="l" defTabSz="3291840" rtl="0" eaLnBrk="1" latinLnBrk="0" hangingPunct="1">
        <a:defRPr sz="6480" kern="1200">
          <a:solidFill>
            <a:schemeClr val="tx1"/>
          </a:solidFill>
          <a:latin typeface="+mn-lt"/>
          <a:ea typeface="+mn-ea"/>
          <a:cs typeface="+mn-cs"/>
        </a:defRPr>
      </a:lvl5pPr>
      <a:lvl6pPr marL="8229600" algn="l" defTabSz="3291840" rtl="0" eaLnBrk="1" latinLnBrk="0" hangingPunct="1">
        <a:defRPr sz="6480" kern="1200">
          <a:solidFill>
            <a:schemeClr val="tx1"/>
          </a:solidFill>
          <a:latin typeface="+mn-lt"/>
          <a:ea typeface="+mn-ea"/>
          <a:cs typeface="+mn-cs"/>
        </a:defRPr>
      </a:lvl6pPr>
      <a:lvl7pPr marL="9875520" algn="l" defTabSz="3291840" rtl="0" eaLnBrk="1" latinLnBrk="0" hangingPunct="1">
        <a:defRPr sz="6480" kern="1200">
          <a:solidFill>
            <a:schemeClr val="tx1"/>
          </a:solidFill>
          <a:latin typeface="+mn-lt"/>
          <a:ea typeface="+mn-ea"/>
          <a:cs typeface="+mn-cs"/>
        </a:defRPr>
      </a:lvl7pPr>
      <a:lvl8pPr marL="11521440" algn="l" defTabSz="3291840" rtl="0" eaLnBrk="1" latinLnBrk="0" hangingPunct="1">
        <a:defRPr sz="6480" kern="1200">
          <a:solidFill>
            <a:schemeClr val="tx1"/>
          </a:solidFill>
          <a:latin typeface="+mn-lt"/>
          <a:ea typeface="+mn-ea"/>
          <a:cs typeface="+mn-cs"/>
        </a:defRPr>
      </a:lvl8pPr>
      <a:lvl9pPr marL="13167360" algn="l" defTabSz="3291840" rtl="0" eaLnBrk="1" latinLnBrk="0" hangingPunct="1">
        <a:defRPr sz="64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5E5E5"/>
        </a:solidFill>
        <a:effectLst/>
      </p:bgPr>
    </p:bg>
    <p:spTree>
      <p:nvGrpSpPr>
        <p:cNvPr id="1" name="Shape 88"/>
        <p:cNvGrpSpPr/>
        <p:nvPr/>
      </p:nvGrpSpPr>
      <p:grpSpPr>
        <a:xfrm>
          <a:off x="0" y="0"/>
          <a:ext cx="0" cy="0"/>
          <a:chOff x="0" y="0"/>
          <a:chExt cx="0" cy="0"/>
        </a:xfrm>
      </p:grpSpPr>
      <p:pic>
        <p:nvPicPr>
          <p:cNvPr id="105" name="Google Shape;105;p13"/>
          <p:cNvPicPr preferRelativeResize="0"/>
          <p:nvPr/>
        </p:nvPicPr>
        <p:blipFill rotWithShape="1">
          <a:blip r:embed="rId3">
            <a:alphaModFix/>
          </a:blip>
          <a:srcRect/>
          <a:stretch/>
        </p:blipFill>
        <p:spPr>
          <a:xfrm>
            <a:off x="16448774" y="10597775"/>
            <a:ext cx="232029" cy="14859"/>
          </a:xfrm>
          <a:prstGeom prst="rect">
            <a:avLst/>
          </a:prstGeom>
          <a:noFill/>
          <a:ln>
            <a:noFill/>
          </a:ln>
        </p:spPr>
      </p:pic>
      <p:sp>
        <p:nvSpPr>
          <p:cNvPr id="108" name="Google Shape;108;p13"/>
          <p:cNvSpPr txBox="1"/>
          <p:nvPr/>
        </p:nvSpPr>
        <p:spPr>
          <a:xfrm>
            <a:off x="11411573" y="13922756"/>
            <a:ext cx="115443" cy="290322"/>
          </a:xfrm>
          <a:prstGeom prst="rect">
            <a:avLst/>
          </a:prstGeom>
          <a:noFill/>
          <a:ln>
            <a:noFill/>
          </a:ln>
        </p:spPr>
        <p:txBody>
          <a:bodyPr spcFirstLastPara="1" wrap="square" lIns="57240" tIns="28620" rIns="57240" bIns="28620" anchor="t" anchorCtr="0">
            <a:noAutofit/>
          </a:bodyPr>
          <a:lstStyle/>
          <a:p>
            <a:pPr>
              <a:buClr>
                <a:schemeClr val="dk1"/>
              </a:buClr>
              <a:buSzPts val="2100"/>
            </a:pPr>
            <a:endParaRPr sz="1512">
              <a:solidFill>
                <a:schemeClr val="dk1"/>
              </a:solidFill>
              <a:latin typeface="Times New Roman"/>
              <a:ea typeface="Times New Roman"/>
              <a:cs typeface="Times New Roman"/>
              <a:sym typeface="Times New Roman"/>
            </a:endParaRPr>
          </a:p>
        </p:txBody>
      </p:sp>
      <p:sp>
        <p:nvSpPr>
          <p:cNvPr id="110" name="Google Shape;110;p13"/>
          <p:cNvSpPr txBox="1"/>
          <p:nvPr/>
        </p:nvSpPr>
        <p:spPr>
          <a:xfrm>
            <a:off x="17388319" y="14471396"/>
            <a:ext cx="115443" cy="290322"/>
          </a:xfrm>
          <a:prstGeom prst="rect">
            <a:avLst/>
          </a:prstGeom>
          <a:noFill/>
          <a:ln>
            <a:noFill/>
          </a:ln>
        </p:spPr>
        <p:txBody>
          <a:bodyPr spcFirstLastPara="1" wrap="square" lIns="57240" tIns="28620" rIns="57240" bIns="28620" anchor="t" anchorCtr="0">
            <a:noAutofit/>
          </a:bodyPr>
          <a:lstStyle/>
          <a:p>
            <a:pPr>
              <a:buClr>
                <a:schemeClr val="dk1"/>
              </a:buClr>
              <a:buSzPts val="2100"/>
            </a:pPr>
            <a:endParaRPr sz="1512">
              <a:solidFill>
                <a:schemeClr val="dk1"/>
              </a:solidFill>
              <a:latin typeface="Times New Roman"/>
              <a:ea typeface="Times New Roman"/>
              <a:cs typeface="Times New Roman"/>
              <a:sym typeface="Times New Roman"/>
            </a:endParaRPr>
          </a:p>
        </p:txBody>
      </p:sp>
      <p:sp>
        <p:nvSpPr>
          <p:cNvPr id="111" name="Google Shape;111;p13"/>
          <p:cNvSpPr txBox="1"/>
          <p:nvPr/>
        </p:nvSpPr>
        <p:spPr>
          <a:xfrm>
            <a:off x="21747721" y="5601716"/>
            <a:ext cx="115443" cy="290322"/>
          </a:xfrm>
          <a:prstGeom prst="rect">
            <a:avLst/>
          </a:prstGeom>
          <a:noFill/>
          <a:ln>
            <a:noFill/>
          </a:ln>
        </p:spPr>
        <p:txBody>
          <a:bodyPr spcFirstLastPara="1" wrap="square" lIns="57240" tIns="28620" rIns="57240" bIns="28620" anchor="t" anchorCtr="0">
            <a:noAutofit/>
          </a:bodyPr>
          <a:lstStyle/>
          <a:p>
            <a:pPr>
              <a:buClr>
                <a:schemeClr val="dk1"/>
              </a:buClr>
              <a:buSzPts val="2100"/>
            </a:pPr>
            <a:endParaRPr sz="1512">
              <a:solidFill>
                <a:schemeClr val="dk1"/>
              </a:solidFill>
              <a:latin typeface="Times New Roman"/>
              <a:ea typeface="Times New Roman"/>
              <a:cs typeface="Times New Roman"/>
              <a:sym typeface="Times New Roman"/>
            </a:endParaRPr>
          </a:p>
        </p:txBody>
      </p:sp>
      <p:sp>
        <p:nvSpPr>
          <p:cNvPr id="112" name="Google Shape;112;p13"/>
          <p:cNvSpPr txBox="1"/>
          <p:nvPr/>
        </p:nvSpPr>
        <p:spPr>
          <a:xfrm>
            <a:off x="21503119" y="5235956"/>
            <a:ext cx="115443" cy="290322"/>
          </a:xfrm>
          <a:prstGeom prst="rect">
            <a:avLst/>
          </a:prstGeom>
          <a:noFill/>
          <a:ln>
            <a:noFill/>
          </a:ln>
        </p:spPr>
        <p:txBody>
          <a:bodyPr spcFirstLastPara="1" wrap="square" lIns="57240" tIns="28620" rIns="57240" bIns="28620" anchor="t" anchorCtr="0">
            <a:noAutofit/>
          </a:bodyPr>
          <a:lstStyle/>
          <a:p>
            <a:pPr>
              <a:buClr>
                <a:schemeClr val="dk1"/>
              </a:buClr>
              <a:buSzPts val="2100"/>
            </a:pPr>
            <a:endParaRPr sz="1512">
              <a:solidFill>
                <a:schemeClr val="dk1"/>
              </a:solidFill>
              <a:latin typeface="Times New Roman"/>
              <a:ea typeface="Times New Roman"/>
              <a:cs typeface="Times New Roman"/>
              <a:sym typeface="Times New Roman"/>
            </a:endParaRPr>
          </a:p>
        </p:txBody>
      </p:sp>
      <p:sp>
        <p:nvSpPr>
          <p:cNvPr id="113" name="Google Shape;113;p13"/>
          <p:cNvSpPr txBox="1"/>
          <p:nvPr/>
        </p:nvSpPr>
        <p:spPr>
          <a:xfrm>
            <a:off x="21404821" y="5510276"/>
            <a:ext cx="115443" cy="290322"/>
          </a:xfrm>
          <a:prstGeom prst="rect">
            <a:avLst/>
          </a:prstGeom>
          <a:noFill/>
          <a:ln>
            <a:noFill/>
          </a:ln>
        </p:spPr>
        <p:txBody>
          <a:bodyPr spcFirstLastPara="1" wrap="square" lIns="57240" tIns="28620" rIns="57240" bIns="28620" anchor="t" anchorCtr="0">
            <a:noAutofit/>
          </a:bodyPr>
          <a:lstStyle/>
          <a:p>
            <a:pPr>
              <a:buClr>
                <a:schemeClr val="dk1"/>
              </a:buClr>
              <a:buSzPts val="2100"/>
            </a:pPr>
            <a:endParaRPr sz="1512">
              <a:solidFill>
                <a:schemeClr val="dk1"/>
              </a:solidFill>
              <a:latin typeface="Times New Roman"/>
              <a:ea typeface="Times New Roman"/>
              <a:cs typeface="Times New Roman"/>
              <a:sym typeface="Times New Roman"/>
            </a:endParaRPr>
          </a:p>
        </p:txBody>
      </p:sp>
      <p:sp>
        <p:nvSpPr>
          <p:cNvPr id="131" name="Google Shape;131;p13"/>
          <p:cNvSpPr txBox="1"/>
          <p:nvPr/>
        </p:nvSpPr>
        <p:spPr>
          <a:xfrm>
            <a:off x="376700" y="5251774"/>
            <a:ext cx="10282778" cy="4371466"/>
          </a:xfrm>
          <a:prstGeom prst="rect">
            <a:avLst/>
          </a:prstGeom>
          <a:solidFill>
            <a:schemeClr val="bg1"/>
          </a:solidFill>
          <a:ln>
            <a:noFill/>
          </a:ln>
        </p:spPr>
        <p:txBody>
          <a:bodyPr spcFirstLastPara="1" wrap="square" anchor="t" anchorCtr="0"/>
          <a:lstStyle/>
          <a:p>
            <a:pPr algn="l" marL="346710" indent="-346710">
              <a:lnSpc>
                <a:spcPct val="95000"/>
              </a:lnSpc>
              <a:spcAft>
                <a:spcPts val="1000"/>
              </a:spcAft>
              <a:buClr>
                <a:schemeClr val="dk1"/>
              </a:buClr>
              <a:buSzPts val="1100"/>
            </a:pPr>
            <a:r>
              <a:rPr sz="2600" b="0">
                <a:solidFill>
                  <a:srgbClr val="000000"/>
                </a:solidFill>
                <a:latin typeface="Arial"/>
              </a:rPr>
              <a:t>•  AI and cloud demand has concentrated US computing into a few dozen metro clusters that face earthquakes, wildfire and flooding.</a:t>
            </a:r>
            <a:endParaRPr sz="2600" dirty="0">
              <a:latin typeface="Palatino"/>
              <a:ea typeface="Palatino"/>
              <a:cs typeface="Palatino"/>
              <a:sym typeface="Palatino"/>
            </a:endParaRPr>
          </a:p>
          <a:p>
            <a:pPr algn="l" marL="346710" indent="-346710">
              <a:lnSpc>
                <a:spcPct val="95000"/>
              </a:lnSpc>
              <a:spcAft>
                <a:spcPts val="1000"/>
              </a:spcAft>
            </a:pPr>
            <a:r>
              <a:rPr sz="2600" b="0">
                <a:solidFill>
                  <a:srgbClr val="000000"/>
                </a:solidFill>
                <a:latin typeface="Arial"/>
              </a:rPr>
              <a:t>•  Existing sources are proprietary, or give city-level coordinates never checked against a building.</a:t>
            </a:r>
          </a:p>
          <a:p>
            <a:pPr algn="l" marL="346710" indent="-346710">
              <a:lnSpc>
                <a:spcPct val="95000"/>
              </a:lnSpc>
              <a:spcAft>
                <a:spcPts val="1000"/>
              </a:spcAft>
            </a:pPr>
            <a:r>
              <a:rPr sz="2600" b="0">
                <a:solidFill>
                  <a:srgbClr val="000000"/>
                </a:solidFill>
                <a:latin typeface="Arial"/>
              </a:rPr>
              <a:t>•  We built a free, public, building-level inventory of the contiguous US, and tested how much the answer moves when a coordinate is wrong.</a:t>
            </a:r>
          </a:p>
          <a:p>
            <a:pPr algn="l" marL="346710" indent="-346710">
              <a:lnSpc>
                <a:spcPct val="95000"/>
              </a:lnSpc>
              <a:spcAft>
                <a:spcPts val="1000"/>
              </a:spcAft>
            </a:pPr>
            <a:r>
              <a:rPr sz="2600" b="0">
                <a:solidFill>
                  <a:srgbClr val="000000"/>
                </a:solidFill>
                <a:latin typeface="Arial"/>
              </a:rPr>
              <a:t>•  We measured exposure, meaning whether a site lies in a hazard zone. We did not model damage, so nothing here is a loss estimate.</a:t>
            </a:r>
          </a:p>
        </p:txBody>
      </p:sp>
      <p:sp>
        <p:nvSpPr>
          <p:cNvPr id="106" name="Google Shape;106;p13"/>
          <p:cNvSpPr txBox="1"/>
          <p:nvPr/>
        </p:nvSpPr>
        <p:spPr>
          <a:xfrm>
            <a:off x="27127967" y="2631186"/>
            <a:ext cx="115443" cy="290322"/>
          </a:xfrm>
          <a:prstGeom prst="rect">
            <a:avLst/>
          </a:prstGeom>
          <a:noFill/>
          <a:ln>
            <a:noFill/>
          </a:ln>
        </p:spPr>
        <p:txBody>
          <a:bodyPr spcFirstLastPara="1" wrap="square" lIns="57240" tIns="28620" rIns="57240" bIns="28620" anchor="t" anchorCtr="0">
            <a:noAutofit/>
          </a:bodyPr>
          <a:lstStyle/>
          <a:p>
            <a:pPr>
              <a:buClr>
                <a:schemeClr val="dk1"/>
              </a:buClr>
              <a:buSzPts val="2100"/>
            </a:pPr>
            <a:endParaRPr sz="1512">
              <a:solidFill>
                <a:schemeClr val="dk1"/>
              </a:solidFill>
              <a:latin typeface="Times New Roman"/>
              <a:ea typeface="Times New Roman"/>
              <a:cs typeface="Times New Roman"/>
              <a:sym typeface="Times New Roman"/>
            </a:endParaRPr>
          </a:p>
        </p:txBody>
      </p:sp>
      <p:sp>
        <p:nvSpPr>
          <p:cNvPr id="107" name="Google Shape;107;p13"/>
          <p:cNvSpPr txBox="1"/>
          <p:nvPr/>
        </p:nvSpPr>
        <p:spPr>
          <a:xfrm>
            <a:off x="10774921" y="14014196"/>
            <a:ext cx="115443" cy="290322"/>
          </a:xfrm>
          <a:prstGeom prst="rect">
            <a:avLst/>
          </a:prstGeom>
          <a:noFill/>
          <a:ln>
            <a:noFill/>
          </a:ln>
        </p:spPr>
        <p:txBody>
          <a:bodyPr spcFirstLastPara="1" wrap="square" lIns="57240" tIns="28620" rIns="57240" bIns="28620" anchor="t" anchorCtr="0">
            <a:noAutofit/>
          </a:bodyPr>
          <a:lstStyle/>
          <a:p>
            <a:pPr>
              <a:buClr>
                <a:schemeClr val="dk1"/>
              </a:buClr>
              <a:buSzPts val="2100"/>
            </a:pPr>
            <a:endParaRPr sz="1512">
              <a:solidFill>
                <a:schemeClr val="dk1"/>
              </a:solidFill>
              <a:latin typeface="Times New Roman"/>
              <a:ea typeface="Times New Roman"/>
              <a:cs typeface="Times New Roman"/>
              <a:sym typeface="Times New Roman"/>
            </a:endParaRPr>
          </a:p>
        </p:txBody>
      </p:sp>
      <p:sp>
        <p:nvSpPr>
          <p:cNvPr id="109" name="Google Shape;109;p13"/>
          <p:cNvSpPr txBox="1"/>
          <p:nvPr/>
        </p:nvSpPr>
        <p:spPr>
          <a:xfrm>
            <a:off x="11265269" y="13968476"/>
            <a:ext cx="115443" cy="290322"/>
          </a:xfrm>
          <a:prstGeom prst="rect">
            <a:avLst/>
          </a:prstGeom>
          <a:noFill/>
          <a:ln>
            <a:noFill/>
          </a:ln>
        </p:spPr>
        <p:txBody>
          <a:bodyPr spcFirstLastPara="1" wrap="square" lIns="57240" tIns="28620" rIns="57240" bIns="28620" anchor="t" anchorCtr="0">
            <a:noAutofit/>
          </a:bodyPr>
          <a:lstStyle/>
          <a:p>
            <a:pPr>
              <a:buClr>
                <a:schemeClr val="dk1"/>
              </a:buClr>
              <a:buSzPts val="2100"/>
            </a:pPr>
            <a:endParaRPr sz="1512">
              <a:solidFill>
                <a:schemeClr val="dk1"/>
              </a:solidFill>
              <a:latin typeface="Times New Roman"/>
              <a:ea typeface="Times New Roman"/>
              <a:cs typeface="Times New Roman"/>
              <a:sym typeface="Times New Roman"/>
            </a:endParaRPr>
          </a:p>
        </p:txBody>
      </p:sp>
      <p:sp>
        <p:nvSpPr>
          <p:cNvPr id="114" name="Google Shape;114;p13"/>
          <p:cNvSpPr txBox="1"/>
          <p:nvPr/>
        </p:nvSpPr>
        <p:spPr>
          <a:xfrm>
            <a:off x="3826040" y="2264134"/>
            <a:ext cx="25266317" cy="1192930"/>
          </a:xfrm>
          <a:prstGeom prst="rect">
            <a:avLst/>
          </a:prstGeom>
          <a:solidFill>
            <a:schemeClr val="lt1"/>
          </a:solidFill>
          <a:ln>
            <a:noFill/>
          </a:ln>
        </p:spPr>
        <p:txBody>
          <a:bodyPr spcFirstLastPara="1" wrap="square" anchor="t" anchorCtr="0"/>
          <a:lstStyle/>
          <a:p>
            <a:pPr algn="ctr">
              <a:lnSpc>
                <a:spcPct val="95000"/>
              </a:lnSpc>
              <a:spcAft>
                <a:spcPts val="1000"/>
              </a:spcAft>
            </a:pPr>
            <a:r>
              <a:rPr sz="3800" b="1">
                <a:solidFill>
                  <a:srgbClr val="000000"/>
                </a:solidFill>
                <a:latin typeface="Arial"/>
              </a:rPr>
              <a:t>Avilash Angirekula¹, Dennies Bor¹, Alice Fox¹, Edward J. Oughton¹</a:t>
            </a:r>
            <a:endParaRPr sz="3600" baseline="30000" dirty="0">
              <a:solidFill>
                <a:schemeClr val="dk1"/>
              </a:solidFill>
              <a:latin typeface="Arial" panose="020B0604020202020204" pitchFamily="34" charset="0"/>
              <a:ea typeface="Helvetica Neue"/>
              <a:cs typeface="Arial" panose="020B0604020202020204" pitchFamily="34" charset="0"/>
              <a:sym typeface="Helvetica Neue"/>
            </a:endParaRPr>
          </a:p>
        </p:txBody>
      </p:sp>
      <p:sp>
        <p:nvSpPr>
          <p:cNvPr id="119" name="Google Shape;119;p13"/>
          <p:cNvSpPr txBox="1"/>
          <p:nvPr/>
        </p:nvSpPr>
        <p:spPr>
          <a:xfrm>
            <a:off x="29357053" y="435681"/>
            <a:ext cx="3130666" cy="3656905"/>
          </a:xfrm>
          <a:prstGeom prst="rect">
            <a:avLst/>
          </a:prstGeom>
          <a:solidFill>
            <a:srgbClr val="FFCC00">
              <a:alpha val="84314"/>
            </a:srgbClr>
          </a:solidFill>
          <a:ln w="76200" cap="flat" cmpd="thickThin">
            <a:solidFill>
              <a:schemeClr val="lt1"/>
            </a:solidFill>
            <a:prstDash val="solid"/>
            <a:round/>
            <a:headEnd type="none" w="sm" len="sm"/>
            <a:tailEnd type="none" w="sm" len="sm"/>
          </a:ln>
        </p:spPr>
        <p:txBody>
          <a:bodyPr spcFirstLastPara="1" wrap="square" lIns="65826" tIns="32904" rIns="65826" bIns="32904" anchor="ctr" anchorCtr="0">
            <a:noAutofit/>
          </a:bodyPr>
          <a:lstStyle/>
          <a:p>
            <a:pPr algn="ctr"/>
            <a:r>
              <a:rPr lang="en-US" sz="3240" b="1" dirty="0">
                <a:solidFill>
                  <a:srgbClr val="006600"/>
                </a:solidFill>
                <a:latin typeface="Arial" panose="020B0604020202020204" pitchFamily="34" charset="0"/>
                <a:cs typeface="Arial" panose="020B0604020202020204" pitchFamily="34" charset="0"/>
              </a:rPr>
              <a:t>Aspiring Scientists Summer Internship Program </a:t>
            </a:r>
          </a:p>
          <a:p>
            <a:pPr algn="ctr"/>
            <a:r>
              <a:rPr lang="en-US" sz="3240" b="1" dirty="0">
                <a:solidFill>
                  <a:srgbClr val="006600"/>
                </a:solidFill>
                <a:latin typeface="Arial" panose="020B0604020202020204" pitchFamily="34" charset="0"/>
                <a:cs typeface="Arial" panose="020B0604020202020204" pitchFamily="34" charset="0"/>
              </a:rPr>
              <a:t>2026</a:t>
            </a:r>
            <a:endParaRPr sz="3240" b="1" dirty="0">
              <a:solidFill>
                <a:srgbClr val="006600"/>
              </a:solidFill>
              <a:latin typeface="Arial" panose="020B0604020202020204" pitchFamily="34" charset="0"/>
              <a:cs typeface="Arial" panose="020B0604020202020204" pitchFamily="34" charset="0"/>
            </a:endParaRPr>
          </a:p>
        </p:txBody>
      </p:sp>
      <p:sp>
        <p:nvSpPr>
          <p:cNvPr id="73" name="Google Shape;113;p13">
            <a:extLst>
              <a:ext uri="{FF2B5EF4-FFF2-40B4-BE49-F238E27FC236}">
                <a16:creationId xmlns:a16="http://schemas.microsoft.com/office/drawing/2014/main" id="{B7028C15-A27E-415D-88A6-B08B48F45D43}"/>
              </a:ext>
            </a:extLst>
          </p:cNvPr>
          <p:cNvSpPr txBox="1"/>
          <p:nvPr/>
        </p:nvSpPr>
        <p:spPr>
          <a:xfrm>
            <a:off x="3826040" y="3431258"/>
            <a:ext cx="25266317" cy="703207"/>
          </a:xfrm>
          <a:prstGeom prst="rect">
            <a:avLst/>
          </a:prstGeom>
          <a:solidFill>
            <a:schemeClr val="lt1"/>
          </a:solidFill>
          <a:ln>
            <a:noFill/>
          </a:ln>
        </p:spPr>
        <p:txBody>
          <a:bodyPr spcFirstLastPara="1" wrap="square" anchor="t" anchorCtr="0"/>
          <a:lstStyle/>
          <a:p>
            <a:pPr algn="ctr">
              <a:lnSpc>
                <a:spcPct val="95000"/>
              </a:lnSpc>
              <a:spcAft>
                <a:spcPts val="1000"/>
              </a:spcAft>
            </a:pPr>
            <a:r>
              <a:rPr sz="2600" b="0">
                <a:solidFill>
                  <a:srgbClr val="333333"/>
                </a:solidFill>
                <a:latin typeface="Arial"/>
              </a:rPr>
              <a:t>¹Department of Geography and Geoinformation Sciences, College of Science, George Mason University</a:t>
            </a:r>
            <a:endParaRPr sz="2880" dirty="0">
              <a:solidFill>
                <a:schemeClr val="dk1"/>
              </a:solidFill>
              <a:latin typeface="Arial" panose="020B0604020202020204" pitchFamily="34" charset="0"/>
              <a:ea typeface="Times New Roman"/>
              <a:cs typeface="Arial" panose="020B0604020202020204" pitchFamily="34" charset="0"/>
              <a:sym typeface="Times New Roman"/>
            </a:endParaRPr>
          </a:p>
        </p:txBody>
      </p:sp>
      <p:sp>
        <p:nvSpPr>
          <p:cNvPr id="3" name="Rectangle 2">
            <a:extLst>
              <a:ext uri="{FF2B5EF4-FFF2-40B4-BE49-F238E27FC236}">
                <a16:creationId xmlns:a16="http://schemas.microsoft.com/office/drawing/2014/main" id="{5414C21D-6153-426C-A648-2F7D91B0A3F2}"/>
              </a:ext>
            </a:extLst>
          </p:cNvPr>
          <p:cNvSpPr/>
          <p:nvPr/>
        </p:nvSpPr>
        <p:spPr>
          <a:xfrm>
            <a:off x="430679" y="4389682"/>
            <a:ext cx="10228799" cy="842214"/>
          </a:xfrm>
          <a:prstGeom prst="rect">
            <a:avLst/>
          </a:prstGeom>
          <a:solidFill>
            <a:srgbClr val="006600"/>
          </a:solidFill>
        </p:spPr>
        <p:style>
          <a:lnRef idx="1">
            <a:schemeClr val="accent5"/>
          </a:lnRef>
          <a:fillRef idx="3">
            <a:schemeClr val="accent5"/>
          </a:fillRef>
          <a:effectRef idx="2">
            <a:schemeClr val="accent5"/>
          </a:effectRef>
          <a:fontRef idx="minor">
            <a:schemeClr val="lt1"/>
          </a:fontRef>
        </p:style>
        <p:txBody>
          <a:bodyPr rtlCol="0" anchor="ctr"/>
          <a:lstStyle/>
          <a:p>
            <a:pPr algn="ctr"/>
            <a:r>
              <a:rPr lang="en-US" sz="3600" b="1" dirty="0">
                <a:latin typeface="Arial" panose="020B0604020202020204" pitchFamily="34" charset="0"/>
                <a:cs typeface="Arial" panose="020B0604020202020204" pitchFamily="34" charset="0"/>
              </a:rPr>
              <a:t>Background</a:t>
            </a:r>
          </a:p>
        </p:txBody>
      </p:sp>
      <p:sp>
        <p:nvSpPr>
          <p:cNvPr id="6" name="Rectangle 5">
            <a:extLst>
              <a:ext uri="{FF2B5EF4-FFF2-40B4-BE49-F238E27FC236}">
                <a16:creationId xmlns:a16="http://schemas.microsoft.com/office/drawing/2014/main" id="{8BB275A5-62F7-1742-4380-8AB1A17FAF66}"/>
              </a:ext>
            </a:extLst>
          </p:cNvPr>
          <p:cNvSpPr/>
          <p:nvPr/>
        </p:nvSpPr>
        <p:spPr>
          <a:xfrm>
            <a:off x="10965973" y="4386008"/>
            <a:ext cx="10781748" cy="857529"/>
          </a:xfrm>
          <a:prstGeom prst="rect">
            <a:avLst/>
          </a:prstGeom>
          <a:solidFill>
            <a:srgbClr val="006600"/>
          </a:solidFill>
        </p:spPr>
        <p:style>
          <a:lnRef idx="1">
            <a:schemeClr val="accent5"/>
          </a:lnRef>
          <a:fillRef idx="3">
            <a:schemeClr val="accent5"/>
          </a:fillRef>
          <a:effectRef idx="2">
            <a:schemeClr val="accent5"/>
          </a:effectRef>
          <a:fontRef idx="minor">
            <a:schemeClr val="lt1"/>
          </a:fontRef>
        </p:style>
        <p:txBody>
          <a:bodyPr rtlCol="0" anchor="ctr"/>
          <a:lstStyle/>
          <a:p>
            <a:pPr algn="ctr"/>
            <a:r>
              <a:rPr lang="en-US" sz="3600" b="1" dirty="0">
                <a:latin typeface="Arial" panose="020B0604020202020204" pitchFamily="34" charset="0"/>
                <a:cs typeface="Arial" panose="020B0604020202020204" pitchFamily="34" charset="0"/>
              </a:rPr>
              <a:t>Results</a:t>
            </a:r>
          </a:p>
        </p:txBody>
      </p:sp>
      <p:sp>
        <p:nvSpPr>
          <p:cNvPr id="7" name="Rectangle 6">
            <a:extLst>
              <a:ext uri="{FF2B5EF4-FFF2-40B4-BE49-F238E27FC236}">
                <a16:creationId xmlns:a16="http://schemas.microsoft.com/office/drawing/2014/main" id="{822515BF-9734-0282-2B15-A32512AD598B}"/>
              </a:ext>
            </a:extLst>
          </p:cNvPr>
          <p:cNvSpPr/>
          <p:nvPr/>
        </p:nvSpPr>
        <p:spPr>
          <a:xfrm>
            <a:off x="22090619" y="4386009"/>
            <a:ext cx="10397100" cy="809607"/>
          </a:xfrm>
          <a:prstGeom prst="rect">
            <a:avLst/>
          </a:prstGeom>
          <a:solidFill>
            <a:srgbClr val="006600"/>
          </a:solidFill>
        </p:spPr>
        <p:style>
          <a:lnRef idx="1">
            <a:schemeClr val="accent5"/>
          </a:lnRef>
          <a:fillRef idx="3">
            <a:schemeClr val="accent5"/>
          </a:fillRef>
          <a:effectRef idx="2">
            <a:schemeClr val="accent5"/>
          </a:effectRef>
          <a:fontRef idx="minor">
            <a:schemeClr val="lt1"/>
          </a:fontRef>
        </p:style>
        <p:txBody>
          <a:bodyPr rtlCol="0" anchor="ctr"/>
          <a:lstStyle/>
          <a:p>
            <a:pPr algn="ctr"/>
            <a:r>
              <a:rPr lang="en-US" sz="3600" b="1" dirty="0">
                <a:latin typeface="Arial" panose="020B0604020202020204" pitchFamily="34" charset="0"/>
                <a:cs typeface="Arial" panose="020B0604020202020204" pitchFamily="34" charset="0"/>
              </a:rPr>
              <a:t>Conclusions</a:t>
            </a:r>
          </a:p>
        </p:txBody>
      </p:sp>
      <p:sp>
        <p:nvSpPr>
          <p:cNvPr id="8" name="Rectangle 7">
            <a:extLst>
              <a:ext uri="{FF2B5EF4-FFF2-40B4-BE49-F238E27FC236}">
                <a16:creationId xmlns:a16="http://schemas.microsoft.com/office/drawing/2014/main" id="{D4731E14-0938-740A-787A-D2B6693BCB6C}"/>
              </a:ext>
            </a:extLst>
          </p:cNvPr>
          <p:cNvSpPr/>
          <p:nvPr/>
        </p:nvSpPr>
        <p:spPr>
          <a:xfrm>
            <a:off x="430679" y="14378013"/>
            <a:ext cx="10228799" cy="827489"/>
          </a:xfrm>
          <a:prstGeom prst="rect">
            <a:avLst/>
          </a:prstGeom>
          <a:solidFill>
            <a:srgbClr val="006600"/>
          </a:solidFill>
        </p:spPr>
        <p:style>
          <a:lnRef idx="1">
            <a:schemeClr val="accent5"/>
          </a:lnRef>
          <a:fillRef idx="3">
            <a:schemeClr val="accent5"/>
          </a:fillRef>
          <a:effectRef idx="2">
            <a:schemeClr val="accent5"/>
          </a:effectRef>
          <a:fontRef idx="minor">
            <a:schemeClr val="lt1"/>
          </a:fontRef>
        </p:style>
        <p:txBody>
          <a:bodyPr rtlCol="0" anchor="ctr"/>
          <a:lstStyle/>
          <a:p>
            <a:pPr algn="ctr"/>
            <a:r>
              <a:rPr lang="en-US" sz="3600" b="1" dirty="0">
                <a:latin typeface="Arial" panose="020B0604020202020204" pitchFamily="34" charset="0"/>
                <a:cs typeface="Arial" panose="020B0604020202020204" pitchFamily="34" charset="0"/>
              </a:rPr>
              <a:t>Materials and Methods</a:t>
            </a:r>
          </a:p>
        </p:txBody>
      </p:sp>
      <p:sp>
        <p:nvSpPr>
          <p:cNvPr id="9" name="Rectangle 8">
            <a:extLst>
              <a:ext uri="{FF2B5EF4-FFF2-40B4-BE49-F238E27FC236}">
                <a16:creationId xmlns:a16="http://schemas.microsoft.com/office/drawing/2014/main" id="{2AEA7A76-8036-99F5-636B-AB0CDCB6D5FE}"/>
              </a:ext>
            </a:extLst>
          </p:cNvPr>
          <p:cNvSpPr/>
          <p:nvPr/>
        </p:nvSpPr>
        <p:spPr>
          <a:xfrm>
            <a:off x="22090621" y="15371883"/>
            <a:ext cx="10451076" cy="842214"/>
          </a:xfrm>
          <a:prstGeom prst="rect">
            <a:avLst/>
          </a:prstGeom>
          <a:solidFill>
            <a:srgbClr val="006600"/>
          </a:solidFill>
        </p:spPr>
        <p:style>
          <a:lnRef idx="1">
            <a:schemeClr val="accent5"/>
          </a:lnRef>
          <a:fillRef idx="3">
            <a:schemeClr val="accent5"/>
          </a:fillRef>
          <a:effectRef idx="2">
            <a:schemeClr val="accent5"/>
          </a:effectRef>
          <a:fontRef idx="minor">
            <a:schemeClr val="lt1"/>
          </a:fontRef>
        </p:style>
        <p:txBody>
          <a:bodyPr rtlCol="0" anchor="ctr"/>
          <a:lstStyle/>
          <a:p>
            <a:pPr algn="ctr"/>
            <a:r>
              <a:rPr lang="en-US" sz="3600" b="1" dirty="0">
                <a:latin typeface="Arial" panose="020B0604020202020204" pitchFamily="34" charset="0"/>
                <a:cs typeface="Arial" panose="020B0604020202020204" pitchFamily="34" charset="0"/>
              </a:rPr>
              <a:t>Major Citations</a:t>
            </a:r>
          </a:p>
        </p:txBody>
      </p:sp>
      <p:sp>
        <p:nvSpPr>
          <p:cNvPr id="10" name="Rectangle 9">
            <a:extLst>
              <a:ext uri="{FF2B5EF4-FFF2-40B4-BE49-F238E27FC236}">
                <a16:creationId xmlns:a16="http://schemas.microsoft.com/office/drawing/2014/main" id="{51247692-30D3-AF09-61BE-4D4CC0F1B37F}"/>
              </a:ext>
            </a:extLst>
          </p:cNvPr>
          <p:cNvSpPr/>
          <p:nvPr/>
        </p:nvSpPr>
        <p:spPr>
          <a:xfrm>
            <a:off x="22061034" y="20737925"/>
            <a:ext cx="10480664" cy="842214"/>
          </a:xfrm>
          <a:prstGeom prst="rect">
            <a:avLst/>
          </a:prstGeom>
          <a:solidFill>
            <a:srgbClr val="006600"/>
          </a:solidFill>
        </p:spPr>
        <p:style>
          <a:lnRef idx="1">
            <a:schemeClr val="accent5"/>
          </a:lnRef>
          <a:fillRef idx="3">
            <a:schemeClr val="accent5"/>
          </a:fillRef>
          <a:effectRef idx="2">
            <a:schemeClr val="accent5"/>
          </a:effectRef>
          <a:fontRef idx="minor">
            <a:schemeClr val="lt1"/>
          </a:fontRef>
        </p:style>
        <p:txBody>
          <a:bodyPr rtlCol="0" anchor="ctr"/>
          <a:lstStyle/>
          <a:p>
            <a:pPr algn="ctr"/>
            <a:r>
              <a:rPr lang="en-US" sz="3600" b="1" dirty="0">
                <a:latin typeface="Arial" panose="020B0604020202020204" pitchFamily="34" charset="0"/>
                <a:cs typeface="Arial" panose="020B0604020202020204" pitchFamily="34" charset="0"/>
              </a:rPr>
              <a:t>Acknowledgements</a:t>
            </a:r>
          </a:p>
        </p:txBody>
      </p:sp>
      <p:sp>
        <p:nvSpPr>
          <p:cNvPr id="11" name="Google Shape;131;p13">
            <a:extLst>
              <a:ext uri="{FF2B5EF4-FFF2-40B4-BE49-F238E27FC236}">
                <a16:creationId xmlns:a16="http://schemas.microsoft.com/office/drawing/2014/main" id="{47302C31-0708-183B-7F10-E19B6238F926}"/>
              </a:ext>
            </a:extLst>
          </p:cNvPr>
          <p:cNvSpPr txBox="1"/>
          <p:nvPr/>
        </p:nvSpPr>
        <p:spPr>
          <a:xfrm>
            <a:off x="376700" y="15205502"/>
            <a:ext cx="10282778" cy="3883723"/>
          </a:xfrm>
          <a:prstGeom prst="rect">
            <a:avLst/>
          </a:prstGeom>
          <a:solidFill>
            <a:schemeClr val="bg1"/>
          </a:solidFill>
          <a:ln>
            <a:noFill/>
          </a:ln>
        </p:spPr>
        <p:txBody>
          <a:bodyPr spcFirstLastPara="1" wrap="square" anchor="t" anchorCtr="0"/>
          <a:lstStyle/>
          <a:p>
            <a:pPr algn="l">
              <a:lnSpc>
                <a:spcPct val="95000"/>
              </a:lnSpc>
              <a:spcAft>
                <a:spcPts val="1000"/>
              </a:spcAft>
              <a:buClr>
                <a:schemeClr val="dk1"/>
              </a:buClr>
              <a:buSzPts val="1100"/>
            </a:pPr>
            <a:r>
              <a:rPr sz="2600" b="0">
                <a:solidFill>
                  <a:srgbClr val="000000"/>
                </a:solidFill>
                <a:latin typeface="Arial"/>
              </a:rPr>
              <a:t>We merged OpenStreetMap, PeeringDB and Wikidata into one record per site across the contiguous US, matching on name and distance, with written evidence kept for all 194 merges.</a:t>
            </a:r>
          </a:p>
          <a:p>
            <a:pPr algn="l">
              <a:lnSpc>
                <a:spcPct val="95000"/>
              </a:lnSpc>
              <a:spcAft>
                <a:spcPts val="1000"/>
              </a:spcAft>
            </a:pPr>
            <a:r>
              <a:rPr sz="2600" b="0">
                <a:solidFill>
                  <a:srgbClr val="000000"/>
                </a:solidFill>
                <a:latin typeface="Arial"/>
              </a:rPr>
              <a:t>Against FEMA USA Structures footprints, 1,681 coordinates fall inside a building, 993 match the nearest and 22 have no match. A second non-OSM source confirmed 1,546, and we re-checked the 1,150 least certain with an AI-assisted pipeline we then reviewed.</a:t>
            </a:r>
          </a:p>
          <a:p>
            <a:pPr algn="l">
              <a:lnSpc>
                <a:spcPct val="95000"/>
              </a:lnSpc>
              <a:spcAft>
                <a:spcPts val="1000"/>
              </a:spcAft>
            </a:pPr>
            <a:r>
              <a:rPr sz="2600" b="0">
                <a:solidFill>
                  <a:srgbClr val="000000"/>
                </a:solidFill>
                <a:latin typeface="Arial"/>
              </a:rPr>
              <a:t>Our first seismic layer failed validation against USGS reference values (22 of 150 sites within 10%), so we replaced it:</a:t>
            </a:r>
          </a:p>
        </p:txBody>
      </p:sp>
      <p:sp>
        <p:nvSpPr>
          <p:cNvPr id="12" name="Google Shape;131;p13">
            <a:extLst>
              <a:ext uri="{FF2B5EF4-FFF2-40B4-BE49-F238E27FC236}">
                <a16:creationId xmlns:a16="http://schemas.microsoft.com/office/drawing/2014/main" id="{65A629E7-2609-D28B-DA5D-ABE9038EE679}"/>
              </a:ext>
            </a:extLst>
          </p:cNvPr>
          <p:cNvSpPr txBox="1"/>
          <p:nvPr/>
        </p:nvSpPr>
        <p:spPr>
          <a:xfrm>
            <a:off x="10965973" y="6952558"/>
            <a:ext cx="10781748" cy="1590135"/>
          </a:xfrm>
          <a:prstGeom prst="rect">
            <a:avLst/>
          </a:prstGeom>
          <a:solidFill>
            <a:schemeClr val="bg1"/>
          </a:solidFill>
          <a:ln>
            <a:noFill/>
          </a:ln>
        </p:spPr>
        <p:txBody>
          <a:bodyPr spcFirstLastPara="1" wrap="square" anchor="t" anchorCtr="0"/>
          <a:lstStyle/>
          <a:p>
            <a:pPr algn="l">
              <a:lnSpc>
                <a:spcPct val="95000"/>
              </a:lnSpc>
              <a:spcAft>
                <a:spcPts val="1000"/>
              </a:spcAft>
              <a:buClr>
                <a:schemeClr val="dk1"/>
              </a:buClr>
              <a:buSzPts val="1100"/>
            </a:pPr>
            <a:r>
              <a:rPr sz="2900" b="1">
                <a:solidFill>
                  <a:srgbClr val="000000"/>
                </a:solidFill>
                <a:latin typeface="Arial"/>
              </a:rPr>
              <a:t>Hazard and water stress pick out largely different buildings. Counting both raises the share under a physical constraint from 35% to 56%.</a:t>
            </a:r>
          </a:p>
        </p:txBody>
      </p:sp>
      <p:sp>
        <p:nvSpPr>
          <p:cNvPr id="14" name="Rectangle 13">
            <a:extLst>
              <a:ext uri="{FF2B5EF4-FFF2-40B4-BE49-F238E27FC236}">
                <a16:creationId xmlns:a16="http://schemas.microsoft.com/office/drawing/2014/main" id="{161551E7-54AC-5EDA-0356-93EDDEC4719A}"/>
              </a:ext>
            </a:extLst>
          </p:cNvPr>
          <p:cNvSpPr/>
          <p:nvPr/>
        </p:nvSpPr>
        <p:spPr>
          <a:xfrm>
            <a:off x="3826040" y="425006"/>
            <a:ext cx="25266318" cy="1674193"/>
          </a:xfrm>
          <a:prstGeom prst="rect">
            <a:avLst/>
          </a:prstGeom>
          <a:solidFill>
            <a:srgbClr val="006600"/>
          </a:solidFill>
        </p:spPr>
        <p:style>
          <a:lnRef idx="1">
            <a:schemeClr val="accent5"/>
          </a:lnRef>
          <a:fillRef idx="3">
            <a:schemeClr val="accent5"/>
          </a:fillRef>
          <a:effectRef idx="2">
            <a:schemeClr val="accent5"/>
          </a:effectRef>
          <a:fontRef idx="minor">
            <a:schemeClr val="lt1"/>
          </a:fontRef>
        </p:style>
        <p:txBody>
          <a:bodyPr rtlCol="0" anchor="ctr" wrap="square"/>
          <a:lstStyle/>
          <a:p>
            <a:pPr algn="ctr">
              <a:lnSpc>
                <a:spcPct val="92000"/>
              </a:lnSpc>
              <a:spcAft>
                <a:spcPts val="1000"/>
              </a:spcAft>
            </a:pPr>
            <a:r>
              <a:rPr sz="7800" b="1">
                <a:solidFill>
                  <a:srgbClr val="000000"/>
                </a:solidFill>
                <a:latin typeface="Arial"/>
              </a:rPr>
              <a:t>A Multi-Hazard Assessment of 2,696 US Data Centers</a:t>
            </a:r>
          </a:p>
        </p:txBody>
      </p:sp>
      <p:sp>
        <p:nvSpPr>
          <p:cNvPr id="15" name="Google Shape;131;p13">
            <a:extLst>
              <a:ext uri="{FF2B5EF4-FFF2-40B4-BE49-F238E27FC236}">
                <a16:creationId xmlns:a16="http://schemas.microsoft.com/office/drawing/2014/main" id="{E8AE6323-EAA4-4495-A94C-00059D534A29}"/>
              </a:ext>
            </a:extLst>
          </p:cNvPr>
          <p:cNvSpPr txBox="1"/>
          <p:nvPr/>
        </p:nvSpPr>
        <p:spPr>
          <a:xfrm>
            <a:off x="22090621" y="5251774"/>
            <a:ext cx="10397100" cy="3649979"/>
          </a:xfrm>
          <a:prstGeom prst="rect">
            <a:avLst/>
          </a:prstGeom>
          <a:solidFill>
            <a:schemeClr val="bg1"/>
          </a:solidFill>
          <a:ln>
            <a:noFill/>
          </a:ln>
        </p:spPr>
        <p:txBody>
          <a:bodyPr spcFirstLastPara="1" wrap="square" anchor="t" anchorCtr="0"/>
          <a:lstStyle/>
          <a:p>
            <a:pPr algn="l" marL="346710" indent="-346710">
              <a:lnSpc>
                <a:spcPct val="95000"/>
              </a:lnSpc>
              <a:spcAft>
                <a:spcPts val="1000"/>
              </a:spcAft>
              <a:buClr>
                <a:schemeClr val="dk1"/>
              </a:buClr>
              <a:buSzPts val="1100"/>
            </a:pPr>
            <a:r>
              <a:rPr sz="2600" b="0">
                <a:solidFill>
                  <a:srgbClr val="000000"/>
                </a:solidFill>
                <a:latin typeface="Arial"/>
              </a:rPr>
              <a:t>•  A single national rate is close to meaningless. Only 7 of 32 states with 20 or more sites fall between 10% and 60% exposed.</a:t>
            </a:r>
          </a:p>
          <a:p>
            <a:pPr algn="l" marL="346710" indent="-346710">
              <a:lnSpc>
                <a:spcPct val="95000"/>
              </a:lnSpc>
              <a:spcAft>
                <a:spcPts val="1000"/>
              </a:spcAft>
            </a:pPr>
            <a:r>
              <a:rPr sz="2600" b="0">
                <a:solidFill>
                  <a:srgbClr val="000000"/>
                </a:solidFill>
                <a:latin typeface="Arial"/>
              </a:rPr>
              <a:t>•  We did not measure any site's water use, but the basins under the largest clusters are already over-drawn, and a hazard screen misses them.</a:t>
            </a:r>
          </a:p>
          <a:p>
            <a:pPr algn="l" marL="346710" indent="-346710">
              <a:lnSpc>
                <a:spcPct val="95000"/>
              </a:lnSpc>
              <a:spcAft>
                <a:spcPts val="1000"/>
              </a:spcAft>
            </a:pPr>
            <a:r>
              <a:rPr sz="2600" b="0">
                <a:solidFill>
                  <a:srgbClr val="000000"/>
                </a:solidFill>
                <a:latin typeface="Arial"/>
              </a:rPr>
              <a:t>•  New Jersey and California are both 100% exposed for opposite reasons, so one score hides what a site faces.</a:t>
            </a:r>
          </a:p>
          <a:p>
            <a:pPr algn="l" marL="346710" indent="-346710">
              <a:lnSpc>
                <a:spcPct val="95000"/>
              </a:lnSpc>
              <a:spcAft>
                <a:spcPts val="1000"/>
              </a:spcAft>
            </a:pPr>
            <a:r>
              <a:rPr sz="2600" b="0">
                <a:solidFill>
                  <a:srgbClr val="000000"/>
                </a:solidFill>
                <a:latin typeface="Arial"/>
              </a:rPr>
              <a:t>•  Next: fragility curves, to turn exposure into loss.</a:t>
            </a:r>
          </a:p>
        </p:txBody>
      </p:sp>
      <p:sp>
        <p:nvSpPr>
          <p:cNvPr id="16" name="Google Shape;131;p13">
            <a:extLst>
              <a:ext uri="{FF2B5EF4-FFF2-40B4-BE49-F238E27FC236}">
                <a16:creationId xmlns:a16="http://schemas.microsoft.com/office/drawing/2014/main" id="{9992E202-91ED-B6FF-C77B-9E72DD0EB5FB}"/>
              </a:ext>
            </a:extLst>
          </p:cNvPr>
          <p:cNvSpPr txBox="1"/>
          <p:nvPr/>
        </p:nvSpPr>
        <p:spPr>
          <a:xfrm>
            <a:off x="22090621" y="16218476"/>
            <a:ext cx="10418660" cy="4036821"/>
          </a:xfrm>
          <a:prstGeom prst="rect">
            <a:avLst/>
          </a:prstGeom>
          <a:solidFill>
            <a:schemeClr val="bg1"/>
          </a:solidFill>
          <a:ln>
            <a:noFill/>
          </a:ln>
        </p:spPr>
        <p:txBody>
          <a:bodyPr spcFirstLastPara="1" wrap="square" anchor="t" anchorCtr="0"/>
          <a:lstStyle/>
          <a:p>
            <a:pPr algn="l">
              <a:lnSpc>
                <a:spcPct val="90000"/>
              </a:lnSpc>
              <a:spcAft>
                <a:spcPts val="1000"/>
              </a:spcAft>
              <a:buClr>
                <a:schemeClr val="dk1"/>
              </a:buClr>
              <a:buSzPts val="1100"/>
            </a:pPr>
            <a:r>
              <a:rPr sz="2000" b="0">
                <a:solidFill>
                  <a:srgbClr val="333333"/>
                </a:solidFill>
                <a:latin typeface="Arial"/>
              </a:rPr>
              <a:t>Dillon, G.K. (2023) Wildfire Hazard Potential for the United States, 270-m, v2023. USDA Forest Service. doi:10.2737/RDS-2015-0047-4</a:t>
            </a:r>
            <a:endParaRPr sz="2600" i="1" dirty="0">
              <a:latin typeface="Arial" panose="020B0604020202020204" pitchFamily="34" charset="0"/>
              <a:ea typeface="Palatino"/>
              <a:cs typeface="Arial" panose="020B0604020202020204" pitchFamily="34" charset="0"/>
              <a:sym typeface="Palatino"/>
            </a:endParaRPr>
          </a:p>
          <a:p>
            <a:pPr algn="l">
              <a:lnSpc>
                <a:spcPct val="90000"/>
              </a:lnSpc>
              <a:spcAft>
                <a:spcPts val="1000"/>
              </a:spcAft>
            </a:pPr>
            <a:r>
              <a:rPr sz="2000" b="0">
                <a:solidFill>
                  <a:srgbClr val="333333"/>
                </a:solidFill>
                <a:latin typeface="Arial"/>
              </a:rPr>
              <a:t>USGS (2026) ASCE 7-22 Seismic Design Maps web service. earthquake.usgs.gov/ws/designmaps</a:t>
            </a:r>
          </a:p>
          <a:p>
            <a:pPr algn="l">
              <a:lnSpc>
                <a:spcPct val="90000"/>
              </a:lnSpc>
              <a:spcAft>
                <a:spcPts val="1000"/>
              </a:spcAft>
            </a:pPr>
            <a:r>
              <a:rPr sz="2000" b="0">
                <a:solidFill>
                  <a:srgbClr val="333333"/>
                </a:solidFill>
                <a:latin typeface="Arial"/>
              </a:rPr>
              <a:t>FEMA (2026) National Flood Hazard Layer. hazards.fema.gov</a:t>
            </a:r>
          </a:p>
          <a:p>
            <a:pPr algn="l">
              <a:lnSpc>
                <a:spcPct val="90000"/>
              </a:lnSpc>
              <a:spcAft>
                <a:spcPts val="1000"/>
              </a:spcAft>
            </a:pPr>
            <a:r>
              <a:rPr sz="2000" b="0">
                <a:solidFill>
                  <a:srgbClr val="333333"/>
                </a:solidFill>
                <a:latin typeface="Arial"/>
              </a:rPr>
              <a:t>Oughton, E.J. and Weigel, R. (2026) A Comparative Multi-Hazard Risk Assessment of the US High-Voltage Transmission Network. Zenodo. doi:10.5281/zenodo.20331026 (CC BY 4.0)</a:t>
            </a:r>
          </a:p>
          <a:p>
            <a:pPr algn="l">
              <a:lnSpc>
                <a:spcPct val="90000"/>
              </a:lnSpc>
              <a:spcAft>
                <a:spcPts val="1000"/>
              </a:spcAft>
            </a:pPr>
            <a:r>
              <a:rPr sz="2000" b="0">
                <a:solidFill>
                  <a:srgbClr val="333333"/>
                </a:solidFill>
                <a:latin typeface="Arial"/>
              </a:rPr>
              <a:t>FEMA and ORNL (2024) USA Structures. gis.fema.gov</a:t>
            </a:r>
          </a:p>
          <a:p>
            <a:pPr algn="l">
              <a:lnSpc>
                <a:spcPct val="90000"/>
              </a:lnSpc>
              <a:spcAft>
                <a:spcPts val="1000"/>
              </a:spcAft>
            </a:pPr>
            <a:r>
              <a:rPr sz="2000" b="0">
                <a:solidFill>
                  <a:srgbClr val="333333"/>
                </a:solidFill>
                <a:latin typeface="Arial"/>
              </a:rPr>
              <a:t>WRI (2023) Aqueduct 4.0 Water Risk Atlas.</a:t>
            </a:r>
          </a:p>
          <a:p>
            <a:pPr algn="l">
              <a:lnSpc>
                <a:spcPct val="90000"/>
              </a:lnSpc>
              <a:spcAft>
                <a:spcPts val="1000"/>
              </a:spcAft>
            </a:pPr>
            <a:r>
              <a:rPr sz="2000" b="0">
                <a:solidFill>
                  <a:srgbClr val="333333"/>
                </a:solidFill>
                <a:latin typeface="Arial"/>
              </a:rPr>
              <a:t>Fig 1 basemap: Esri Light Gray Canvas. Tiles © Esri, DeLorme, NAVTEQ.</a:t>
            </a:r>
          </a:p>
        </p:txBody>
      </p:sp>
      <p:sp>
        <p:nvSpPr>
          <p:cNvPr id="17" name="Google Shape;131;p13">
            <a:extLst>
              <a:ext uri="{FF2B5EF4-FFF2-40B4-BE49-F238E27FC236}">
                <a16:creationId xmlns:a16="http://schemas.microsoft.com/office/drawing/2014/main" id="{305E6470-FBE8-3798-FA5A-2630CB85C23B}"/>
              </a:ext>
            </a:extLst>
          </p:cNvPr>
          <p:cNvSpPr txBox="1"/>
          <p:nvPr/>
        </p:nvSpPr>
        <p:spPr>
          <a:xfrm>
            <a:off x="22061036" y="21636297"/>
            <a:ext cx="10480664" cy="2175002"/>
          </a:xfrm>
          <a:prstGeom prst="rect">
            <a:avLst/>
          </a:prstGeom>
          <a:solidFill>
            <a:schemeClr val="bg1"/>
          </a:solidFill>
          <a:ln>
            <a:noFill/>
          </a:ln>
        </p:spPr>
        <p:txBody>
          <a:bodyPr spcFirstLastPara="1" wrap="square" anchor="t" anchorCtr="0"/>
          <a:lstStyle/>
          <a:p>
            <a:pPr algn="l">
              <a:lnSpc>
                <a:spcPct val="95000"/>
              </a:lnSpc>
              <a:spcAft>
                <a:spcPts val="1000"/>
              </a:spcAft>
              <a:buClr>
                <a:schemeClr val="dk1"/>
              </a:buClr>
              <a:buSzPts val="1100"/>
            </a:pPr>
            <a:r>
              <a:rPr sz="2000" b="0">
                <a:solidFill>
                  <a:srgbClr val="333333"/>
                </a:solidFill>
                <a:latin typeface="Arial"/>
              </a:rPr>
              <a:t>This research was made possible through the support of George Mason University's College of Science, which supports the ASSIP Program.</a:t>
            </a:r>
            <a:endParaRPr sz="2600" i="1" dirty="0">
              <a:latin typeface="Arial" panose="020B0604020202020204" pitchFamily="34" charset="0"/>
              <a:ea typeface="Palatino"/>
              <a:cs typeface="Arial" panose="020B0604020202020204" pitchFamily="34" charset="0"/>
              <a:sym typeface="Palatino"/>
            </a:endParaRPr>
          </a:p>
          <a:p>
            <a:pPr algn="l">
              <a:lnSpc>
                <a:spcPct val="95000"/>
              </a:lnSpc>
              <a:spcAft>
                <a:spcPts val="1000"/>
              </a:spcAft>
            </a:pPr>
            <a:r>
              <a:rPr sz="2000" b="0">
                <a:solidFill>
                  <a:srgbClr val="333333"/>
                </a:solidFill>
                <a:latin typeface="Arial"/>
              </a:rPr>
              <a:t>DB and EO were supported by the National Science Foundation National Center for Atmospheric Research (NCAR) Innovator Supplemental Funding grant entitled “A Multi-Hazard, Multi-Infrastructure Vulnerability Assessment for the Continental United States (CONUS)”</a:t>
            </a:r>
          </a:p>
        </p:txBody>
      </p:sp>
      <p:pic>
        <p:nvPicPr>
          <p:cNvPr id="4" name="Picture 3">
            <a:extLst>
              <a:ext uri="{FF2B5EF4-FFF2-40B4-BE49-F238E27FC236}">
                <a16:creationId xmlns:a16="http://schemas.microsoft.com/office/drawing/2014/main" id="{6CEA0A40-9CB0-F6FB-B739-920187535AC5}"/>
              </a:ext>
            </a:extLst>
          </p:cNvPr>
          <p:cNvPicPr>
            <a:picLocks noChangeAspect="1"/>
          </p:cNvPicPr>
          <p:nvPr/>
        </p:nvPicPr>
        <p:blipFill>
          <a:blip r:embed="rId4"/>
          <a:stretch>
            <a:fillRect/>
          </a:stretch>
        </p:blipFill>
        <p:spPr>
          <a:xfrm>
            <a:off x="84706" y="0"/>
            <a:ext cx="4007774" cy="4742023"/>
          </a:xfrm>
          <a:prstGeom prst="rect">
            <a:avLst/>
          </a:prstGeom>
        </p:spPr>
      </p:pic>
      <p:sp>
        <p:nvSpPr>
          <p:cNvPr id="132" name="Rectangle 131"/>
          <p:cNvSpPr/>
          <p:nvPr/>
        </p:nvSpPr>
        <p:spPr>
          <a:xfrm>
            <a:off x="376700" y="9860984"/>
            <a:ext cx="10282778" cy="4421943"/>
          </a:xfrm>
          <a:prstGeom prst="rect">
            <a:avLst/>
          </a:prstGeom>
          <a:solidFill>
            <a:srgbClr val="EFEFEF"/>
          </a:solidFill>
          <a:ln w="12700">
            <a:solidFill>
              <a:srgbClr val="A5A5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376700" y="9860984"/>
            <a:ext cx="128016" cy="4421943"/>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614444" y="9934136"/>
            <a:ext cx="9871298" cy="4275639"/>
          </a:xfrm>
          <a:prstGeom prst="rect">
            <a:avLst/>
          </a:prstGeom>
          <a:noFill/>
        </p:spPr>
        <p:txBody>
          <a:bodyPr wrap="square" anchor="t" tIns="36576" bIns="36576">
            <a:spAutoFit/>
          </a:bodyPr>
          <a:lstStyle/>
          <a:p>
            <a:pPr algn="l">
              <a:lnSpc>
                <a:spcPct val="95000"/>
              </a:lnSpc>
              <a:spcAft>
                <a:spcPts val="800"/>
              </a:spcAft>
            </a:pPr>
            <a:r>
              <a:rPr sz="2300" b="1">
                <a:solidFill>
                  <a:srgbClr val="000000"/>
                </a:solidFill>
                <a:latin typeface="Arial"/>
              </a:rPr>
              <a:t>Limitations</a:t>
            </a:r>
          </a:p>
          <a:p>
            <a:pPr algn="l" marL="293370" indent="-293370">
              <a:lnSpc>
                <a:spcPct val="95000"/>
              </a:lnSpc>
              <a:spcAft>
                <a:spcPts val="800"/>
              </a:spcAft>
            </a:pPr>
            <a:r>
              <a:rPr sz="2200" b="0">
                <a:solidFill>
                  <a:srgbClr val="000000"/>
                </a:solidFill>
                <a:latin typeface="Arial"/>
              </a:rPr>
              <a:t>•  Coverage is uneven. 83% of our Virginia sites come from OpenStreetMap against 48% of our California ones, so part of the gap between states reflects who did the mapping.</a:t>
            </a:r>
          </a:p>
          <a:p>
            <a:pPr algn="l" marL="293370" indent="-293370">
              <a:lnSpc>
                <a:spcPct val="95000"/>
              </a:lnSpc>
              <a:spcAft>
                <a:spcPts val="800"/>
              </a:spcAft>
            </a:pPr>
            <a:r>
              <a:rPr sz="2200" b="0">
                <a:solidFill>
                  <a:srgbClr val="000000"/>
                </a:solidFill>
                <a:latin typeface="Arial"/>
              </a:rPr>
              <a:t>•  Hail and wind come from eyewitness reports, so within a state their rates track the number of other sites within 40 km (Spearman 0.39 and 0.34). We left both out, along with lightning, tornado and hurricane.</a:t>
            </a:r>
          </a:p>
          <a:p>
            <a:pPr algn="l" marL="293370" indent="-293370">
              <a:lnSpc>
                <a:spcPct val="95000"/>
              </a:lnSpc>
              <a:spcAft>
                <a:spcPts val="800"/>
              </a:spcAft>
            </a:pPr>
            <a:r>
              <a:rPr sz="2200" b="0">
                <a:solidFill>
                  <a:srgbClr val="000000"/>
                </a:solidFill>
                <a:latin typeface="Arial"/>
              </a:rPr>
              <a:t>•  No public source lists power capacity, so a server room counts the same as a 100 MW campus.</a:t>
            </a:r>
          </a:p>
          <a:p>
            <a:pPr algn="l" marL="293370" indent="-293370">
              <a:lnSpc>
                <a:spcPct val="95000"/>
              </a:lnSpc>
              <a:spcAft>
                <a:spcPts val="800"/>
              </a:spcAft>
            </a:pPr>
            <a:r>
              <a:rPr sz="2200" b="0">
                <a:solidFill>
                  <a:srgbClr val="000000"/>
                </a:solidFill>
                <a:latin typeface="Arial"/>
              </a:rPr>
              <a:t>•  40 sites shown as clear sit outside FEMA's mapped extent and 8 outside the wildfire raster, so 35% is a floor.</a:t>
            </a:r>
          </a:p>
        </p:txBody>
      </p:sp>
      <p:sp>
        <p:nvSpPr>
          <p:cNvPr id="135" name="Rectangle 134"/>
          <p:cNvSpPr/>
          <p:nvPr/>
        </p:nvSpPr>
        <p:spPr>
          <a:xfrm>
            <a:off x="422419" y="19180665"/>
            <a:ext cx="10191338" cy="548640"/>
          </a:xfrm>
          <a:prstGeom prst="rect">
            <a:avLst/>
          </a:prstGeom>
          <a:solidFill>
            <a:srgbClr val="EFEFEF"/>
          </a:solidFill>
          <a:ln w="12700">
            <a:solidFill>
              <a:srgbClr val="A5A5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559580" y="19180665"/>
            <a:ext cx="2926080" cy="548640"/>
          </a:xfrm>
          <a:prstGeom prst="rect">
            <a:avLst/>
          </a:prstGeom>
          <a:noFill/>
        </p:spPr>
        <p:txBody>
          <a:bodyPr wrap="square" anchor="ctr" tIns="36576" bIns="36576">
            <a:spAutoFit/>
          </a:bodyPr>
          <a:lstStyle/>
          <a:p>
            <a:pPr algn="l">
              <a:lnSpc>
                <a:spcPct val="95000"/>
              </a:lnSpc>
              <a:spcAft>
                <a:spcPts val="800"/>
              </a:spcAft>
            </a:pPr>
            <a:r>
              <a:rPr sz="2200" b="1">
                <a:solidFill>
                  <a:srgbClr val="000000"/>
                </a:solidFill>
                <a:latin typeface="Arial"/>
              </a:rPr>
              <a:t>Earthquake</a:t>
            </a:r>
          </a:p>
        </p:txBody>
      </p:sp>
      <p:sp>
        <p:nvSpPr>
          <p:cNvPr id="137" name="TextBox 136"/>
          <p:cNvSpPr txBox="1"/>
          <p:nvPr/>
        </p:nvSpPr>
        <p:spPr>
          <a:xfrm>
            <a:off x="3531380" y="19180665"/>
            <a:ext cx="6899497" cy="548640"/>
          </a:xfrm>
          <a:prstGeom prst="rect">
            <a:avLst/>
          </a:prstGeom>
          <a:noFill/>
        </p:spPr>
        <p:txBody>
          <a:bodyPr wrap="square" anchor="ctr" tIns="36576" bIns="36576">
            <a:spAutoFit/>
          </a:bodyPr>
          <a:lstStyle/>
          <a:p>
            <a:pPr algn="l">
              <a:lnSpc>
                <a:spcPct val="95000"/>
              </a:lnSpc>
              <a:spcAft>
                <a:spcPts val="800"/>
              </a:spcAft>
            </a:pPr>
            <a:r>
              <a:rPr sz="2100" b="0">
                <a:solidFill>
                  <a:srgbClr val="333333"/>
                </a:solidFill>
                <a:latin typeface="Arial"/>
              </a:rPr>
              <a:t>USGS ASCE 7-22 shaking, 2% chance in 50 yr</a:t>
            </a:r>
          </a:p>
        </p:txBody>
      </p:sp>
      <p:sp>
        <p:nvSpPr>
          <p:cNvPr id="138" name="Rectangle 137"/>
          <p:cNvSpPr/>
          <p:nvPr/>
        </p:nvSpPr>
        <p:spPr>
          <a:xfrm>
            <a:off x="422419" y="19729305"/>
            <a:ext cx="10191338" cy="548640"/>
          </a:xfrm>
          <a:prstGeom prst="rect">
            <a:avLst/>
          </a:prstGeom>
          <a:solidFill>
            <a:srgbClr val="EFEFEF"/>
          </a:solidFill>
          <a:ln w="12700">
            <a:solidFill>
              <a:srgbClr val="A5A5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559580" y="19729305"/>
            <a:ext cx="2926080" cy="548640"/>
          </a:xfrm>
          <a:prstGeom prst="rect">
            <a:avLst/>
          </a:prstGeom>
          <a:noFill/>
        </p:spPr>
        <p:txBody>
          <a:bodyPr wrap="square" anchor="ctr" tIns="36576" bIns="36576">
            <a:spAutoFit/>
          </a:bodyPr>
          <a:lstStyle/>
          <a:p>
            <a:pPr algn="l">
              <a:lnSpc>
                <a:spcPct val="95000"/>
              </a:lnSpc>
              <a:spcAft>
                <a:spcPts val="800"/>
              </a:spcAft>
            </a:pPr>
            <a:r>
              <a:rPr sz="2200" b="1">
                <a:solidFill>
                  <a:srgbClr val="000000"/>
                </a:solidFill>
                <a:latin typeface="Arial"/>
              </a:rPr>
              <a:t>Wildfire</a:t>
            </a:r>
          </a:p>
        </p:txBody>
      </p:sp>
      <p:sp>
        <p:nvSpPr>
          <p:cNvPr id="140" name="TextBox 139"/>
          <p:cNvSpPr txBox="1"/>
          <p:nvPr/>
        </p:nvSpPr>
        <p:spPr>
          <a:xfrm>
            <a:off x="3531380" y="19729305"/>
            <a:ext cx="6899497" cy="548640"/>
          </a:xfrm>
          <a:prstGeom prst="rect">
            <a:avLst/>
          </a:prstGeom>
          <a:noFill/>
        </p:spPr>
        <p:txBody>
          <a:bodyPr wrap="square" anchor="ctr" tIns="36576" bIns="36576">
            <a:spAutoFit/>
          </a:bodyPr>
          <a:lstStyle/>
          <a:p>
            <a:pPr algn="l">
              <a:lnSpc>
                <a:spcPct val="95000"/>
              </a:lnSpc>
              <a:spcAft>
                <a:spcPts val="800"/>
              </a:spcAft>
            </a:pPr>
            <a:r>
              <a:rPr sz="2100" b="0">
                <a:solidFill>
                  <a:srgbClr val="333333"/>
                </a:solidFill>
                <a:latin typeface="Arial"/>
              </a:rPr>
              <a:t>USFS Hazard Potential 270 m, max in 2.4 km</a:t>
            </a:r>
          </a:p>
        </p:txBody>
      </p:sp>
      <p:sp>
        <p:nvSpPr>
          <p:cNvPr id="141" name="Rectangle 140"/>
          <p:cNvSpPr/>
          <p:nvPr/>
        </p:nvSpPr>
        <p:spPr>
          <a:xfrm>
            <a:off x="422419" y="20277945"/>
            <a:ext cx="10191338" cy="548640"/>
          </a:xfrm>
          <a:prstGeom prst="rect">
            <a:avLst/>
          </a:prstGeom>
          <a:solidFill>
            <a:srgbClr val="EFEFEF"/>
          </a:solidFill>
          <a:ln w="12700">
            <a:solidFill>
              <a:srgbClr val="A5A5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559580" y="20277945"/>
            <a:ext cx="2926080" cy="548640"/>
          </a:xfrm>
          <a:prstGeom prst="rect">
            <a:avLst/>
          </a:prstGeom>
          <a:noFill/>
        </p:spPr>
        <p:txBody>
          <a:bodyPr wrap="square" anchor="ctr" tIns="36576" bIns="36576">
            <a:spAutoFit/>
          </a:bodyPr>
          <a:lstStyle/>
          <a:p>
            <a:pPr algn="l">
              <a:lnSpc>
                <a:spcPct val="95000"/>
              </a:lnSpc>
              <a:spcAft>
                <a:spcPts val="800"/>
              </a:spcAft>
            </a:pPr>
            <a:r>
              <a:rPr sz="2200" b="1">
                <a:solidFill>
                  <a:srgbClr val="000000"/>
                </a:solidFill>
                <a:latin typeface="Arial"/>
              </a:rPr>
              <a:t>Flood</a:t>
            </a:r>
          </a:p>
        </p:txBody>
      </p:sp>
      <p:sp>
        <p:nvSpPr>
          <p:cNvPr id="143" name="TextBox 142"/>
          <p:cNvSpPr txBox="1"/>
          <p:nvPr/>
        </p:nvSpPr>
        <p:spPr>
          <a:xfrm>
            <a:off x="3531380" y="20277945"/>
            <a:ext cx="6899497" cy="548640"/>
          </a:xfrm>
          <a:prstGeom prst="rect">
            <a:avLst/>
          </a:prstGeom>
          <a:noFill/>
        </p:spPr>
        <p:txBody>
          <a:bodyPr wrap="square" anchor="ctr" tIns="36576" bIns="36576">
            <a:spAutoFit/>
          </a:bodyPr>
          <a:lstStyle/>
          <a:p>
            <a:pPr algn="l">
              <a:lnSpc>
                <a:spcPct val="95000"/>
              </a:lnSpc>
              <a:spcAft>
                <a:spcPts val="800"/>
              </a:spcAft>
            </a:pPr>
            <a:r>
              <a:rPr sz="2100" b="0">
                <a:solidFill>
                  <a:srgbClr val="333333"/>
                </a:solidFill>
                <a:latin typeface="Arial"/>
              </a:rPr>
              <a:t>FEMA flood layer, 1-in-100-year floodplain</a:t>
            </a:r>
          </a:p>
        </p:txBody>
      </p:sp>
      <p:sp>
        <p:nvSpPr>
          <p:cNvPr id="144" name="Rectangle 143"/>
          <p:cNvSpPr/>
          <p:nvPr/>
        </p:nvSpPr>
        <p:spPr>
          <a:xfrm>
            <a:off x="422419" y="20826585"/>
            <a:ext cx="10191338" cy="548640"/>
          </a:xfrm>
          <a:prstGeom prst="rect">
            <a:avLst/>
          </a:prstGeom>
          <a:solidFill>
            <a:srgbClr val="EFEFEF"/>
          </a:solidFill>
          <a:ln w="12700">
            <a:solidFill>
              <a:srgbClr val="A5A5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559580" y="20826585"/>
            <a:ext cx="2926080" cy="548640"/>
          </a:xfrm>
          <a:prstGeom prst="rect">
            <a:avLst/>
          </a:prstGeom>
          <a:noFill/>
        </p:spPr>
        <p:txBody>
          <a:bodyPr wrap="square" anchor="ctr" tIns="36576" bIns="36576">
            <a:spAutoFit/>
          </a:bodyPr>
          <a:lstStyle/>
          <a:p>
            <a:pPr algn="l">
              <a:lnSpc>
                <a:spcPct val="95000"/>
              </a:lnSpc>
              <a:spcAft>
                <a:spcPts val="800"/>
              </a:spcAft>
            </a:pPr>
            <a:r>
              <a:rPr sz="2200" b="1">
                <a:solidFill>
                  <a:srgbClr val="000000"/>
                </a:solidFill>
                <a:latin typeface="Arial"/>
              </a:rPr>
              <a:t>Water stress</a:t>
            </a:r>
          </a:p>
        </p:txBody>
      </p:sp>
      <p:sp>
        <p:nvSpPr>
          <p:cNvPr id="146" name="TextBox 145"/>
          <p:cNvSpPr txBox="1"/>
          <p:nvPr/>
        </p:nvSpPr>
        <p:spPr>
          <a:xfrm>
            <a:off x="3531380" y="20826585"/>
            <a:ext cx="6899497" cy="548640"/>
          </a:xfrm>
          <a:prstGeom prst="rect">
            <a:avLst/>
          </a:prstGeom>
          <a:noFill/>
        </p:spPr>
        <p:txBody>
          <a:bodyPr wrap="square" anchor="ctr" tIns="36576" bIns="36576">
            <a:spAutoFit/>
          </a:bodyPr>
          <a:lstStyle/>
          <a:p>
            <a:pPr algn="l">
              <a:lnSpc>
                <a:spcPct val="95000"/>
              </a:lnSpc>
              <a:spcAft>
                <a:spcPts val="800"/>
              </a:spcAft>
            </a:pPr>
            <a:r>
              <a:rPr sz="2100" b="0">
                <a:solidFill>
                  <a:srgbClr val="333333"/>
                </a:solidFill>
                <a:latin typeface="Arial"/>
              </a:rPr>
              <a:t>WRI Aqueduct 4.0, river-basin scale</a:t>
            </a:r>
          </a:p>
        </p:txBody>
      </p:sp>
      <p:sp>
        <p:nvSpPr>
          <p:cNvPr id="147" name="Rectangle 146"/>
          <p:cNvSpPr/>
          <p:nvPr/>
        </p:nvSpPr>
        <p:spPr>
          <a:xfrm>
            <a:off x="422419" y="21375225"/>
            <a:ext cx="10191338" cy="548640"/>
          </a:xfrm>
          <a:prstGeom prst="rect">
            <a:avLst/>
          </a:prstGeom>
          <a:solidFill>
            <a:srgbClr val="EFEFEF"/>
          </a:solidFill>
          <a:ln w="12700">
            <a:solidFill>
              <a:srgbClr val="A5A5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559580" y="21375225"/>
            <a:ext cx="2926080" cy="548640"/>
          </a:xfrm>
          <a:prstGeom prst="rect">
            <a:avLst/>
          </a:prstGeom>
          <a:noFill/>
        </p:spPr>
        <p:txBody>
          <a:bodyPr wrap="square" anchor="ctr" tIns="36576" bIns="36576">
            <a:spAutoFit/>
          </a:bodyPr>
          <a:lstStyle/>
          <a:p>
            <a:pPr algn="l">
              <a:lnSpc>
                <a:spcPct val="95000"/>
              </a:lnSpc>
              <a:spcAft>
                <a:spcPts val="800"/>
              </a:spcAft>
            </a:pPr>
            <a:r>
              <a:rPr sz="2200" b="1">
                <a:solidFill>
                  <a:srgbClr val="000000"/>
                </a:solidFill>
                <a:latin typeface="Arial"/>
              </a:rPr>
              <a:t>Uncertainty</a:t>
            </a:r>
          </a:p>
        </p:txBody>
      </p:sp>
      <p:sp>
        <p:nvSpPr>
          <p:cNvPr id="149" name="TextBox 148"/>
          <p:cNvSpPr txBox="1"/>
          <p:nvPr/>
        </p:nvSpPr>
        <p:spPr>
          <a:xfrm>
            <a:off x="3531380" y="21375225"/>
            <a:ext cx="6899497" cy="548640"/>
          </a:xfrm>
          <a:prstGeom prst="rect">
            <a:avLst/>
          </a:prstGeom>
          <a:noFill/>
        </p:spPr>
        <p:txBody>
          <a:bodyPr wrap="square" anchor="ctr" tIns="36576" bIns="36576">
            <a:spAutoFit/>
          </a:bodyPr>
          <a:lstStyle/>
          <a:p>
            <a:pPr algn="l">
              <a:lnSpc>
                <a:spcPct val="95000"/>
              </a:lnSpc>
              <a:spcAft>
                <a:spcPts val="800"/>
              </a:spcAft>
            </a:pPr>
            <a:r>
              <a:rPr sz="2100" b="0">
                <a:solidFill>
                  <a:srgbClr val="333333"/>
                </a:solidFill>
                <a:latin typeface="Arial"/>
              </a:rPr>
              <a:t>500 relocations per site, 10-500 m by precision</a:t>
            </a:r>
          </a:p>
        </p:txBody>
      </p:sp>
      <p:sp>
        <p:nvSpPr>
          <p:cNvPr id="150" name="TextBox 149"/>
          <p:cNvSpPr txBox="1"/>
          <p:nvPr/>
        </p:nvSpPr>
        <p:spPr>
          <a:xfrm>
            <a:off x="376700" y="22015305"/>
            <a:ext cx="10282778" cy="2186749"/>
          </a:xfrm>
          <a:prstGeom prst="rect">
            <a:avLst/>
          </a:prstGeom>
          <a:noFill/>
        </p:spPr>
        <p:txBody>
          <a:bodyPr wrap="square" anchor="t" tIns="36576" bIns="36576">
            <a:spAutoFit/>
          </a:bodyPr>
          <a:lstStyle/>
          <a:p>
            <a:pPr algn="l">
              <a:lnSpc>
                <a:spcPct val="95000"/>
              </a:lnSpc>
              <a:spcAft>
                <a:spcPts val="800"/>
              </a:spcAft>
            </a:pPr>
            <a:r>
              <a:rPr sz="2600" b="0">
                <a:solidFill>
                  <a:srgbClr val="000000"/>
                </a:solidFill>
                <a:latin typeface="Arial"/>
              </a:rPr>
              <a:t>A site counts as exposed if it lies within 2.4 km of land rated High or Very High for wildfire, inside a FEMA Special Flood Hazard Area, or at peak ground acceleration of 0.30 g or above. Wildfire is buffered because 2,284 sites sit on non-burnable land, where the pixel under the building says nothing.</a:t>
            </a:r>
          </a:p>
        </p:txBody>
      </p:sp>
      <p:sp>
        <p:nvSpPr>
          <p:cNvPr id="151" name="TextBox 150"/>
          <p:cNvSpPr txBox="1"/>
          <p:nvPr/>
        </p:nvSpPr>
        <p:spPr>
          <a:xfrm>
            <a:off x="11011693" y="5251774"/>
            <a:ext cx="2626857" cy="896112"/>
          </a:xfrm>
          <a:prstGeom prst="rect">
            <a:avLst/>
          </a:prstGeom>
          <a:noFill/>
        </p:spPr>
        <p:txBody>
          <a:bodyPr wrap="square" anchor="t" tIns="36576" bIns="36576">
            <a:spAutoFit/>
          </a:bodyPr>
          <a:lstStyle/>
          <a:p>
            <a:pPr algn="ctr">
              <a:lnSpc>
                <a:spcPct val="95000"/>
              </a:lnSpc>
              <a:spcAft>
                <a:spcPts val="800"/>
              </a:spcAft>
            </a:pPr>
            <a:r>
              <a:rPr sz="4800" b="1">
                <a:solidFill>
                  <a:srgbClr val="006600"/>
                </a:solidFill>
                <a:latin typeface="Arial"/>
              </a:rPr>
              <a:t>2,696</a:t>
            </a:r>
          </a:p>
        </p:txBody>
      </p:sp>
      <p:sp>
        <p:nvSpPr>
          <p:cNvPr id="152" name="TextBox 151"/>
          <p:cNvSpPr txBox="1"/>
          <p:nvPr/>
        </p:nvSpPr>
        <p:spPr>
          <a:xfrm>
            <a:off x="11011693" y="6093022"/>
            <a:ext cx="2626857" cy="786384"/>
          </a:xfrm>
          <a:prstGeom prst="rect">
            <a:avLst/>
          </a:prstGeom>
          <a:noFill/>
        </p:spPr>
        <p:txBody>
          <a:bodyPr wrap="square" anchor="t" tIns="36576" bIns="36576">
            <a:spAutoFit/>
          </a:bodyPr>
          <a:lstStyle/>
          <a:p>
            <a:pPr algn="ctr">
              <a:lnSpc>
                <a:spcPct val="95000"/>
              </a:lnSpc>
              <a:spcAft>
                <a:spcPts val="800"/>
              </a:spcAft>
            </a:pPr>
            <a:r>
              <a:rPr sz="2000" b="0">
                <a:solidFill>
                  <a:srgbClr val="333333"/>
                </a:solidFill>
                <a:latin typeface="Arial"/>
              </a:rPr>
              <a:t>facilities located</a:t>
            </a:r>
          </a:p>
        </p:txBody>
      </p:sp>
      <p:sp>
        <p:nvSpPr>
          <p:cNvPr id="153" name="TextBox 152"/>
          <p:cNvSpPr txBox="1"/>
          <p:nvPr/>
        </p:nvSpPr>
        <p:spPr>
          <a:xfrm>
            <a:off x="13711702" y="5251774"/>
            <a:ext cx="2626857" cy="896112"/>
          </a:xfrm>
          <a:prstGeom prst="rect">
            <a:avLst/>
          </a:prstGeom>
          <a:noFill/>
        </p:spPr>
        <p:txBody>
          <a:bodyPr wrap="square" anchor="t" tIns="36576" bIns="36576">
            <a:spAutoFit/>
          </a:bodyPr>
          <a:lstStyle/>
          <a:p>
            <a:pPr algn="ctr">
              <a:lnSpc>
                <a:spcPct val="95000"/>
              </a:lnSpc>
              <a:spcAft>
                <a:spcPts val="800"/>
              </a:spcAft>
            </a:pPr>
            <a:r>
              <a:rPr sz="4800" b="1">
                <a:solidFill>
                  <a:srgbClr val="006600"/>
                </a:solidFill>
                <a:latin typeface="Arial"/>
              </a:rPr>
              <a:t>954</a:t>
            </a:r>
          </a:p>
        </p:txBody>
      </p:sp>
      <p:sp>
        <p:nvSpPr>
          <p:cNvPr id="154" name="TextBox 153"/>
          <p:cNvSpPr txBox="1"/>
          <p:nvPr/>
        </p:nvSpPr>
        <p:spPr>
          <a:xfrm>
            <a:off x="13711702" y="6093022"/>
            <a:ext cx="2626857" cy="786384"/>
          </a:xfrm>
          <a:prstGeom prst="rect">
            <a:avLst/>
          </a:prstGeom>
          <a:noFill/>
        </p:spPr>
        <p:txBody>
          <a:bodyPr wrap="square" anchor="t" tIns="36576" bIns="36576">
            <a:spAutoFit/>
          </a:bodyPr>
          <a:lstStyle/>
          <a:p>
            <a:pPr algn="ctr">
              <a:lnSpc>
                <a:spcPct val="95000"/>
              </a:lnSpc>
              <a:spcAft>
                <a:spcPts val="800"/>
              </a:spcAft>
            </a:pPr>
            <a:r>
              <a:rPr sz="2000" b="0">
                <a:solidFill>
                  <a:srgbClr val="333333"/>
                </a:solidFill>
                <a:latin typeface="Arial"/>
              </a:rPr>
              <a:t>face a mapped hazard</a:t>
            </a:r>
          </a:p>
        </p:txBody>
      </p:sp>
      <p:sp>
        <p:nvSpPr>
          <p:cNvPr id="155" name="TextBox 154"/>
          <p:cNvSpPr txBox="1"/>
          <p:nvPr/>
        </p:nvSpPr>
        <p:spPr>
          <a:xfrm>
            <a:off x="16411711" y="5251774"/>
            <a:ext cx="2626857" cy="896112"/>
          </a:xfrm>
          <a:prstGeom prst="rect">
            <a:avLst/>
          </a:prstGeom>
          <a:noFill/>
        </p:spPr>
        <p:txBody>
          <a:bodyPr wrap="square" anchor="t" tIns="36576" bIns="36576">
            <a:spAutoFit/>
          </a:bodyPr>
          <a:lstStyle/>
          <a:p>
            <a:pPr algn="ctr">
              <a:lnSpc>
                <a:spcPct val="95000"/>
              </a:lnSpc>
              <a:spcAft>
                <a:spcPts val="800"/>
              </a:spcAft>
            </a:pPr>
            <a:r>
              <a:rPr sz="4800" b="1">
                <a:solidFill>
                  <a:srgbClr val="006600"/>
                </a:solidFill>
                <a:latin typeface="Arial"/>
              </a:rPr>
              <a:t>952</a:t>
            </a:r>
          </a:p>
        </p:txBody>
      </p:sp>
      <p:sp>
        <p:nvSpPr>
          <p:cNvPr id="156" name="TextBox 155"/>
          <p:cNvSpPr txBox="1"/>
          <p:nvPr/>
        </p:nvSpPr>
        <p:spPr>
          <a:xfrm>
            <a:off x="16411711" y="6093022"/>
            <a:ext cx="2626857" cy="786384"/>
          </a:xfrm>
          <a:prstGeom prst="rect">
            <a:avLst/>
          </a:prstGeom>
          <a:noFill/>
        </p:spPr>
        <p:txBody>
          <a:bodyPr wrap="square" anchor="t" tIns="36576" bIns="36576">
            <a:spAutoFit/>
          </a:bodyPr>
          <a:lstStyle/>
          <a:p>
            <a:pPr algn="ctr">
              <a:lnSpc>
                <a:spcPct val="95000"/>
              </a:lnSpc>
              <a:spcAft>
                <a:spcPts val="800"/>
              </a:spcAft>
            </a:pPr>
            <a:r>
              <a:rPr sz="2000" b="0">
                <a:solidFill>
                  <a:srgbClr val="333333"/>
                </a:solidFill>
                <a:latin typeface="Arial"/>
              </a:rPr>
              <a:t>in a high water-stress basin</a:t>
            </a:r>
          </a:p>
        </p:txBody>
      </p:sp>
      <p:sp>
        <p:nvSpPr>
          <p:cNvPr id="157" name="TextBox 156"/>
          <p:cNvSpPr txBox="1"/>
          <p:nvPr/>
        </p:nvSpPr>
        <p:spPr>
          <a:xfrm>
            <a:off x="19111720" y="5251774"/>
            <a:ext cx="2626857" cy="896112"/>
          </a:xfrm>
          <a:prstGeom prst="rect">
            <a:avLst/>
          </a:prstGeom>
          <a:noFill/>
        </p:spPr>
        <p:txBody>
          <a:bodyPr wrap="square" anchor="t" tIns="36576" bIns="36576">
            <a:spAutoFit/>
          </a:bodyPr>
          <a:lstStyle/>
          <a:p>
            <a:pPr algn="ctr">
              <a:lnSpc>
                <a:spcPct val="95000"/>
              </a:lnSpc>
              <a:spcAft>
                <a:spcPts val="800"/>
              </a:spcAft>
            </a:pPr>
            <a:r>
              <a:rPr sz="4800" b="1">
                <a:solidFill>
                  <a:srgbClr val="006600"/>
                </a:solidFill>
                <a:latin typeface="Arial"/>
              </a:rPr>
              <a:t>563</a:t>
            </a:r>
          </a:p>
        </p:txBody>
      </p:sp>
      <p:sp>
        <p:nvSpPr>
          <p:cNvPr id="158" name="TextBox 157"/>
          <p:cNvSpPr txBox="1"/>
          <p:nvPr/>
        </p:nvSpPr>
        <p:spPr>
          <a:xfrm>
            <a:off x="19111720" y="6093022"/>
            <a:ext cx="2626857" cy="786384"/>
          </a:xfrm>
          <a:prstGeom prst="rect">
            <a:avLst/>
          </a:prstGeom>
          <a:noFill/>
        </p:spPr>
        <p:txBody>
          <a:bodyPr wrap="square" anchor="t" tIns="36576" bIns="36576">
            <a:spAutoFit/>
          </a:bodyPr>
          <a:lstStyle/>
          <a:p>
            <a:pPr algn="ctr">
              <a:lnSpc>
                <a:spcPct val="95000"/>
              </a:lnSpc>
              <a:spcAft>
                <a:spcPts val="800"/>
              </a:spcAft>
            </a:pPr>
            <a:r>
              <a:rPr sz="2000" b="0">
                <a:solidFill>
                  <a:srgbClr val="333333"/>
                </a:solidFill>
                <a:latin typeface="Arial"/>
              </a:rPr>
              <a:t>water-stressed only</a:t>
            </a:r>
          </a:p>
        </p:txBody>
      </p:sp>
      <p:pic>
        <p:nvPicPr>
          <p:cNvPr id="159" name="Picture 158" descr="fig1_map.png"/>
          <p:cNvPicPr>
            <a:picLocks noChangeAspect="1"/>
          </p:cNvPicPr>
          <p:nvPr/>
        </p:nvPicPr>
        <p:blipFill>
          <a:blip r:embed="rId5"/>
          <a:stretch>
            <a:fillRect/>
          </a:stretch>
        </p:blipFill>
        <p:spPr>
          <a:xfrm>
            <a:off x="10965973" y="8634133"/>
            <a:ext cx="10781748" cy="4881235"/>
          </a:xfrm>
          <a:prstGeom prst="rect">
            <a:avLst/>
          </a:prstGeom>
        </p:spPr>
      </p:pic>
      <p:sp>
        <p:nvSpPr>
          <p:cNvPr id="160" name="TextBox 159"/>
          <p:cNvSpPr txBox="1"/>
          <p:nvPr/>
        </p:nvSpPr>
        <p:spPr>
          <a:xfrm>
            <a:off x="10965973" y="13588520"/>
            <a:ext cx="10781748" cy="1298765"/>
          </a:xfrm>
          <a:prstGeom prst="rect">
            <a:avLst/>
          </a:prstGeom>
          <a:noFill/>
        </p:spPr>
        <p:txBody>
          <a:bodyPr wrap="square" anchor="t" tIns="36576" bIns="36576">
            <a:spAutoFit/>
          </a:bodyPr>
          <a:lstStyle/>
          <a:p>
            <a:pPr algn="l">
              <a:lnSpc>
                <a:spcPct val="95000"/>
              </a:lnSpc>
              <a:spcAft>
                <a:spcPts val="800"/>
              </a:spcAft>
            </a:pPr>
            <a:r>
              <a:rPr sz="2200" b="1">
                <a:solidFill>
                  <a:srgbClr val="000000"/>
                </a:solidFill>
                <a:latin typeface="Arial"/>
              </a:rPr>
              <a:t>Fig 1. One third of US data centers face a mapped hazard. Of the 205 facing two or more (orange), California holds 119, with smaller clusters in Utah, Nevada and New Jersey.</a:t>
            </a:r>
          </a:p>
        </p:txBody>
      </p:sp>
      <p:sp>
        <p:nvSpPr>
          <p:cNvPr id="161" name="TextBox 160"/>
          <p:cNvSpPr txBox="1"/>
          <p:nvPr/>
        </p:nvSpPr>
        <p:spPr>
          <a:xfrm>
            <a:off x="10965973" y="14978726"/>
            <a:ext cx="10781748" cy="4965953"/>
          </a:xfrm>
          <a:prstGeom prst="rect">
            <a:avLst/>
          </a:prstGeom>
          <a:noFill/>
        </p:spPr>
        <p:txBody>
          <a:bodyPr wrap="square" anchor="t" tIns="36576" bIns="36576">
            <a:spAutoFit/>
          </a:bodyPr>
          <a:lstStyle/>
          <a:p>
            <a:pPr algn="l">
              <a:lnSpc>
                <a:spcPct val="95000"/>
              </a:lnSpc>
              <a:spcAft>
                <a:spcPts val="800"/>
              </a:spcAft>
            </a:pPr>
            <a:r>
              <a:rPr sz="2600" b="0">
                <a:solidFill>
                  <a:srgbClr val="000000"/>
                </a:solidFill>
                <a:latin typeface="Arial"/>
              </a:rPr>
              <a:t>952 sites lie in a high or extremely-high water-stress basin, almost exactly the 954 facing a mapped hazard, but only 389 are the same sites. Some of the largest clusters are stressed while their hazard maps read clear: Virginia is 0.7% hazard-exposed and 31% water-stressed, Illinois 2.7% and 95%.</a:t>
            </a:r>
          </a:p>
          <a:p>
            <a:pPr algn="l">
              <a:lnSpc>
                <a:spcPct val="95000"/>
              </a:lnSpc>
              <a:spcAft>
                <a:spcPts val="800"/>
              </a:spcAft>
            </a:pPr>
            <a:r>
              <a:rPr sz="2600" b="0">
                <a:solidFill>
                  <a:srgbClr val="000000"/>
                </a:solidFill>
                <a:latin typeface="Arial"/>
              </a:rPr>
              <a:t>Which hazard dominates depends on the region. New Jersey reaches 100% through wildfire alone and 0% through earthquake, California 96% earthquake. Nationally 646 sites are exposed to wildfire, 448 to earthquake and 71 to flood.</a:t>
            </a:r>
          </a:p>
          <a:p>
            <a:pPr algn="l">
              <a:lnSpc>
                <a:spcPct val="95000"/>
              </a:lnSpc>
              <a:spcAft>
                <a:spcPts val="800"/>
              </a:spcAft>
            </a:pPr>
            <a:r>
              <a:rPr sz="2600" b="0">
                <a:solidFill>
                  <a:srgbClr val="000000"/>
                </a:solidFill>
                <a:latin typeface="Arial"/>
              </a:rPr>
              <a:t>Widening the wildfire buffer from 2.4 km to 5 km takes the wildfire count from 646 to 953, so that result is a statement about the buffer as much as about the site.</a:t>
            </a:r>
          </a:p>
        </p:txBody>
      </p:sp>
      <p:pic>
        <p:nvPicPr>
          <p:cNvPr id="162" name="Picture 161" descr="fig2_states.png"/>
          <p:cNvPicPr>
            <a:picLocks noChangeAspect="1"/>
          </p:cNvPicPr>
          <p:nvPr/>
        </p:nvPicPr>
        <p:blipFill>
          <a:blip r:embed="rId6"/>
          <a:stretch>
            <a:fillRect/>
          </a:stretch>
        </p:blipFill>
        <p:spPr>
          <a:xfrm>
            <a:off x="10965973" y="20036120"/>
            <a:ext cx="10781748" cy="3181543"/>
          </a:xfrm>
          <a:prstGeom prst="rect">
            <a:avLst/>
          </a:prstGeom>
        </p:spPr>
      </p:pic>
      <p:sp>
        <p:nvSpPr>
          <p:cNvPr id="163" name="TextBox 162"/>
          <p:cNvSpPr txBox="1"/>
          <p:nvPr/>
        </p:nvSpPr>
        <p:spPr>
          <a:xfrm>
            <a:off x="10965973" y="23272527"/>
            <a:ext cx="10781748" cy="993521"/>
          </a:xfrm>
          <a:prstGeom prst="rect">
            <a:avLst/>
          </a:prstGeom>
          <a:noFill/>
        </p:spPr>
        <p:txBody>
          <a:bodyPr wrap="square" anchor="t" tIns="36576" bIns="36576">
            <a:spAutoFit/>
          </a:bodyPr>
          <a:lstStyle/>
          <a:p>
            <a:pPr algn="l">
              <a:lnSpc>
                <a:spcPct val="95000"/>
              </a:lnSpc>
              <a:spcAft>
                <a:spcPts val="800"/>
              </a:spcAft>
            </a:pPr>
            <a:r>
              <a:rPr sz="2200" b="1">
                <a:solidFill>
                  <a:srgbClr val="000000"/>
                </a:solidFill>
                <a:latin typeface="Arial"/>
              </a:rPr>
              <a:t>Fig 2. The fleet piles up at both ends. Colour shows which hazard drives each state.</a:t>
            </a:r>
          </a:p>
        </p:txBody>
      </p:sp>
      <p:sp>
        <p:nvSpPr>
          <p:cNvPr id="164" name="Rectangle 163"/>
          <p:cNvSpPr/>
          <p:nvPr/>
        </p:nvSpPr>
        <p:spPr>
          <a:xfrm>
            <a:off x="22090621" y="9084634"/>
            <a:ext cx="10397100" cy="2043811"/>
          </a:xfrm>
          <a:prstGeom prst="rect">
            <a:avLst/>
          </a:prstGeom>
          <a:solidFill>
            <a:srgbClr val="EFEFEF"/>
          </a:solidFill>
          <a:ln w="12700">
            <a:solidFill>
              <a:srgbClr val="A5A5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Rectangle 164"/>
          <p:cNvSpPr/>
          <p:nvPr/>
        </p:nvSpPr>
        <p:spPr>
          <a:xfrm>
            <a:off x="22090621" y="9084634"/>
            <a:ext cx="128016" cy="2043811"/>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22328365" y="9157786"/>
            <a:ext cx="9985620" cy="1897507"/>
          </a:xfrm>
          <a:prstGeom prst="rect">
            <a:avLst/>
          </a:prstGeom>
          <a:noFill/>
        </p:spPr>
        <p:txBody>
          <a:bodyPr wrap="square" anchor="t" tIns="36576" bIns="36576">
            <a:spAutoFit/>
          </a:bodyPr>
          <a:lstStyle/>
          <a:p>
            <a:pPr algn="l">
              <a:lnSpc>
                <a:spcPct val="95000"/>
              </a:lnSpc>
              <a:spcAft>
                <a:spcPts val="800"/>
              </a:spcAft>
            </a:pPr>
            <a:r>
              <a:rPr sz="2500" b="1">
                <a:solidFill>
                  <a:srgbClr val="000000"/>
                </a:solidFill>
                <a:latin typeface="Arial"/>
              </a:rPr>
              <a:t>Two robustness checks</a:t>
            </a:r>
          </a:p>
          <a:p>
            <a:pPr algn="l">
              <a:lnSpc>
                <a:spcPct val="95000"/>
              </a:lnSpc>
              <a:spcAft>
                <a:spcPts val="800"/>
              </a:spcAft>
            </a:pPr>
            <a:r>
              <a:rPr sz="2400" b="0">
                <a:solidFill>
                  <a:srgbClr val="000000"/>
                </a:solidFill>
                <a:latin typeface="Arial"/>
              </a:rPr>
              <a:t>Sampling across a whole footprint instead of its centre changed the answer for 29 of 326 comparable sites. Taller buildings looked more exposed nationally, but that vanished within states.</a:t>
            </a:r>
          </a:p>
        </p:txBody>
      </p:sp>
      <p:pic>
        <p:nvPicPr>
          <p:cNvPr id="167" name="Picture 166" descr="fig3_confidence.png"/>
          <p:cNvPicPr>
            <a:picLocks noChangeAspect="1"/>
          </p:cNvPicPr>
          <p:nvPr/>
        </p:nvPicPr>
        <p:blipFill>
          <a:blip r:embed="rId7"/>
          <a:stretch>
            <a:fillRect/>
          </a:stretch>
        </p:blipFill>
        <p:spPr>
          <a:xfrm>
            <a:off x="22090621" y="11256461"/>
            <a:ext cx="10397100" cy="3227243"/>
          </a:xfrm>
          <a:prstGeom prst="rect">
            <a:avLst/>
          </a:prstGeom>
        </p:spPr>
      </p:pic>
      <p:sp>
        <p:nvSpPr>
          <p:cNvPr id="168" name="TextBox 167"/>
          <p:cNvSpPr txBox="1"/>
          <p:nvPr/>
        </p:nvSpPr>
        <p:spPr>
          <a:xfrm>
            <a:off x="22090621" y="14520279"/>
            <a:ext cx="10397100" cy="688276"/>
          </a:xfrm>
          <a:prstGeom prst="rect">
            <a:avLst/>
          </a:prstGeom>
          <a:noFill/>
        </p:spPr>
        <p:txBody>
          <a:bodyPr wrap="square" anchor="t" tIns="36576" bIns="36576">
            <a:spAutoFit/>
          </a:bodyPr>
          <a:lstStyle/>
          <a:p>
            <a:pPr algn="l">
              <a:lnSpc>
                <a:spcPct val="95000"/>
              </a:lnSpc>
              <a:spcAft>
                <a:spcPts val="800"/>
              </a:spcAft>
            </a:pPr>
            <a:r>
              <a:rPr sz="2200" b="1">
                <a:solidFill>
                  <a:srgbClr val="000000"/>
                </a:solidFill>
                <a:latin typeface="Arial"/>
              </a:rPr>
              <a:t>Fig 3. Wildfire class under coordinate error.</a:t>
            </a:r>
          </a:p>
        </p:txBody>
      </p:sp>
    </p:spTree>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2013 - 2022 Theme</Template>
  <TotalTime>1916</TotalTime>
  <Words>1018</Words>
  <Application>Microsoft Office PowerPoint</Application>
  <PresentationFormat>Custom</PresentationFormat>
  <Paragraphs>59</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Times New Roman</vt:lpstr>
      <vt:lpstr>Arial</vt:lpstr>
      <vt:lpstr>Calibri</vt:lpstr>
      <vt:lpstr>Palatino</vt:lpstr>
      <vt:lpstr>Calibri Light</vt:lpstr>
      <vt:lpstr>Office 2013 - 2022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Amanda Haymond</dc:creator>
  <cp:lastModifiedBy>Amanda Still</cp:lastModifiedBy>
  <cp:revision>45</cp:revision>
  <dcterms:modified xsi:type="dcterms:W3CDTF">2026-06-17T19:45:41Z</dcterms:modified>
</cp:coreProperties>
</file>
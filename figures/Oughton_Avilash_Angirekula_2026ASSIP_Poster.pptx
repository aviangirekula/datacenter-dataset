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590135"/>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Hazard and water stress pick out largely different buildings. Counting both raises the share under a physical constraint from 35% to 56%.</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single national rate is close to meaningless. Only 7 of 32 states with 20 or more sites fall between 10% and 60% exposed.</a:t>
            </a:r>
          </a:p>
          <a:p>
            <a:pPr algn="l" marL="346710" indent="-346710">
              <a:lnSpc>
                <a:spcPct val="95000"/>
              </a:lnSpc>
              <a:spcAft>
                <a:spcPts val="1000"/>
              </a:spcAft>
            </a:pPr>
            <a:r>
              <a:rPr sz="2600" b="0">
                <a:solidFill>
                  <a:srgbClr val="000000"/>
                </a:solidFill>
                <a:latin typeface="Arial"/>
              </a:rPr>
              <a:t>•  We did not measure any site's water use, but the basins under the largest clusters are already over-drawn, and a hazard screen misses them.</a:t>
            </a:r>
          </a:p>
          <a:p>
            <a:pPr algn="l" marL="346710" indent="-346710">
              <a:lnSpc>
                <a:spcPct val="95000"/>
              </a:lnSpc>
              <a:spcAft>
                <a:spcPts val="1000"/>
              </a:spcAft>
            </a:pPr>
            <a:r>
              <a:rPr sz="2600" b="0">
                <a:solidFill>
                  <a:srgbClr val="000000"/>
                </a:solidFill>
                <a:latin typeface="Arial"/>
              </a:rPr>
              <a:t>•  New Jersey and California are both 100% exposed for opposite reasons, so one score hides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42194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42194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275639"/>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the number of other sites within 40 km (Spearman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066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Earthquake</a:t>
            </a:r>
          </a:p>
        </p:txBody>
      </p:sp>
      <p:sp>
        <p:nvSpPr>
          <p:cNvPr id="137" name="TextBox 136"/>
          <p:cNvSpPr txBox="1"/>
          <p:nvPr/>
        </p:nvSpPr>
        <p:spPr>
          <a:xfrm>
            <a:off x="3531380" y="1918066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72930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72930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Wildfire</a:t>
            </a:r>
          </a:p>
        </p:txBody>
      </p:sp>
      <p:sp>
        <p:nvSpPr>
          <p:cNvPr id="140" name="TextBox 139"/>
          <p:cNvSpPr txBox="1"/>
          <p:nvPr/>
        </p:nvSpPr>
        <p:spPr>
          <a:xfrm>
            <a:off x="3531380" y="1972930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27794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27794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Flood</a:t>
            </a:r>
          </a:p>
        </p:txBody>
      </p:sp>
      <p:sp>
        <p:nvSpPr>
          <p:cNvPr id="143" name="TextBox 142"/>
          <p:cNvSpPr txBox="1"/>
          <p:nvPr/>
        </p:nvSpPr>
        <p:spPr>
          <a:xfrm>
            <a:off x="3531380" y="2027794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flood layer, 1-in-100-year floodplain</a:t>
            </a:r>
          </a:p>
        </p:txBody>
      </p:sp>
      <p:sp>
        <p:nvSpPr>
          <p:cNvPr id="144" name="Rectangle 143"/>
          <p:cNvSpPr/>
          <p:nvPr/>
        </p:nvSpPr>
        <p:spPr>
          <a:xfrm>
            <a:off x="422419" y="2082658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82658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Water stress</a:t>
            </a:r>
          </a:p>
        </p:txBody>
      </p:sp>
      <p:sp>
        <p:nvSpPr>
          <p:cNvPr id="146" name="TextBox 145"/>
          <p:cNvSpPr txBox="1"/>
          <p:nvPr/>
        </p:nvSpPr>
        <p:spPr>
          <a:xfrm>
            <a:off x="3531380" y="2082658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river-basin scale</a:t>
            </a:r>
          </a:p>
        </p:txBody>
      </p:sp>
      <p:sp>
        <p:nvSpPr>
          <p:cNvPr id="147" name="Rectangle 146"/>
          <p:cNvSpPr/>
          <p:nvPr/>
        </p:nvSpPr>
        <p:spPr>
          <a:xfrm>
            <a:off x="422419" y="21375225"/>
            <a:ext cx="10191338" cy="548640"/>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375225"/>
            <a:ext cx="2926080" cy="548640"/>
          </a:xfrm>
          <a:prstGeom prst="rect">
            <a:avLst/>
          </a:prstGeom>
          <a:noFill/>
        </p:spPr>
        <p:txBody>
          <a:bodyPr wrap="square" anchor="ctr" tIns="36576" bIns="36576">
            <a:spAutoFit/>
          </a:bodyPr>
          <a:lstStyle/>
          <a:p>
            <a:pPr algn="l">
              <a:lnSpc>
                <a:spcPct val="95000"/>
              </a:lnSpc>
              <a:spcAft>
                <a:spcPts val="800"/>
              </a:spcAft>
            </a:pPr>
            <a:r>
              <a:rPr sz="2200" b="1">
                <a:solidFill>
                  <a:srgbClr val="000000"/>
                </a:solidFill>
                <a:latin typeface="Arial"/>
              </a:rPr>
              <a:t>Uncertainty</a:t>
            </a:r>
          </a:p>
        </p:txBody>
      </p:sp>
      <p:sp>
        <p:nvSpPr>
          <p:cNvPr id="149" name="TextBox 148"/>
          <p:cNvSpPr txBox="1"/>
          <p:nvPr/>
        </p:nvSpPr>
        <p:spPr>
          <a:xfrm>
            <a:off x="3531380" y="21375225"/>
            <a:ext cx="6899497" cy="548640"/>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015305"/>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Wildfire is buffered because 2,284 sites sit on non-burnable land, where the pixel under the building says nothing.</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634133"/>
            <a:ext cx="10781748" cy="4932334"/>
          </a:xfrm>
          <a:prstGeom prst="rect">
            <a:avLst/>
          </a:prstGeom>
        </p:spPr>
      </p:pic>
      <p:sp>
        <p:nvSpPr>
          <p:cNvPr id="160" name="TextBox 159"/>
          <p:cNvSpPr txBox="1"/>
          <p:nvPr/>
        </p:nvSpPr>
        <p:spPr>
          <a:xfrm>
            <a:off x="10965973" y="13639618"/>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5029824"/>
            <a:ext cx="10781748" cy="496595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Some of the largest clusters are stressed while their hazard maps read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a:t>
            </a:r>
          </a:p>
          <a:p>
            <a:pPr algn="l">
              <a:lnSpc>
                <a:spcPct val="95000"/>
              </a:lnSpc>
              <a:spcAft>
                <a:spcPts val="800"/>
              </a:spcAft>
            </a:pPr>
            <a:r>
              <a:rPr sz="2600" b="0">
                <a:solidFill>
                  <a:srgbClr val="000000"/>
                </a:solidFill>
                <a:latin typeface="Arial"/>
              </a:rPr>
              <a:t>Widening the wildfire buffer from 2.4 km to 5 km takes the wildfire count from 646 to 953, so that result is a statement about the buffer as much as about the site.</a:t>
            </a:r>
          </a:p>
        </p:txBody>
      </p:sp>
      <p:pic>
        <p:nvPicPr>
          <p:cNvPr id="162" name="Picture 161" descr="fig2_states.png"/>
          <p:cNvPicPr>
            <a:picLocks noChangeAspect="1"/>
          </p:cNvPicPr>
          <p:nvPr/>
        </p:nvPicPr>
        <p:blipFill>
          <a:blip r:embed="rId6"/>
          <a:stretch>
            <a:fillRect/>
          </a:stretch>
        </p:blipFill>
        <p:spPr>
          <a:xfrm>
            <a:off x="10965973" y="20087218"/>
            <a:ext cx="10781748" cy="3372490"/>
          </a:xfrm>
          <a:prstGeom prst="rect">
            <a:avLst/>
          </a:prstGeom>
        </p:spPr>
      </p:pic>
      <p:sp>
        <p:nvSpPr>
          <p:cNvPr id="163" name="TextBox 162"/>
          <p:cNvSpPr txBox="1"/>
          <p:nvPr/>
        </p:nvSpPr>
        <p:spPr>
          <a:xfrm>
            <a:off x="10965973" y="23514572"/>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The fleet piles up at both ends. Colour shows which hazard drives each state.</a:t>
            </a:r>
          </a:p>
        </p:txBody>
      </p:sp>
      <p:sp>
        <p:nvSpPr>
          <p:cNvPr id="164" name="Rectangle 163"/>
          <p:cNvSpPr/>
          <p:nvPr/>
        </p:nvSpPr>
        <p:spPr>
          <a:xfrm>
            <a:off x="22090621" y="9084634"/>
            <a:ext cx="10397100" cy="2043811"/>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9084634"/>
            <a:ext cx="128016" cy="2043811"/>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9157786"/>
            <a:ext cx="9985620" cy="1897507"/>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robustness checks</a:t>
            </a:r>
          </a:p>
          <a:p>
            <a:pPr algn="l">
              <a:lnSpc>
                <a:spcPct val="95000"/>
              </a:lnSpc>
              <a:spcAft>
                <a:spcPts val="800"/>
              </a:spcAft>
            </a:pPr>
            <a:r>
              <a:rPr sz="2400" b="0">
                <a:solidFill>
                  <a:srgbClr val="000000"/>
                </a:solidFill>
                <a:latin typeface="Arial"/>
              </a:rPr>
              <a:t>Sampling across a whole footprint instead of its centre changed the answer for 29 of 326 comparable sites. Taller buildings looked more exposed nationally, but that vanished within states.</a:t>
            </a:r>
          </a:p>
        </p:txBody>
      </p:sp>
      <p:pic>
        <p:nvPicPr>
          <p:cNvPr id="167" name="Picture 166" descr="fig3_confidence.png"/>
          <p:cNvPicPr>
            <a:picLocks noChangeAspect="1"/>
          </p:cNvPicPr>
          <p:nvPr/>
        </p:nvPicPr>
        <p:blipFill>
          <a:blip r:embed="rId7"/>
          <a:stretch>
            <a:fillRect/>
          </a:stretch>
        </p:blipFill>
        <p:spPr>
          <a:xfrm>
            <a:off x="22090621" y="11256461"/>
            <a:ext cx="10397100" cy="3227243"/>
          </a:xfrm>
          <a:prstGeom prst="rect">
            <a:avLst/>
          </a:prstGeom>
        </p:spPr>
      </p:pic>
      <p:sp>
        <p:nvSpPr>
          <p:cNvPr id="168" name="TextBox 167"/>
          <p:cNvSpPr txBox="1"/>
          <p:nvPr/>
        </p:nvSpPr>
        <p:spPr>
          <a:xfrm>
            <a:off x="22090621" y="14520279"/>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Wildfire class under coordinate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
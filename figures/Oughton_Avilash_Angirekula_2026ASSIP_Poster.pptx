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16448774" y="10597775"/>
            <a:ext cx="232029" cy="14859"/>
          </a:xfrm>
          <a:prstGeom prst="rect">
            <a:avLst/>
          </a:prstGeom>
          <a:noFill/>
          <a:ln>
            <a:noFill/>
          </a:ln>
        </p:spPr>
      </p:pic>
      <p:sp>
        <p:nvSpPr>
          <p:cNvPr id="108" name="Google Shape;108;p13"/>
          <p:cNvSpPr txBox="1"/>
          <p:nvPr/>
        </p:nvSpPr>
        <p:spPr>
          <a:xfrm>
            <a:off x="11411573" y="139227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0" name="Google Shape;110;p13"/>
          <p:cNvSpPr txBox="1"/>
          <p:nvPr/>
        </p:nvSpPr>
        <p:spPr>
          <a:xfrm>
            <a:off x="17388319" y="144713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1" name="Google Shape;111;p13"/>
          <p:cNvSpPr txBox="1"/>
          <p:nvPr/>
        </p:nvSpPr>
        <p:spPr>
          <a:xfrm>
            <a:off x="21747721" y="560171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2" name="Google Shape;112;p13"/>
          <p:cNvSpPr txBox="1"/>
          <p:nvPr/>
        </p:nvSpPr>
        <p:spPr>
          <a:xfrm>
            <a:off x="21503119" y="52359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3" name="Google Shape;113;p13"/>
          <p:cNvSpPr txBox="1"/>
          <p:nvPr/>
        </p:nvSpPr>
        <p:spPr>
          <a:xfrm>
            <a:off x="21404821" y="55102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31" name="Google Shape;131;p13"/>
          <p:cNvSpPr txBox="1"/>
          <p:nvPr/>
        </p:nvSpPr>
        <p:spPr>
          <a:xfrm>
            <a:off x="376700" y="5251774"/>
            <a:ext cx="10282778" cy="4371466"/>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AI and cloud demand has concentrated US computing into a few dozen metro clusters that face earthquakes, wildfire and flooding.</a:t>
            </a:r>
            <a:endParaRPr sz="2600" dirty="0">
              <a:latin typeface="Palatino"/>
              <a:ea typeface="Palatino"/>
              <a:cs typeface="Palatino"/>
              <a:sym typeface="Palatino"/>
            </a:endParaRPr>
          </a:p>
          <a:p>
            <a:pPr algn="l" marL="346710" indent="-346710">
              <a:lnSpc>
                <a:spcPct val="95000"/>
              </a:lnSpc>
              <a:spcAft>
                <a:spcPts val="1000"/>
              </a:spcAft>
            </a:pPr>
            <a:r>
              <a:rPr sz="2600" b="0">
                <a:solidFill>
                  <a:srgbClr val="000000"/>
                </a:solidFill>
                <a:latin typeface="Arial"/>
              </a:rPr>
              <a:t>•  Existing sources are proprietary, or give city-level coordinates never checked against a building.</a:t>
            </a:r>
          </a:p>
          <a:p>
            <a:pPr algn="l" marL="346710" indent="-346710">
              <a:lnSpc>
                <a:spcPct val="95000"/>
              </a:lnSpc>
              <a:spcAft>
                <a:spcPts val="1000"/>
              </a:spcAft>
            </a:pPr>
            <a:r>
              <a:rPr sz="2600" b="0">
                <a:solidFill>
                  <a:srgbClr val="000000"/>
                </a:solidFill>
                <a:latin typeface="Arial"/>
              </a:rPr>
              <a:t>•  We built a free, public, building-level inventory of the contiguous US, and tested how much the answer moves when a coordinate is wrong.</a:t>
            </a:r>
          </a:p>
          <a:p>
            <a:pPr algn="l" marL="346710" indent="-346710">
              <a:lnSpc>
                <a:spcPct val="95000"/>
              </a:lnSpc>
              <a:spcAft>
                <a:spcPts val="1000"/>
              </a:spcAft>
            </a:pPr>
            <a:r>
              <a:rPr sz="2600" b="0">
                <a:solidFill>
                  <a:srgbClr val="000000"/>
                </a:solidFill>
                <a:latin typeface="Arial"/>
              </a:rPr>
              <a:t>•  We measured exposure, meaning whether a site lies in a hazard zone. We did not model damage, so nothing here is a loss estimate.</a:t>
            </a:r>
          </a:p>
        </p:txBody>
      </p:sp>
      <p:sp>
        <p:nvSpPr>
          <p:cNvPr id="106" name="Google Shape;106;p13"/>
          <p:cNvSpPr txBox="1"/>
          <p:nvPr/>
        </p:nvSpPr>
        <p:spPr>
          <a:xfrm>
            <a:off x="27127967" y="263118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7" name="Google Shape;107;p13"/>
          <p:cNvSpPr txBox="1"/>
          <p:nvPr/>
        </p:nvSpPr>
        <p:spPr>
          <a:xfrm>
            <a:off x="10774921" y="140141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9" name="Google Shape;109;p13"/>
          <p:cNvSpPr txBox="1"/>
          <p:nvPr/>
        </p:nvSpPr>
        <p:spPr>
          <a:xfrm>
            <a:off x="11265269" y="139684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4" name="Google Shape;114;p13"/>
          <p:cNvSpPr txBox="1"/>
          <p:nvPr/>
        </p:nvSpPr>
        <p:spPr>
          <a:xfrm>
            <a:off x="3826040" y="2264134"/>
            <a:ext cx="25266317" cy="1192930"/>
          </a:xfrm>
          <a:prstGeom prst="rect">
            <a:avLst/>
          </a:prstGeom>
          <a:solidFill>
            <a:schemeClr val="lt1"/>
          </a:solidFill>
          <a:ln>
            <a:noFill/>
          </a:ln>
        </p:spPr>
        <p:txBody>
          <a:bodyPr spcFirstLastPara="1" wrap="square" anchor="t" anchorCtr="0"/>
          <a:lstStyle/>
          <a:p>
            <a:pPr algn="ctr">
              <a:lnSpc>
                <a:spcPct val="95000"/>
              </a:lnSpc>
              <a:spcAft>
                <a:spcPts val="1000"/>
              </a:spcAft>
            </a:pPr>
            <a:r>
              <a:rPr sz="3800" b="1">
                <a:solidFill>
                  <a:srgbClr val="000000"/>
                </a:solidFill>
                <a:latin typeface="Arial"/>
              </a:rPr>
              <a:t>Avilash Angirekula¹, Dennies Bor¹, Edward J. Oughton¹</a:t>
            </a:r>
            <a:endParaRPr sz="3600" baseline="30000" dirty="0">
              <a:solidFill>
                <a:schemeClr val="dk1"/>
              </a:solidFill>
              <a:latin typeface="Arial" panose="020B0604020202020204" pitchFamily="34" charset="0"/>
              <a:ea typeface="Helvetica Neue"/>
              <a:cs typeface="Arial" panose="020B0604020202020204" pitchFamily="34" charset="0"/>
              <a:sym typeface="Helvetica Neue"/>
            </a:endParaRPr>
          </a:p>
        </p:txBody>
      </p:sp>
      <p:sp>
        <p:nvSpPr>
          <p:cNvPr id="119" name="Google Shape;119;p13"/>
          <p:cNvSpPr txBox="1"/>
          <p:nvPr/>
        </p:nvSpPr>
        <p:spPr>
          <a:xfrm>
            <a:off x="29357053" y="435681"/>
            <a:ext cx="3130666" cy="3656905"/>
          </a:xfrm>
          <a:prstGeom prst="rect">
            <a:avLst/>
          </a:prstGeom>
          <a:solidFill>
            <a:srgbClr val="FFCC00">
              <a:alpha val="84314"/>
            </a:srgbClr>
          </a:solidFill>
          <a:ln w="76200" cap="flat" cmpd="thickThin">
            <a:solidFill>
              <a:schemeClr val="lt1"/>
            </a:solidFill>
            <a:prstDash val="solid"/>
            <a:round/>
            <a:headEnd type="none" w="sm" len="sm"/>
            <a:tailEnd type="none" w="sm" len="sm"/>
          </a:ln>
        </p:spPr>
        <p:txBody>
          <a:bodyPr spcFirstLastPara="1" wrap="square" lIns="65826" tIns="32904" rIns="65826" bIns="32904" anchor="ctr" anchorCtr="0">
            <a:noAutofit/>
          </a:bodyPr>
          <a:lstStyle/>
          <a:p>
            <a:pPr algn="ctr"/>
            <a:r>
              <a:rPr lang="en-US" sz="3240" b="1" dirty="0">
                <a:solidFill>
                  <a:srgbClr val="006600"/>
                </a:solidFill>
                <a:latin typeface="Arial" panose="020B0604020202020204" pitchFamily="34" charset="0"/>
                <a:cs typeface="Arial" panose="020B0604020202020204" pitchFamily="34" charset="0"/>
              </a:rPr>
              <a:t>Aspiring Scientists Summer Internship Program </a:t>
            </a:r>
          </a:p>
          <a:p>
            <a:pPr algn="ctr"/>
            <a:r>
              <a:rPr lang="en-US" sz="3240" b="1" dirty="0">
                <a:solidFill>
                  <a:srgbClr val="006600"/>
                </a:solidFill>
                <a:latin typeface="Arial" panose="020B0604020202020204" pitchFamily="34" charset="0"/>
                <a:cs typeface="Arial" panose="020B0604020202020204" pitchFamily="34" charset="0"/>
              </a:rPr>
              <a:t>2026</a:t>
            </a:r>
            <a:endParaRPr sz="3240" b="1" dirty="0">
              <a:solidFill>
                <a:srgbClr val="006600"/>
              </a:solidFill>
              <a:latin typeface="Arial" panose="020B0604020202020204" pitchFamily="34" charset="0"/>
              <a:cs typeface="Arial" panose="020B0604020202020204" pitchFamily="34" charset="0"/>
            </a:endParaRPr>
          </a:p>
        </p:txBody>
      </p:sp>
      <p:sp>
        <p:nvSpPr>
          <p:cNvPr id="73" name="Google Shape;113;p13">
            <a:extLst>
              <a:ext uri="{FF2B5EF4-FFF2-40B4-BE49-F238E27FC236}">
                <a16:creationId xmlns:a16="http://schemas.microsoft.com/office/drawing/2014/main" id="{B7028C15-A27E-415D-88A6-B08B48F45D43}"/>
              </a:ext>
            </a:extLst>
          </p:cNvPr>
          <p:cNvSpPr txBox="1"/>
          <p:nvPr/>
        </p:nvSpPr>
        <p:spPr>
          <a:xfrm>
            <a:off x="3826040" y="3431258"/>
            <a:ext cx="25266317" cy="703207"/>
          </a:xfrm>
          <a:prstGeom prst="rect">
            <a:avLst/>
          </a:prstGeom>
          <a:solidFill>
            <a:schemeClr val="lt1"/>
          </a:solidFill>
          <a:ln>
            <a:noFill/>
          </a:ln>
        </p:spPr>
        <p:txBody>
          <a:bodyPr spcFirstLastPara="1" wrap="square" anchor="t" anchorCtr="0"/>
          <a:lstStyle/>
          <a:p>
            <a:pPr algn="ctr">
              <a:lnSpc>
                <a:spcPct val="95000"/>
              </a:lnSpc>
              <a:spcAft>
                <a:spcPts val="1000"/>
              </a:spcAft>
            </a:pPr>
            <a:r>
              <a:rPr sz="2600" b="0">
                <a:solidFill>
                  <a:srgbClr val="333333"/>
                </a:solidFill>
                <a:latin typeface="Arial"/>
              </a:rPr>
              <a:t>¹Department of Geography and Geoinformation Sciences, College of Science, George Mason University</a:t>
            </a:r>
            <a:endParaRPr sz="2880" dirty="0">
              <a:solidFill>
                <a:schemeClr val="dk1"/>
              </a:solidFill>
              <a:latin typeface="Arial" panose="020B0604020202020204" pitchFamily="34" charset="0"/>
              <a:ea typeface="Times New Roman"/>
              <a:cs typeface="Arial" panose="020B0604020202020204" pitchFamily="34" charset="0"/>
              <a:sym typeface="Times New Roman"/>
            </a:endParaRPr>
          </a:p>
        </p:txBody>
      </p:sp>
      <p:sp>
        <p:nvSpPr>
          <p:cNvPr id="3" name="Rectangle 2">
            <a:extLst>
              <a:ext uri="{FF2B5EF4-FFF2-40B4-BE49-F238E27FC236}">
                <a16:creationId xmlns:a16="http://schemas.microsoft.com/office/drawing/2014/main" id="{5414C21D-6153-426C-A648-2F7D91B0A3F2}"/>
              </a:ext>
            </a:extLst>
          </p:cNvPr>
          <p:cNvSpPr/>
          <p:nvPr/>
        </p:nvSpPr>
        <p:spPr>
          <a:xfrm>
            <a:off x="430679" y="4389682"/>
            <a:ext cx="10228799"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Background</a:t>
            </a:r>
          </a:p>
        </p:txBody>
      </p:sp>
      <p:sp>
        <p:nvSpPr>
          <p:cNvPr id="6" name="Rectangle 5">
            <a:extLst>
              <a:ext uri="{FF2B5EF4-FFF2-40B4-BE49-F238E27FC236}">
                <a16:creationId xmlns:a16="http://schemas.microsoft.com/office/drawing/2014/main" id="{8BB275A5-62F7-1742-4380-8AB1A17FAF66}"/>
              </a:ext>
            </a:extLst>
          </p:cNvPr>
          <p:cNvSpPr/>
          <p:nvPr/>
        </p:nvSpPr>
        <p:spPr>
          <a:xfrm>
            <a:off x="10965973" y="4386008"/>
            <a:ext cx="10781748" cy="85752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Results</a:t>
            </a:r>
          </a:p>
        </p:txBody>
      </p:sp>
      <p:sp>
        <p:nvSpPr>
          <p:cNvPr id="7" name="Rectangle 6">
            <a:extLst>
              <a:ext uri="{FF2B5EF4-FFF2-40B4-BE49-F238E27FC236}">
                <a16:creationId xmlns:a16="http://schemas.microsoft.com/office/drawing/2014/main" id="{822515BF-9734-0282-2B15-A32512AD598B}"/>
              </a:ext>
            </a:extLst>
          </p:cNvPr>
          <p:cNvSpPr/>
          <p:nvPr/>
        </p:nvSpPr>
        <p:spPr>
          <a:xfrm>
            <a:off x="22090619" y="4386009"/>
            <a:ext cx="10397100" cy="809607"/>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Conclusions</a:t>
            </a:r>
          </a:p>
        </p:txBody>
      </p:sp>
      <p:sp>
        <p:nvSpPr>
          <p:cNvPr id="8" name="Rectangle 7">
            <a:extLst>
              <a:ext uri="{FF2B5EF4-FFF2-40B4-BE49-F238E27FC236}">
                <a16:creationId xmlns:a16="http://schemas.microsoft.com/office/drawing/2014/main" id="{D4731E14-0938-740A-787A-D2B6693BCB6C}"/>
              </a:ext>
            </a:extLst>
          </p:cNvPr>
          <p:cNvSpPr/>
          <p:nvPr/>
        </p:nvSpPr>
        <p:spPr>
          <a:xfrm>
            <a:off x="430679" y="14378013"/>
            <a:ext cx="10228799" cy="82748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Materials and Methods</a:t>
            </a:r>
          </a:p>
        </p:txBody>
      </p:sp>
      <p:sp>
        <p:nvSpPr>
          <p:cNvPr id="9" name="Rectangle 8">
            <a:extLst>
              <a:ext uri="{FF2B5EF4-FFF2-40B4-BE49-F238E27FC236}">
                <a16:creationId xmlns:a16="http://schemas.microsoft.com/office/drawing/2014/main" id="{2AEA7A76-8036-99F5-636B-AB0CDCB6D5FE}"/>
              </a:ext>
            </a:extLst>
          </p:cNvPr>
          <p:cNvSpPr/>
          <p:nvPr/>
        </p:nvSpPr>
        <p:spPr>
          <a:xfrm>
            <a:off x="22090621" y="15371883"/>
            <a:ext cx="10451076"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Major Citations</a:t>
            </a:r>
          </a:p>
        </p:txBody>
      </p:sp>
      <p:sp>
        <p:nvSpPr>
          <p:cNvPr id="10" name="Rectangle 9">
            <a:extLst>
              <a:ext uri="{FF2B5EF4-FFF2-40B4-BE49-F238E27FC236}">
                <a16:creationId xmlns:a16="http://schemas.microsoft.com/office/drawing/2014/main" id="{51247692-30D3-AF09-61BE-4D4CC0F1B37F}"/>
              </a:ext>
            </a:extLst>
          </p:cNvPr>
          <p:cNvSpPr/>
          <p:nvPr/>
        </p:nvSpPr>
        <p:spPr>
          <a:xfrm>
            <a:off x="22061034" y="20737925"/>
            <a:ext cx="10480664"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Acknowledgements</a:t>
            </a:r>
          </a:p>
        </p:txBody>
      </p:sp>
      <p:sp>
        <p:nvSpPr>
          <p:cNvPr id="11" name="Google Shape;131;p13">
            <a:extLst>
              <a:ext uri="{FF2B5EF4-FFF2-40B4-BE49-F238E27FC236}">
                <a16:creationId xmlns:a16="http://schemas.microsoft.com/office/drawing/2014/main" id="{47302C31-0708-183B-7F10-E19B6238F926}"/>
              </a:ext>
            </a:extLst>
          </p:cNvPr>
          <p:cNvSpPr txBox="1"/>
          <p:nvPr/>
        </p:nvSpPr>
        <p:spPr>
          <a:xfrm>
            <a:off x="376700" y="15205502"/>
            <a:ext cx="10282778" cy="3883723"/>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600" b="0">
                <a:solidFill>
                  <a:srgbClr val="000000"/>
                </a:solidFill>
                <a:latin typeface="Arial"/>
              </a:rPr>
              <a:t>We merged OpenStreetMap, PeeringDB and Wikidata into one record per site across the contiguous US, matching on name and distance, with written evidence kept for all 194 merges.</a:t>
            </a:r>
          </a:p>
          <a:p>
            <a:pPr algn="l">
              <a:lnSpc>
                <a:spcPct val="95000"/>
              </a:lnSpc>
              <a:spcAft>
                <a:spcPts val="1000"/>
              </a:spcAft>
            </a:pPr>
            <a:r>
              <a:rPr sz="2600" b="0">
                <a:solidFill>
                  <a:srgbClr val="000000"/>
                </a:solidFill>
                <a:latin typeface="Arial"/>
              </a:rPr>
              <a:t>Against FEMA USA Structures footprints, 1,681 coordinates fall inside a building, 993 match the nearest and 22 have no match. A second non-OSM source confirmed 1,546, and we re-checked the 1,150 least certain with an AI-assisted pipeline we then reviewed.</a:t>
            </a:r>
          </a:p>
          <a:p>
            <a:pPr algn="l">
              <a:lnSpc>
                <a:spcPct val="95000"/>
              </a:lnSpc>
              <a:spcAft>
                <a:spcPts val="1000"/>
              </a:spcAft>
            </a:pPr>
            <a:r>
              <a:rPr sz="2600" b="0">
                <a:solidFill>
                  <a:srgbClr val="000000"/>
                </a:solidFill>
                <a:latin typeface="Arial"/>
              </a:rPr>
              <a:t>Our first seismic layer failed validation against USGS reference values (22 of 150 sites within 10%), so we replaced it:</a:t>
            </a:r>
          </a:p>
        </p:txBody>
      </p:sp>
      <p:sp>
        <p:nvSpPr>
          <p:cNvPr id="12" name="Google Shape;131;p13">
            <a:extLst>
              <a:ext uri="{FF2B5EF4-FFF2-40B4-BE49-F238E27FC236}">
                <a16:creationId xmlns:a16="http://schemas.microsoft.com/office/drawing/2014/main" id="{65A629E7-2609-D28B-DA5D-ABE9038EE679}"/>
              </a:ext>
            </a:extLst>
          </p:cNvPr>
          <p:cNvSpPr txBox="1"/>
          <p:nvPr/>
        </p:nvSpPr>
        <p:spPr>
          <a:xfrm>
            <a:off x="10965973" y="6952558"/>
            <a:ext cx="10781748" cy="1590135"/>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900" b="1">
                <a:solidFill>
                  <a:srgbClr val="000000"/>
                </a:solidFill>
                <a:latin typeface="Arial"/>
              </a:rPr>
              <a:t>Hazard and water stress pick out largely different buildings. Counting both raises the share under a physical constraint from 35% to 56%.</a:t>
            </a:r>
          </a:p>
        </p:txBody>
      </p:sp>
      <p:sp>
        <p:nvSpPr>
          <p:cNvPr id="14" name="Rectangle 13">
            <a:extLst>
              <a:ext uri="{FF2B5EF4-FFF2-40B4-BE49-F238E27FC236}">
                <a16:creationId xmlns:a16="http://schemas.microsoft.com/office/drawing/2014/main" id="{161551E7-54AC-5EDA-0356-93EDDEC4719A}"/>
              </a:ext>
            </a:extLst>
          </p:cNvPr>
          <p:cNvSpPr/>
          <p:nvPr/>
        </p:nvSpPr>
        <p:spPr>
          <a:xfrm>
            <a:off x="3826040" y="425006"/>
            <a:ext cx="25266318" cy="1674193"/>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wrap="square"/>
          <a:lstStyle/>
          <a:p>
            <a:pPr algn="ctr">
              <a:lnSpc>
                <a:spcPct val="92000"/>
              </a:lnSpc>
              <a:spcAft>
                <a:spcPts val="1000"/>
              </a:spcAft>
            </a:pPr>
            <a:r>
              <a:rPr sz="7800" b="1">
                <a:solidFill>
                  <a:srgbClr val="000000"/>
                </a:solidFill>
                <a:latin typeface="Arial"/>
              </a:rPr>
              <a:t>A Multi-Hazard Assessment of 2,696 US Data Centers</a:t>
            </a:r>
          </a:p>
        </p:txBody>
      </p:sp>
      <p:sp>
        <p:nvSpPr>
          <p:cNvPr id="15" name="Google Shape;131;p13">
            <a:extLst>
              <a:ext uri="{FF2B5EF4-FFF2-40B4-BE49-F238E27FC236}">
                <a16:creationId xmlns:a16="http://schemas.microsoft.com/office/drawing/2014/main" id="{E8AE6323-EAA4-4495-A94C-00059D534A29}"/>
              </a:ext>
            </a:extLst>
          </p:cNvPr>
          <p:cNvSpPr txBox="1"/>
          <p:nvPr/>
        </p:nvSpPr>
        <p:spPr>
          <a:xfrm>
            <a:off x="22090621" y="5251774"/>
            <a:ext cx="10397100" cy="3649979"/>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 single national rate is close to meaningless. Only 7 of 32 states with 20 or more sites fall between 10% and 60% exposed.</a:t>
            </a:r>
          </a:p>
          <a:p>
            <a:pPr algn="l" marL="346710" indent="-346710">
              <a:lnSpc>
                <a:spcPct val="95000"/>
              </a:lnSpc>
              <a:spcAft>
                <a:spcPts val="1000"/>
              </a:spcAft>
            </a:pPr>
            <a:r>
              <a:rPr sz="2600" b="0">
                <a:solidFill>
                  <a:srgbClr val="000000"/>
                </a:solidFill>
                <a:latin typeface="Arial"/>
              </a:rPr>
              <a:t>•  We did not measure any site's water use, but the basins under the largest clusters are already over-drawn, and a hazard screen misses them.</a:t>
            </a:r>
          </a:p>
          <a:p>
            <a:pPr algn="l" marL="346710" indent="-346710">
              <a:lnSpc>
                <a:spcPct val="95000"/>
              </a:lnSpc>
              <a:spcAft>
                <a:spcPts val="1000"/>
              </a:spcAft>
            </a:pPr>
            <a:r>
              <a:rPr sz="2600" b="0">
                <a:solidFill>
                  <a:srgbClr val="000000"/>
                </a:solidFill>
                <a:latin typeface="Arial"/>
              </a:rPr>
              <a:t>•  New Jersey and California are both 100% exposed for opposite reasons, so one score hides what a site faces.</a:t>
            </a:r>
          </a:p>
          <a:p>
            <a:pPr algn="l" marL="346710" indent="-346710">
              <a:lnSpc>
                <a:spcPct val="95000"/>
              </a:lnSpc>
              <a:spcAft>
                <a:spcPts val="1000"/>
              </a:spcAft>
            </a:pPr>
            <a:r>
              <a:rPr sz="2600" b="0">
                <a:solidFill>
                  <a:srgbClr val="000000"/>
                </a:solidFill>
                <a:latin typeface="Arial"/>
              </a:rPr>
              <a:t>•  Next: fragility curves, to turn exposure into loss.</a:t>
            </a:r>
          </a:p>
        </p:txBody>
      </p:sp>
      <p:sp>
        <p:nvSpPr>
          <p:cNvPr id="16" name="Google Shape;131;p13">
            <a:extLst>
              <a:ext uri="{FF2B5EF4-FFF2-40B4-BE49-F238E27FC236}">
                <a16:creationId xmlns:a16="http://schemas.microsoft.com/office/drawing/2014/main" id="{9992E202-91ED-B6FF-C77B-9E72DD0EB5FB}"/>
              </a:ext>
            </a:extLst>
          </p:cNvPr>
          <p:cNvSpPr txBox="1"/>
          <p:nvPr/>
        </p:nvSpPr>
        <p:spPr>
          <a:xfrm>
            <a:off x="22090621" y="16218476"/>
            <a:ext cx="10418660" cy="3646932"/>
          </a:xfrm>
          <a:prstGeom prst="rect">
            <a:avLst/>
          </a:prstGeom>
          <a:solidFill>
            <a:schemeClr val="bg1"/>
          </a:solidFill>
          <a:ln>
            <a:noFill/>
          </a:ln>
        </p:spPr>
        <p:txBody>
          <a:bodyPr spcFirstLastPara="1" wrap="square" anchor="t" anchorCtr="0"/>
          <a:lstStyle/>
          <a:p>
            <a:pPr algn="l">
              <a:lnSpc>
                <a:spcPct val="90000"/>
              </a:lnSpc>
              <a:spcAft>
                <a:spcPts val="1000"/>
              </a:spcAft>
              <a:buClr>
                <a:schemeClr val="dk1"/>
              </a:buClr>
              <a:buSzPts val="1100"/>
            </a:pPr>
            <a:r>
              <a:rPr sz="2000" b="0">
                <a:solidFill>
                  <a:srgbClr val="333333"/>
                </a:solidFill>
                <a:latin typeface="Arial"/>
              </a:rPr>
              <a:t>Dillon, G.K. (2023) Wildfire Hazard Potential for the United States, 270-m, v2023. USDA Forest Service. doi:10.2737/RDS-2015-0047-4</a:t>
            </a:r>
            <a:endParaRPr sz="2600" i="1" dirty="0">
              <a:latin typeface="Arial" panose="020B0604020202020204" pitchFamily="34" charset="0"/>
              <a:ea typeface="Palatino"/>
              <a:cs typeface="Arial" panose="020B0604020202020204" pitchFamily="34" charset="0"/>
              <a:sym typeface="Palatino"/>
            </a:endParaRPr>
          </a:p>
          <a:p>
            <a:pPr algn="l">
              <a:lnSpc>
                <a:spcPct val="90000"/>
              </a:lnSpc>
              <a:spcAft>
                <a:spcPts val="1000"/>
              </a:spcAft>
            </a:pPr>
            <a:r>
              <a:rPr sz="2000" b="0">
                <a:solidFill>
                  <a:srgbClr val="333333"/>
                </a:solidFill>
                <a:latin typeface="Arial"/>
              </a:rPr>
              <a:t>USGS (2026) ASCE 7-22 Seismic Design Maps web service. earthquake.usgs.gov/ws/designmaps</a:t>
            </a:r>
          </a:p>
          <a:p>
            <a:pPr algn="l">
              <a:lnSpc>
                <a:spcPct val="90000"/>
              </a:lnSpc>
              <a:spcAft>
                <a:spcPts val="1000"/>
              </a:spcAft>
            </a:pPr>
            <a:r>
              <a:rPr sz="2000" b="0">
                <a:solidFill>
                  <a:srgbClr val="333333"/>
                </a:solidFill>
                <a:latin typeface="Arial"/>
              </a:rPr>
              <a:t>FEMA (2026) National Flood Hazard Layer. hazards.fema.gov</a:t>
            </a:r>
          </a:p>
          <a:p>
            <a:pPr algn="l">
              <a:lnSpc>
                <a:spcPct val="90000"/>
              </a:lnSpc>
              <a:spcAft>
                <a:spcPts val="1000"/>
              </a:spcAft>
            </a:pPr>
            <a:r>
              <a:rPr sz="2000" b="0">
                <a:solidFill>
                  <a:srgbClr val="333333"/>
                </a:solidFill>
                <a:latin typeface="Arial"/>
              </a:rPr>
              <a:t>Oughton, E.J. and Weigel, R. (2026) A Comparative Multi-Hazard Risk Assessment of the US High-Voltage Transmission Network. Zenodo. doi:10.5281/zenodo.20331026 (CC BY 4.0)</a:t>
            </a:r>
          </a:p>
          <a:p>
            <a:pPr algn="l">
              <a:lnSpc>
                <a:spcPct val="90000"/>
              </a:lnSpc>
              <a:spcAft>
                <a:spcPts val="1000"/>
              </a:spcAft>
            </a:pPr>
            <a:r>
              <a:rPr sz="2000" b="0">
                <a:solidFill>
                  <a:srgbClr val="333333"/>
                </a:solidFill>
                <a:latin typeface="Arial"/>
              </a:rPr>
              <a:t>FEMA and ORNL (2024) USA Structures. gis.fema.gov</a:t>
            </a:r>
          </a:p>
          <a:p>
            <a:pPr algn="l">
              <a:lnSpc>
                <a:spcPct val="90000"/>
              </a:lnSpc>
              <a:spcAft>
                <a:spcPts val="1000"/>
              </a:spcAft>
            </a:pPr>
            <a:r>
              <a:rPr sz="2000" b="0">
                <a:solidFill>
                  <a:srgbClr val="333333"/>
                </a:solidFill>
                <a:latin typeface="Arial"/>
              </a:rPr>
              <a:t>WRI (2023) Aqueduct 4.0 Water Risk Atlas.</a:t>
            </a:r>
          </a:p>
        </p:txBody>
      </p:sp>
      <p:sp>
        <p:nvSpPr>
          <p:cNvPr id="17" name="Google Shape;131;p13">
            <a:extLst>
              <a:ext uri="{FF2B5EF4-FFF2-40B4-BE49-F238E27FC236}">
                <a16:creationId xmlns:a16="http://schemas.microsoft.com/office/drawing/2014/main" id="{305E6470-FBE8-3798-FA5A-2630CB85C23B}"/>
              </a:ext>
            </a:extLst>
          </p:cNvPr>
          <p:cNvSpPr txBox="1"/>
          <p:nvPr/>
        </p:nvSpPr>
        <p:spPr>
          <a:xfrm>
            <a:off x="22061036" y="21636297"/>
            <a:ext cx="10480664" cy="121551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000" b="0">
                <a:solidFill>
                  <a:srgbClr val="333333"/>
                </a:solidFill>
                <a:latin typeface="Arial"/>
              </a:rPr>
              <a:t>This research was made possible through the support of George Mason University's College of Science, which supports the ASSIP Program, and by the NCAR multi-hazards project.</a:t>
            </a:r>
            <a:endParaRPr sz="2600" i="1" dirty="0">
              <a:latin typeface="Arial" panose="020B0604020202020204" pitchFamily="34" charset="0"/>
              <a:ea typeface="Palatino"/>
              <a:cs typeface="Arial" panose="020B0604020202020204" pitchFamily="34" charset="0"/>
              <a:sym typeface="Palatino"/>
            </a:endParaRPr>
          </a:p>
        </p:txBody>
      </p:sp>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32" name="Rectangle 131"/>
          <p:cNvSpPr/>
          <p:nvPr/>
        </p:nvSpPr>
        <p:spPr>
          <a:xfrm>
            <a:off x="376700" y="9860984"/>
            <a:ext cx="10282778" cy="4421943"/>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376700" y="9860984"/>
            <a:ext cx="128016" cy="4421943"/>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14444" y="9934136"/>
            <a:ext cx="9871298" cy="4275639"/>
          </a:xfrm>
          <a:prstGeom prst="rect">
            <a:avLst/>
          </a:prstGeom>
          <a:noFill/>
        </p:spPr>
        <p:txBody>
          <a:bodyPr wrap="square" anchor="t" tIns="36576" bIns="36576">
            <a:spAutoFit/>
          </a:bodyPr>
          <a:lstStyle/>
          <a:p>
            <a:pPr algn="l">
              <a:lnSpc>
                <a:spcPct val="95000"/>
              </a:lnSpc>
              <a:spcAft>
                <a:spcPts val="800"/>
              </a:spcAft>
            </a:pPr>
            <a:r>
              <a:rPr sz="2300" b="1">
                <a:solidFill>
                  <a:srgbClr val="000000"/>
                </a:solidFill>
                <a:latin typeface="Arial"/>
              </a:rPr>
              <a:t>Limitations</a:t>
            </a:r>
          </a:p>
          <a:p>
            <a:pPr algn="l" marL="293370" indent="-293370">
              <a:lnSpc>
                <a:spcPct val="95000"/>
              </a:lnSpc>
              <a:spcAft>
                <a:spcPts val="800"/>
              </a:spcAft>
            </a:pPr>
            <a:r>
              <a:rPr sz="2200" b="0">
                <a:solidFill>
                  <a:srgbClr val="000000"/>
                </a:solidFill>
                <a:latin typeface="Arial"/>
              </a:rPr>
              <a:t>•  Coverage is uneven. 83% of our Virginia sites come from OpenStreetMap against 48% of our California ones, so part of the gap between states reflects who did the mapping.</a:t>
            </a:r>
          </a:p>
          <a:p>
            <a:pPr algn="l" marL="293370" indent="-293370">
              <a:lnSpc>
                <a:spcPct val="95000"/>
              </a:lnSpc>
              <a:spcAft>
                <a:spcPts val="800"/>
              </a:spcAft>
            </a:pPr>
            <a:r>
              <a:rPr sz="2200" b="0">
                <a:solidFill>
                  <a:srgbClr val="000000"/>
                </a:solidFill>
                <a:latin typeface="Arial"/>
              </a:rPr>
              <a:t>•  Hail and wind come from eyewitness reports, so within a state their rates track the number of other sites within 40 km (Spearman 0.39 and 0.34). We left both out, along with lightning, tornado and hurricane.</a:t>
            </a:r>
          </a:p>
          <a:p>
            <a:pPr algn="l" marL="293370" indent="-293370">
              <a:lnSpc>
                <a:spcPct val="95000"/>
              </a:lnSpc>
              <a:spcAft>
                <a:spcPts val="800"/>
              </a:spcAft>
            </a:pPr>
            <a:r>
              <a:rPr sz="2200" b="0">
                <a:solidFill>
                  <a:srgbClr val="000000"/>
                </a:solidFill>
                <a:latin typeface="Arial"/>
              </a:rPr>
              <a:t>•  No public source lists power capacity, so a server room counts the same as a 100 MW campus.</a:t>
            </a:r>
          </a:p>
          <a:p>
            <a:pPr algn="l" marL="293370" indent="-293370">
              <a:lnSpc>
                <a:spcPct val="95000"/>
              </a:lnSpc>
              <a:spcAft>
                <a:spcPts val="800"/>
              </a:spcAft>
            </a:pPr>
            <a:r>
              <a:rPr sz="2200" b="0">
                <a:solidFill>
                  <a:srgbClr val="000000"/>
                </a:solidFill>
                <a:latin typeface="Arial"/>
              </a:rPr>
              <a:t>•  40 sites shown as clear sit outside FEMA's mapped extent and 8 outside the wildfire raster, so 35% is a floor.</a:t>
            </a:r>
          </a:p>
        </p:txBody>
      </p:sp>
      <p:sp>
        <p:nvSpPr>
          <p:cNvPr id="135" name="Rectangle 134"/>
          <p:cNvSpPr/>
          <p:nvPr/>
        </p:nvSpPr>
        <p:spPr>
          <a:xfrm>
            <a:off x="422419" y="1918066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559580" y="1918066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Earthquake</a:t>
            </a:r>
          </a:p>
        </p:txBody>
      </p:sp>
      <p:sp>
        <p:nvSpPr>
          <p:cNvPr id="137" name="TextBox 136"/>
          <p:cNvSpPr txBox="1"/>
          <p:nvPr/>
        </p:nvSpPr>
        <p:spPr>
          <a:xfrm>
            <a:off x="3531380" y="1918066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USGS ASCE 7-22 shaking, 2% chance in 50 yr</a:t>
            </a:r>
          </a:p>
        </p:txBody>
      </p:sp>
      <p:sp>
        <p:nvSpPr>
          <p:cNvPr id="138" name="Rectangle 137"/>
          <p:cNvSpPr/>
          <p:nvPr/>
        </p:nvSpPr>
        <p:spPr>
          <a:xfrm>
            <a:off x="422419" y="1972930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59580" y="1972930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Wildfire</a:t>
            </a:r>
          </a:p>
        </p:txBody>
      </p:sp>
      <p:sp>
        <p:nvSpPr>
          <p:cNvPr id="140" name="TextBox 139"/>
          <p:cNvSpPr txBox="1"/>
          <p:nvPr/>
        </p:nvSpPr>
        <p:spPr>
          <a:xfrm>
            <a:off x="3531380" y="1972930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USFS Hazard Potential 270 m, max in 2.4 km</a:t>
            </a:r>
          </a:p>
        </p:txBody>
      </p:sp>
      <p:sp>
        <p:nvSpPr>
          <p:cNvPr id="141" name="Rectangle 140"/>
          <p:cNvSpPr/>
          <p:nvPr/>
        </p:nvSpPr>
        <p:spPr>
          <a:xfrm>
            <a:off x="422419" y="2027794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559580" y="2027794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Flood</a:t>
            </a:r>
          </a:p>
        </p:txBody>
      </p:sp>
      <p:sp>
        <p:nvSpPr>
          <p:cNvPr id="143" name="TextBox 142"/>
          <p:cNvSpPr txBox="1"/>
          <p:nvPr/>
        </p:nvSpPr>
        <p:spPr>
          <a:xfrm>
            <a:off x="3531380" y="2027794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FEMA flood layer, 1-in-100-year floodplain</a:t>
            </a:r>
          </a:p>
        </p:txBody>
      </p:sp>
      <p:sp>
        <p:nvSpPr>
          <p:cNvPr id="144" name="Rectangle 143"/>
          <p:cNvSpPr/>
          <p:nvPr/>
        </p:nvSpPr>
        <p:spPr>
          <a:xfrm>
            <a:off x="422419" y="2082658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59580" y="2082658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Water stress</a:t>
            </a:r>
          </a:p>
        </p:txBody>
      </p:sp>
      <p:sp>
        <p:nvSpPr>
          <p:cNvPr id="146" name="TextBox 145"/>
          <p:cNvSpPr txBox="1"/>
          <p:nvPr/>
        </p:nvSpPr>
        <p:spPr>
          <a:xfrm>
            <a:off x="3531380" y="2082658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WRI Aqueduct 4.0, river-basin scale</a:t>
            </a:r>
          </a:p>
        </p:txBody>
      </p:sp>
      <p:sp>
        <p:nvSpPr>
          <p:cNvPr id="147" name="Rectangle 146"/>
          <p:cNvSpPr/>
          <p:nvPr/>
        </p:nvSpPr>
        <p:spPr>
          <a:xfrm>
            <a:off x="422419" y="2137522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559580" y="2137522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Uncertainty</a:t>
            </a:r>
          </a:p>
        </p:txBody>
      </p:sp>
      <p:sp>
        <p:nvSpPr>
          <p:cNvPr id="149" name="TextBox 148"/>
          <p:cNvSpPr txBox="1"/>
          <p:nvPr/>
        </p:nvSpPr>
        <p:spPr>
          <a:xfrm>
            <a:off x="3531380" y="2137522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500 relocations per site, 10-500 m by precision</a:t>
            </a:r>
          </a:p>
        </p:txBody>
      </p:sp>
      <p:sp>
        <p:nvSpPr>
          <p:cNvPr id="150" name="TextBox 149"/>
          <p:cNvSpPr txBox="1"/>
          <p:nvPr/>
        </p:nvSpPr>
        <p:spPr>
          <a:xfrm>
            <a:off x="376700" y="22015305"/>
            <a:ext cx="10282778" cy="2186749"/>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A site counts as exposed if it lies within 2.4 km of land rated High or Very High for wildfire, inside a FEMA Special Flood Hazard Area, or at peak ground acceleration of 0.30 g or above. Wildfire is buffered because 2,284 sites sit on non-burnable land, where the pixel under the building says nothing.</a:t>
            </a:r>
          </a:p>
        </p:txBody>
      </p:sp>
      <p:sp>
        <p:nvSpPr>
          <p:cNvPr id="151" name="TextBox 150"/>
          <p:cNvSpPr txBox="1"/>
          <p:nvPr/>
        </p:nvSpPr>
        <p:spPr>
          <a:xfrm>
            <a:off x="11011693"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2,696</a:t>
            </a:r>
          </a:p>
        </p:txBody>
      </p:sp>
      <p:sp>
        <p:nvSpPr>
          <p:cNvPr id="152" name="TextBox 151"/>
          <p:cNvSpPr txBox="1"/>
          <p:nvPr/>
        </p:nvSpPr>
        <p:spPr>
          <a:xfrm>
            <a:off x="11011693"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facilities located</a:t>
            </a:r>
          </a:p>
        </p:txBody>
      </p:sp>
      <p:sp>
        <p:nvSpPr>
          <p:cNvPr id="153" name="TextBox 152"/>
          <p:cNvSpPr txBox="1"/>
          <p:nvPr/>
        </p:nvSpPr>
        <p:spPr>
          <a:xfrm>
            <a:off x="13711702"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954</a:t>
            </a:r>
          </a:p>
        </p:txBody>
      </p:sp>
      <p:sp>
        <p:nvSpPr>
          <p:cNvPr id="154" name="TextBox 153"/>
          <p:cNvSpPr txBox="1"/>
          <p:nvPr/>
        </p:nvSpPr>
        <p:spPr>
          <a:xfrm>
            <a:off x="13711702"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face a mapped hazard</a:t>
            </a:r>
          </a:p>
        </p:txBody>
      </p:sp>
      <p:sp>
        <p:nvSpPr>
          <p:cNvPr id="155" name="TextBox 154"/>
          <p:cNvSpPr txBox="1"/>
          <p:nvPr/>
        </p:nvSpPr>
        <p:spPr>
          <a:xfrm>
            <a:off x="16411711"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952</a:t>
            </a:r>
          </a:p>
        </p:txBody>
      </p:sp>
      <p:sp>
        <p:nvSpPr>
          <p:cNvPr id="156" name="TextBox 155"/>
          <p:cNvSpPr txBox="1"/>
          <p:nvPr/>
        </p:nvSpPr>
        <p:spPr>
          <a:xfrm>
            <a:off x="16411711"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in a high water-stress basin</a:t>
            </a:r>
          </a:p>
        </p:txBody>
      </p:sp>
      <p:sp>
        <p:nvSpPr>
          <p:cNvPr id="157" name="TextBox 156"/>
          <p:cNvSpPr txBox="1"/>
          <p:nvPr/>
        </p:nvSpPr>
        <p:spPr>
          <a:xfrm>
            <a:off x="19111720"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563</a:t>
            </a:r>
          </a:p>
        </p:txBody>
      </p:sp>
      <p:sp>
        <p:nvSpPr>
          <p:cNvPr id="158" name="TextBox 157"/>
          <p:cNvSpPr txBox="1"/>
          <p:nvPr/>
        </p:nvSpPr>
        <p:spPr>
          <a:xfrm>
            <a:off x="19111720"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water-stressed only</a:t>
            </a:r>
          </a:p>
        </p:txBody>
      </p:sp>
      <p:pic>
        <p:nvPicPr>
          <p:cNvPr id="159" name="Picture 158" descr="fig1_map.png"/>
          <p:cNvPicPr>
            <a:picLocks noChangeAspect="1"/>
          </p:cNvPicPr>
          <p:nvPr/>
        </p:nvPicPr>
        <p:blipFill>
          <a:blip r:embed="rId5"/>
          <a:stretch>
            <a:fillRect/>
          </a:stretch>
        </p:blipFill>
        <p:spPr>
          <a:xfrm>
            <a:off x="10965973" y="8634133"/>
            <a:ext cx="10781748" cy="4932334"/>
          </a:xfrm>
          <a:prstGeom prst="rect">
            <a:avLst/>
          </a:prstGeom>
        </p:spPr>
      </p:pic>
      <p:sp>
        <p:nvSpPr>
          <p:cNvPr id="160" name="TextBox 159"/>
          <p:cNvSpPr txBox="1"/>
          <p:nvPr/>
        </p:nvSpPr>
        <p:spPr>
          <a:xfrm>
            <a:off x="10965973" y="13639618"/>
            <a:ext cx="10781748" cy="1298765"/>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1. One third of US data centers face a mapped hazard. Of the 205 facing two or more (orange), California holds 119, with smaller clusters in Utah, Nevada and New Jersey.</a:t>
            </a:r>
          </a:p>
        </p:txBody>
      </p:sp>
      <p:sp>
        <p:nvSpPr>
          <p:cNvPr id="161" name="TextBox 160"/>
          <p:cNvSpPr txBox="1"/>
          <p:nvPr/>
        </p:nvSpPr>
        <p:spPr>
          <a:xfrm>
            <a:off x="10965973" y="15029824"/>
            <a:ext cx="10781748" cy="4965953"/>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952 sites lie in a high or extremely-high water-stress basin, almost exactly the 954 facing a mapped hazard, but only 389 are the same sites. Some of the largest clusters are stressed while their hazard maps read clear: Virginia is 0.7% hazard-exposed and 31% water-stressed, Illinois 2.7% and 95%.</a:t>
            </a:r>
          </a:p>
          <a:p>
            <a:pPr algn="l">
              <a:lnSpc>
                <a:spcPct val="95000"/>
              </a:lnSpc>
              <a:spcAft>
                <a:spcPts val="800"/>
              </a:spcAft>
            </a:pPr>
            <a:r>
              <a:rPr sz="2600" b="0">
                <a:solidFill>
                  <a:srgbClr val="000000"/>
                </a:solidFill>
                <a:latin typeface="Arial"/>
              </a:rPr>
              <a:t>Which hazard dominates depends on the region. New Jersey reaches 100% through wildfire alone and 0% through earthquake, California 96% earthquake. Nationally 646 sites are exposed to wildfire, 448 to earthquake and 71 to flood.</a:t>
            </a:r>
          </a:p>
          <a:p>
            <a:pPr algn="l">
              <a:lnSpc>
                <a:spcPct val="95000"/>
              </a:lnSpc>
              <a:spcAft>
                <a:spcPts val="800"/>
              </a:spcAft>
            </a:pPr>
            <a:r>
              <a:rPr sz="2600" b="0">
                <a:solidFill>
                  <a:srgbClr val="000000"/>
                </a:solidFill>
                <a:latin typeface="Arial"/>
              </a:rPr>
              <a:t>Widening the wildfire buffer from 2.4 km to 5 km takes the wildfire count from 646 to 953, so that result is a statement about the buffer as much as about the site.</a:t>
            </a:r>
          </a:p>
        </p:txBody>
      </p:sp>
      <p:pic>
        <p:nvPicPr>
          <p:cNvPr id="162" name="Picture 161" descr="fig2_states.png"/>
          <p:cNvPicPr>
            <a:picLocks noChangeAspect="1"/>
          </p:cNvPicPr>
          <p:nvPr/>
        </p:nvPicPr>
        <p:blipFill>
          <a:blip r:embed="rId6"/>
          <a:stretch>
            <a:fillRect/>
          </a:stretch>
        </p:blipFill>
        <p:spPr>
          <a:xfrm>
            <a:off x="10965973" y="20087218"/>
            <a:ext cx="10781748" cy="3410141"/>
          </a:xfrm>
          <a:prstGeom prst="rect">
            <a:avLst/>
          </a:prstGeom>
        </p:spPr>
      </p:pic>
      <p:sp>
        <p:nvSpPr>
          <p:cNvPr id="163" name="TextBox 162"/>
          <p:cNvSpPr txBox="1"/>
          <p:nvPr/>
        </p:nvSpPr>
        <p:spPr>
          <a:xfrm>
            <a:off x="10965973" y="23552223"/>
            <a:ext cx="10781748"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2. All 32 states with 20 or more sites, coloured by dominant hazard.</a:t>
            </a:r>
          </a:p>
        </p:txBody>
      </p:sp>
      <p:sp>
        <p:nvSpPr>
          <p:cNvPr id="164" name="Rectangle 163"/>
          <p:cNvSpPr/>
          <p:nvPr/>
        </p:nvSpPr>
        <p:spPr>
          <a:xfrm>
            <a:off x="22090621" y="9084634"/>
            <a:ext cx="10397100" cy="2043811"/>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22090621" y="9084634"/>
            <a:ext cx="128016" cy="2043811"/>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328365" y="9157786"/>
            <a:ext cx="9985620" cy="1897507"/>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Two robustness checks</a:t>
            </a:r>
          </a:p>
          <a:p>
            <a:pPr algn="l">
              <a:lnSpc>
                <a:spcPct val="95000"/>
              </a:lnSpc>
              <a:spcAft>
                <a:spcPts val="800"/>
              </a:spcAft>
            </a:pPr>
            <a:r>
              <a:rPr sz="2400" b="0">
                <a:solidFill>
                  <a:srgbClr val="000000"/>
                </a:solidFill>
                <a:latin typeface="Arial"/>
              </a:rPr>
              <a:t>Sampling across a whole footprint instead of its centre changed the answer for 29 of 326 comparable sites. Taller buildings looked more exposed nationally, but that vanished within states.</a:t>
            </a:r>
          </a:p>
        </p:txBody>
      </p:sp>
      <p:pic>
        <p:nvPicPr>
          <p:cNvPr id="167" name="Picture 166" descr="fig3_confidence.png"/>
          <p:cNvPicPr>
            <a:picLocks noChangeAspect="1"/>
          </p:cNvPicPr>
          <p:nvPr/>
        </p:nvPicPr>
        <p:blipFill>
          <a:blip r:embed="rId7"/>
          <a:stretch>
            <a:fillRect/>
          </a:stretch>
        </p:blipFill>
        <p:spPr>
          <a:xfrm>
            <a:off x="22090621" y="11256461"/>
            <a:ext cx="10397100" cy="3227243"/>
          </a:xfrm>
          <a:prstGeom prst="rect">
            <a:avLst/>
          </a:prstGeom>
        </p:spPr>
      </p:pic>
      <p:sp>
        <p:nvSpPr>
          <p:cNvPr id="168" name="TextBox 167"/>
          <p:cNvSpPr txBox="1"/>
          <p:nvPr/>
        </p:nvSpPr>
        <p:spPr>
          <a:xfrm>
            <a:off x="22090621" y="14520279"/>
            <a:ext cx="10397100"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3. Wildfire class under coordinate error.</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
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48" r:id="rId1"/>
  </p:sldMasterIdLst>
  <p:notesMasterIdLst>
    <p:notesMasterId r:id="rId3"/>
  </p:notesMasterIdLst>
  <p:sldIdLst>
    <p:sldId id="256" r:id="rId2"/>
  </p:sldIdLst>
  <p:sldSz cx="32918400" cy="24688800"/>
  <p:notesSz cx="7010400" cy="92360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7776" userDrawn="1">
          <p15:clr>
            <a:srgbClr val="A4A3A4"/>
          </p15:clr>
        </p15:guide>
        <p15:guide id="2" pos="10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00"/>
    <a:srgbClr val="00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AD4020C-D529-40F8-BBB5-FADFFD60BAF7}">
  <a:tblStyle styleId="{2AD4020C-D529-40F8-BBB5-FADFFD60BAF7}" styleName="Table_0">
    <a:wholeTbl>
      <a:tcTxStyle>
        <a:font>
          <a:latin typeface="Arial"/>
          <a:ea typeface="Arial"/>
          <a:cs typeface="Arial"/>
        </a:font>
        <a:srgbClr val="000000"/>
      </a:tcTxStyle>
      <a:tcStyle>
        <a:tcBdr>
          <a:left>
            <a:ln w="12700" cap="flat" cmpd="sng">
              <a:solidFill>
                <a:srgbClr val="000000"/>
              </a:solidFill>
              <a:prstDash val="solid"/>
              <a:round/>
              <a:headEnd type="none" w="sm" len="sm"/>
              <a:tailEnd type="none" w="sm" len="sm"/>
            </a:ln>
          </a:left>
          <a:right>
            <a:ln w="12700" cap="flat" cmpd="sng">
              <a:solidFill>
                <a:srgbClr val="000000"/>
              </a:solidFill>
              <a:prstDash val="solid"/>
              <a:round/>
              <a:headEnd type="none" w="sm" len="sm"/>
              <a:tailEnd type="none" w="sm" len="sm"/>
            </a:ln>
          </a:right>
          <a:top>
            <a:ln w="12700" cap="flat" cmpd="sng">
              <a:solidFill>
                <a:srgbClr val="000000"/>
              </a:solidFill>
              <a:prstDash val="solid"/>
              <a:round/>
              <a:headEnd type="none" w="sm" len="sm"/>
              <a:tailEnd type="none" w="sm" len="sm"/>
            </a:ln>
          </a:top>
          <a:bottom>
            <a:ln w="12700" cap="flat" cmpd="sng">
              <a:solidFill>
                <a:srgbClr val="000000"/>
              </a:solidFill>
              <a:prstDash val="solid"/>
              <a:round/>
              <a:headEnd type="none" w="sm" len="sm"/>
              <a:tailEnd type="none" w="sm" len="sm"/>
            </a:ln>
          </a:bottom>
          <a:insideH>
            <a:ln w="12700" cap="flat" cmpd="sng">
              <a:solidFill>
                <a:srgbClr val="000000"/>
              </a:solidFill>
              <a:prstDash val="solid"/>
              <a:round/>
              <a:headEnd type="none" w="sm" len="sm"/>
              <a:tailEnd type="none" w="sm" len="sm"/>
            </a:ln>
          </a:insideH>
          <a:insideV>
            <a:ln w="12700"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95BF6B8E-B4C6-4455-9E36-4D0BB332AEDA}" styleName="Table_1">
    <a:wholeTbl>
      <a:tcTxStyle>
        <a:font>
          <a:latin typeface="Arial"/>
          <a:ea typeface="Arial"/>
          <a:cs typeface="Arial"/>
        </a:font>
        <a:srgbClr val="000000"/>
      </a:tcTxStyle>
      <a:tcStyle>
        <a:tcBdr>
          <a:left>
            <a:ln w="12700" cap="flat" cmpd="sng">
              <a:solidFill>
                <a:srgbClr val="9E9E9E"/>
              </a:solidFill>
              <a:prstDash val="solid"/>
              <a:round/>
              <a:headEnd type="none" w="sm" len="sm"/>
              <a:tailEnd type="none" w="sm" len="sm"/>
            </a:ln>
          </a:left>
          <a:right>
            <a:ln w="12700" cap="flat" cmpd="sng">
              <a:solidFill>
                <a:srgbClr val="9E9E9E"/>
              </a:solidFill>
              <a:prstDash val="solid"/>
              <a:round/>
              <a:headEnd type="none" w="sm" len="sm"/>
              <a:tailEnd type="none" w="sm" len="sm"/>
            </a:ln>
          </a:right>
          <a:top>
            <a:ln w="12700" cap="flat" cmpd="sng">
              <a:solidFill>
                <a:srgbClr val="9E9E9E"/>
              </a:solidFill>
              <a:prstDash val="solid"/>
              <a:round/>
              <a:headEnd type="none" w="sm" len="sm"/>
              <a:tailEnd type="none" w="sm" len="sm"/>
            </a:ln>
          </a:top>
          <a:bottom>
            <a:ln w="12700" cap="flat" cmpd="sng">
              <a:solidFill>
                <a:srgbClr val="9E9E9E"/>
              </a:solidFill>
              <a:prstDash val="solid"/>
              <a:round/>
              <a:headEnd type="none" w="sm" len="sm"/>
              <a:tailEnd type="none" w="sm" len="sm"/>
            </a:ln>
          </a:bottom>
          <a:insideH>
            <a:ln w="12700" cap="flat" cmpd="sng">
              <a:solidFill>
                <a:srgbClr val="9E9E9E"/>
              </a:solidFill>
              <a:prstDash val="solid"/>
              <a:round/>
              <a:headEnd type="none" w="sm" len="sm"/>
              <a:tailEnd type="none" w="sm" len="sm"/>
            </a:ln>
          </a:insideH>
          <a:insideV>
            <a:ln w="12700"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171" autoAdjust="0"/>
    <p:restoredTop sz="83290" autoAdjust="0"/>
  </p:normalViewPr>
  <p:slideViewPr>
    <p:cSldViewPr snapToGrid="0">
      <p:cViewPr varScale="1">
        <p:scale>
          <a:sx n="18" d="100"/>
          <a:sy n="18" d="100"/>
        </p:scale>
        <p:origin x="1723" y="72"/>
      </p:cViewPr>
      <p:guideLst>
        <p:guide orient="horz" pos="7776"/>
        <p:guide pos="10368"/>
      </p:guideLst>
    </p:cSldViewPr>
  </p:slideViewPr>
  <p:notesTextViewPr>
    <p:cViewPr>
      <p:scale>
        <a:sx n="1" d="1"/>
        <a:sy n="1" d="1"/>
      </p:scale>
      <p:origin x="0" y="-2222"/>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37212" cy="461804"/>
          </a:xfrm>
          <a:prstGeom prst="rect">
            <a:avLst/>
          </a:prstGeom>
          <a:noFill/>
          <a:ln>
            <a:noFill/>
          </a:ln>
        </p:spPr>
        <p:txBody>
          <a:bodyPr spcFirstLastPara="1" wrap="square" lIns="90275" tIns="45125" rIns="90275" bIns="45125" anchor="t"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4" name="Google Shape;4;n"/>
          <p:cNvSpPr txBox="1">
            <a:spLocks noGrp="1"/>
          </p:cNvSpPr>
          <p:nvPr>
            <p:ph type="dt" idx="10"/>
          </p:nvPr>
        </p:nvSpPr>
        <p:spPr>
          <a:xfrm>
            <a:off x="3971619" y="0"/>
            <a:ext cx="3037212" cy="461804"/>
          </a:xfrm>
          <a:prstGeom prst="rect">
            <a:avLst/>
          </a:prstGeom>
          <a:noFill/>
          <a:ln>
            <a:noFill/>
          </a:ln>
        </p:spPr>
        <p:txBody>
          <a:bodyPr spcFirstLastPara="1" wrap="square" lIns="90275" tIns="45125" rIns="90275" bIns="45125" anchor="t" anchorCtr="0">
            <a:noAutofit/>
          </a:bodyPr>
          <a:lstStyle>
            <a:lvl1pPr marR="0" lvl="0" algn="r"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5" name="Google Shape;5;n"/>
          <p:cNvSpPr>
            <a:spLocks noGrp="1" noRot="1" noChangeAspect="1"/>
          </p:cNvSpPr>
          <p:nvPr>
            <p:ph type="sldImg" idx="3"/>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lvl1pPr marL="457200" marR="0" lvl="0"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1pPr>
            <a:lvl2pPr marL="914400" marR="0" lvl="1"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2pPr>
            <a:lvl3pPr marL="1371600" marR="0" lvl="2"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3pPr>
            <a:lvl4pPr marL="1828800" marR="0" lvl="3"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4pPr>
            <a:lvl5pPr marL="2286000" marR="0" lvl="4"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772716"/>
            <a:ext cx="3037212" cy="461804"/>
          </a:xfrm>
          <a:prstGeom prst="rect">
            <a:avLst/>
          </a:prstGeom>
          <a:noFill/>
          <a:ln>
            <a:noFill/>
          </a:ln>
        </p:spPr>
        <p:txBody>
          <a:bodyPr spcFirstLastPara="1" wrap="square" lIns="90275" tIns="45125" rIns="90275" bIns="45125" anchor="b"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8" name="Google Shape;8;n"/>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a:t>
            </a:fld>
            <a:endParaRPr sz="1200" b="0" i="0" u="none" strike="noStrike" cap="none">
              <a:solidFill>
                <a:schemeClr val="dk1"/>
              </a:solidFill>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6" name="Google Shape;86;p1:notes"/>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p>
            <a:pPr marL="0" lvl="0" indent="0" algn="l" rtl="0">
              <a:lnSpc>
                <a:spcPct val="80000"/>
              </a:lnSpc>
              <a:spcBef>
                <a:spcPts val="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ME: 2026 ASSIP Poster Template Instructions</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this section before using the template. </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Questions? Email Dr. Haymond Still at cosassip@gmu.edu</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This is a template for you to use as is or modify WITH MENTOR’S input.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The poster dimensions will print as 27 inches high x 36 inches wide.  </a:t>
            </a:r>
            <a:r>
              <a:rPr lang="en-US" sz="700" b="1" dirty="0">
                <a:solidFill>
                  <a:schemeClr val="dk1"/>
                </a:solidFill>
                <a:latin typeface="Arial" panose="020B0604020202020204" pitchFamily="34" charset="0"/>
                <a:ea typeface="Calibri"/>
                <a:cs typeface="Arial" panose="020B0604020202020204" pitchFamily="34" charset="0"/>
                <a:sym typeface="Calibri"/>
              </a:rPr>
              <a:t>Do not change the poster dimensions, as the pricing and turnaround time I’ve negotiated with Print Services accounts for this sizing.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Be sure to delete the instructions in the text boxes (my instructions are all in italics). You may mess around with the particular font used if you like; just keep it clean and professional. (No Comic Sans!!)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You can change the header names, locations and presence as agreed upon by your mentor.  For example, you may or may not have a Major Citations section. Or, you may need more room for your methods section or want to combine your results and conclusions. This is fine.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Try to keep the font sizes within the specified ranges for legibility. </a:t>
            </a:r>
            <a:r>
              <a:rPr lang="en-US" sz="700" b="0" dirty="0">
                <a:solidFill>
                  <a:schemeClr val="dk1"/>
                </a:solidFill>
                <a:latin typeface="Arial" panose="020B0604020202020204" pitchFamily="34" charset="0"/>
                <a:ea typeface="Calibri"/>
                <a:cs typeface="Arial" panose="020B0604020202020204" pitchFamily="34" charset="0"/>
                <a:sym typeface="Calibri"/>
              </a:rPr>
              <a:t>If you have a super long title, for example, I recommend that you make the title box wider and let the title run across two lines, rather than shrink the title text to fit my box. Again, feel free to resize any boxes as necessary to fit the boxes to your content. </a:t>
            </a:r>
            <a:endParaRPr b="0"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For the poster session printed version, leave the two logos in the left and right corners as is, and the colors as is, for consistency. </a:t>
            </a:r>
          </a:p>
          <a:p>
            <a:pPr marL="0" lvl="0" indent="0" algn="l" rtl="0">
              <a:lnSpc>
                <a:spcPct val="80000"/>
              </a:lnSpc>
              <a:spcBef>
                <a:spcPts val="210"/>
              </a:spcBef>
              <a:spcAft>
                <a:spcPts val="0"/>
              </a:spcAft>
              <a:buNone/>
            </a:pPr>
            <a:endParaRPr lang="en-US" sz="700" b="1"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980" b="1" dirty="0">
                <a:solidFill>
                  <a:schemeClr val="dk1"/>
                </a:solidFill>
                <a:latin typeface="Arial" panose="020B0604020202020204" pitchFamily="34" charset="0"/>
                <a:ea typeface="Calibri"/>
                <a:cs typeface="Arial" panose="020B0604020202020204" pitchFamily="34" charset="0"/>
                <a:sym typeface="Calibri"/>
              </a:rPr>
              <a:t>Your mentor must approve the poster!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lang="en-US"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Remember to save the finished poster as a PDF under the file name:</a:t>
            </a:r>
            <a:endParaRPr b="1"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MentorsLastName_YourFirstName_YourLastName_2026ASSIP_POSTER</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Submit the PDF of the saved poster to Dr. Haymond Still no later than 5pm on Tuesday, August 4</a:t>
            </a:r>
            <a:r>
              <a:rPr lang="en-US" sz="700" baseline="30000" dirty="0">
                <a:solidFill>
                  <a:schemeClr val="dk1"/>
                </a:solidFill>
                <a:latin typeface="Arial" panose="020B0604020202020204" pitchFamily="34" charset="0"/>
                <a:ea typeface="Calibri"/>
                <a:cs typeface="Arial" panose="020B0604020202020204" pitchFamily="34" charset="0"/>
                <a:sym typeface="Calibri"/>
              </a:rPr>
              <a:t>th</a:t>
            </a:r>
            <a:r>
              <a:rPr lang="en-US" sz="700" dirty="0">
                <a:solidFill>
                  <a:schemeClr val="dk1"/>
                </a:solidFill>
                <a:latin typeface="Arial" panose="020B0604020202020204" pitchFamily="34" charset="0"/>
                <a:ea typeface="Calibri"/>
                <a:cs typeface="Arial" panose="020B0604020202020204" pitchFamily="34" charset="0"/>
                <a:sym typeface="Calibri"/>
              </a:rPr>
              <a:t> to our Canvas course site.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If you miss the deadline, I won’t have time to get your poster printed!! </a:t>
            </a:r>
            <a:endParaRPr dirty="0">
              <a:latin typeface="Arial" panose="020B0604020202020204" pitchFamily="34" charset="0"/>
              <a:cs typeface="Arial" panose="020B0604020202020204" pitchFamily="34" charset="0"/>
            </a:endParaRPr>
          </a:p>
        </p:txBody>
      </p:sp>
      <p:sp>
        <p:nvSpPr>
          <p:cNvPr id="87" name="Google Shape;87;p1:notes"/>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1</a:t>
            </a:fld>
            <a:endParaRPr sz="1200" b="0" i="0" u="none" strike="noStrike" cap="none">
              <a:solidFill>
                <a:schemeClr val="dk1"/>
              </a:solidFill>
              <a:latin typeface="Times New Roman"/>
              <a:ea typeface="Times New Roman"/>
              <a:cs typeface="Times New Roman"/>
              <a:sym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4040507"/>
            <a:ext cx="27980640" cy="8595360"/>
          </a:xfrm>
        </p:spPr>
        <p:txBody>
          <a:bodyPr anchor="b"/>
          <a:lstStyle>
            <a:lvl1pPr algn="ctr">
              <a:defRPr sz="21600"/>
            </a:lvl1pPr>
          </a:lstStyle>
          <a:p>
            <a:r>
              <a:rPr lang="en-US"/>
              <a:t>Click to edit Master title style</a:t>
            </a:r>
            <a:endParaRPr lang="en-US" dirty="0"/>
          </a:p>
        </p:txBody>
      </p:sp>
      <p:sp>
        <p:nvSpPr>
          <p:cNvPr id="3" name="Subtitle 2"/>
          <p:cNvSpPr>
            <a:spLocks noGrp="1"/>
          </p:cNvSpPr>
          <p:nvPr>
            <p:ph type="subTitle" idx="1"/>
          </p:nvPr>
        </p:nvSpPr>
        <p:spPr>
          <a:xfrm>
            <a:off x="4114800" y="12967337"/>
            <a:ext cx="24688800" cy="5960743"/>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6620268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221925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45997" y="6155062"/>
            <a:ext cx="28392120" cy="10269853"/>
          </a:xfrm>
        </p:spPr>
        <p:txBody>
          <a:bodyPr anchor="b"/>
          <a:lstStyle>
            <a:lvl1pPr>
              <a:defRPr sz="21600"/>
            </a:lvl1pPr>
          </a:lstStyle>
          <a:p>
            <a:r>
              <a:rPr lang="en-US"/>
              <a:t>Click to edit Master title style</a:t>
            </a:r>
            <a:endParaRPr lang="en-US" dirty="0"/>
          </a:p>
        </p:txBody>
      </p:sp>
      <p:sp>
        <p:nvSpPr>
          <p:cNvPr id="3" name="Text Placeholder 2"/>
          <p:cNvSpPr>
            <a:spLocks noGrp="1"/>
          </p:cNvSpPr>
          <p:nvPr>
            <p:ph type="body" idx="1"/>
          </p:nvPr>
        </p:nvSpPr>
        <p:spPr>
          <a:xfrm>
            <a:off x="2245997" y="16522072"/>
            <a:ext cx="28392120" cy="5400673"/>
          </a:xfrm>
        </p:spPr>
        <p:txBody>
          <a:bodyPr/>
          <a:lstStyle>
            <a:lvl1pPr marL="0" indent="0">
              <a:buNone/>
              <a:defRPr sz="8640">
                <a:solidFill>
                  <a:schemeClr val="tx1"/>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48298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2631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66649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7761904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314455"/>
            <a:ext cx="28392120" cy="4772027"/>
          </a:xfrm>
        </p:spPr>
        <p:txBody>
          <a:bodyPr/>
          <a:lstStyle/>
          <a:p>
            <a:r>
              <a:rPr lang="en-US"/>
              <a:t>Click to edit Master title style</a:t>
            </a:r>
            <a:endParaRPr lang="en-US" dirty="0"/>
          </a:p>
        </p:txBody>
      </p:sp>
      <p:sp>
        <p:nvSpPr>
          <p:cNvPr id="3" name="Text Placeholder 2"/>
          <p:cNvSpPr>
            <a:spLocks noGrp="1"/>
          </p:cNvSpPr>
          <p:nvPr>
            <p:ph type="body" idx="1"/>
          </p:nvPr>
        </p:nvSpPr>
        <p:spPr>
          <a:xfrm>
            <a:off x="2267431" y="6052187"/>
            <a:ext cx="13926024"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p:cNvSpPr>
            <a:spLocks noGrp="1"/>
          </p:cNvSpPr>
          <p:nvPr>
            <p:ph sz="half" idx="2"/>
          </p:nvPr>
        </p:nvSpPr>
        <p:spPr>
          <a:xfrm>
            <a:off x="2267431" y="9018270"/>
            <a:ext cx="13926024"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6664942" y="6052187"/>
            <a:ext cx="13994608"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p:cNvSpPr>
            <a:spLocks noGrp="1"/>
          </p:cNvSpPr>
          <p:nvPr>
            <p:ph sz="quarter" idx="4"/>
          </p:nvPr>
        </p:nvSpPr>
        <p:spPr>
          <a:xfrm>
            <a:off x="16664942" y="9018270"/>
            <a:ext cx="13994608"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441630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0672259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33057098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Content Placeholder 2"/>
          <p:cNvSpPr>
            <a:spLocks noGrp="1"/>
          </p:cNvSpPr>
          <p:nvPr>
            <p:ph idx="1"/>
          </p:nvPr>
        </p:nvSpPr>
        <p:spPr>
          <a:xfrm>
            <a:off x="13994608" y="3554735"/>
            <a:ext cx="16664940" cy="1754505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8765945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994608" y="3554735"/>
            <a:ext cx="16664940" cy="17545050"/>
          </a:xfrm>
        </p:spPr>
        <p:txBody>
          <a:bodyPr anchor="t"/>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126791679"/>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76602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557232" y="1314450"/>
            <a:ext cx="7098030" cy="209226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63142" y="1314450"/>
            <a:ext cx="20882610" cy="209226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5315397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63140" y="1314455"/>
            <a:ext cx="28392120" cy="477202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63140" y="6572250"/>
            <a:ext cx="28392120" cy="1566481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263140" y="22882865"/>
            <a:ext cx="7406640" cy="1314450"/>
          </a:xfrm>
          <a:prstGeom prst="rect">
            <a:avLst/>
          </a:prstGeom>
        </p:spPr>
        <p:txBody>
          <a:bodyPr vert="horz" lIns="91440" tIns="45720" rIns="91440" bIns="45720" rtlCol="0" anchor="ctr"/>
          <a:lstStyle>
            <a:lvl1pPr algn="l">
              <a:defRPr sz="432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10904220" y="22882865"/>
            <a:ext cx="11109960" cy="131445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23248620" y="22882865"/>
            <a:ext cx="7406640" cy="1314450"/>
          </a:xfrm>
          <a:prstGeom prst="rect">
            <a:avLst/>
          </a:prstGeom>
        </p:spPr>
        <p:txBody>
          <a:bodyPr vert="horz" lIns="91440" tIns="45720" rIns="91440" bIns="45720" rtlCol="0" anchor="ctr"/>
          <a:lstStyle>
            <a:lvl1pPr algn="r">
              <a:defRPr sz="4320">
                <a:solidFill>
                  <a:schemeClr val="tx1">
                    <a:tint val="75000"/>
                  </a:schemeClr>
                </a:solidFill>
              </a:defRPr>
            </a:lvl1pPr>
          </a:lstStyle>
          <a:p>
            <a:fld id="{00000000-1234-1234-1234-123412341234}" type="slidenum">
              <a:rPr lang="en-US" smtClean="0"/>
              <a:pPr/>
              <a:t>‹#›</a:t>
            </a:fld>
            <a:endParaRPr lang="en-US"/>
          </a:p>
        </p:txBody>
      </p:sp>
    </p:spTree>
    <p:extLst>
      <p:ext uri="{BB962C8B-B14F-4D97-AF65-F5344CB8AC3E}">
        <p14:creationId xmlns:p14="http://schemas.microsoft.com/office/powerpoint/2010/main" val="2195114939"/>
      </p:ext>
    </p:extLst>
  </p:cSld>
  <p:clrMap bg1="lt1" tx1="dk1" bg2="lt2" tx2="dk2" accent1="accent1" accent2="accent2" accent3="accent3" accent4="accent4" accent5="accent5" accent6="accent6" hlink="hlink" folHlink="folHlink"/>
  <p:sldLayoutIdLst>
    <p:sldLayoutId id="2147483749" r:id="rId1"/>
    <p:sldLayoutId id="2147483750" r:id="rId2"/>
    <p:sldLayoutId id="2147483751" r:id="rId3"/>
    <p:sldLayoutId id="2147483752" r:id="rId4"/>
    <p:sldLayoutId id="2147483753" r:id="rId5"/>
    <p:sldLayoutId id="2147483754" r:id="rId6"/>
    <p:sldLayoutId id="2147483755" r:id="rId7"/>
    <p:sldLayoutId id="2147483756" r:id="rId8"/>
    <p:sldLayoutId id="2147483757" r:id="rId9"/>
    <p:sldLayoutId id="2147483758" r:id="rId10"/>
    <p:sldLayoutId id="2147483759" r:id="rId11"/>
  </p:sldLayoutIdLst>
  <p:hf sldNum="0" hdr="0" ftr="0" dt="0"/>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5E5E5"/>
        </a:solidFill>
        <a:effectLst/>
      </p:bgPr>
    </p:bg>
    <p:spTree>
      <p:nvGrpSpPr>
        <p:cNvPr id="1" name="Shape 88"/>
        <p:cNvGrpSpPr/>
        <p:nvPr/>
      </p:nvGrpSpPr>
      <p:grpSpPr>
        <a:xfrm>
          <a:off x="0" y="0"/>
          <a:ext cx="0" cy="0"/>
          <a:chOff x="0" y="0"/>
          <a:chExt cx="0" cy="0"/>
        </a:xfrm>
      </p:grpSpPr>
      <p:pic>
        <p:nvPicPr>
          <p:cNvPr id="105" name="Google Shape;105;p13"/>
          <p:cNvPicPr preferRelativeResize="0"/>
          <p:nvPr/>
        </p:nvPicPr>
        <p:blipFill rotWithShape="1">
          <a:blip r:embed="rId3">
            <a:alphaModFix/>
          </a:blip>
          <a:srcRect/>
          <a:stretch/>
        </p:blipFill>
        <p:spPr>
          <a:xfrm>
            <a:off x="16448774" y="10597775"/>
            <a:ext cx="232029" cy="14859"/>
          </a:xfrm>
          <a:prstGeom prst="rect">
            <a:avLst/>
          </a:prstGeom>
          <a:noFill/>
          <a:ln>
            <a:noFill/>
          </a:ln>
        </p:spPr>
      </p:pic>
      <p:sp>
        <p:nvSpPr>
          <p:cNvPr id="108" name="Google Shape;108;p13"/>
          <p:cNvSpPr txBox="1"/>
          <p:nvPr/>
        </p:nvSpPr>
        <p:spPr>
          <a:xfrm>
            <a:off x="11411573" y="139227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0" name="Google Shape;110;p13"/>
          <p:cNvSpPr txBox="1"/>
          <p:nvPr/>
        </p:nvSpPr>
        <p:spPr>
          <a:xfrm>
            <a:off x="17388319" y="144713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1" name="Google Shape;111;p13"/>
          <p:cNvSpPr txBox="1"/>
          <p:nvPr/>
        </p:nvSpPr>
        <p:spPr>
          <a:xfrm>
            <a:off x="21747721" y="560171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2" name="Google Shape;112;p13"/>
          <p:cNvSpPr txBox="1"/>
          <p:nvPr/>
        </p:nvSpPr>
        <p:spPr>
          <a:xfrm>
            <a:off x="21503119" y="52359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3" name="Google Shape;113;p13"/>
          <p:cNvSpPr txBox="1"/>
          <p:nvPr/>
        </p:nvSpPr>
        <p:spPr>
          <a:xfrm>
            <a:off x="21404821" y="55102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31" name="Google Shape;131;p13"/>
          <p:cNvSpPr txBox="1"/>
          <p:nvPr/>
        </p:nvSpPr>
        <p:spPr>
          <a:xfrm>
            <a:off x="376700" y="5251774"/>
            <a:ext cx="10282778" cy="3883723"/>
          </a:xfrm>
          <a:prstGeom prst="rect">
            <a:avLst/>
          </a:prstGeom>
          <a:solidFill>
            <a:schemeClr val="bg1"/>
          </a:solidFill>
          <a:ln>
            <a:noFill/>
          </a:ln>
        </p:spPr>
        <p:txBody>
          <a:bodyPr spcFirstLastPara="1" wrap="square" lIns="164592" tIns="164592" rIns="164592" bIns="164592" anchor="t" anchorCtr="0"/>
          <a:lstStyle/>
          <a:p>
            <a:pPr algn="l">
              <a:lnSpc>
                <a:spcPct val="95000"/>
              </a:lnSpc>
              <a:spcAft>
                <a:spcPts val="1000"/>
              </a:spcAft>
              <a:buClr>
                <a:schemeClr val="dk1"/>
              </a:buClr>
              <a:buSzPts val="1100"/>
            </a:pPr>
            <a:r>
              <a:rPr sz="2600" b="0">
                <a:solidFill>
                  <a:srgbClr val="000000"/>
                </a:solidFill>
                <a:latin typeface="Arial"/>
              </a:rPr>
              <a:t>AI and cloud computing have concentrated enormous computing capacity into a small number of US locations. Those buildings face earthquakes, wildfire and flooding, but no open dataset records where they stand.</a:t>
            </a:r>
            <a:endParaRPr sz="2600" dirty="0">
              <a:latin typeface="Palatino"/>
              <a:ea typeface="Palatino"/>
              <a:cs typeface="Palatino"/>
              <a:sym typeface="Palatino"/>
            </a:endParaRPr>
          </a:p>
          <a:p>
            <a:pPr algn="l">
              <a:lnSpc>
                <a:spcPct val="95000"/>
              </a:lnSpc>
              <a:spcAft>
                <a:spcPts val="1000"/>
              </a:spcAft>
            </a:pPr>
            <a:r>
              <a:rPr sz="2600" b="0">
                <a:solidFill>
                  <a:srgbClr val="000000"/>
                </a:solidFill>
                <a:latin typeface="Arial"/>
              </a:rPr>
              <a:t>Existing sources are proprietary, aggregated above the building level, or unverified. Without building-level locations, no one can measure what US computing infrastructure is exposed to.</a:t>
            </a:r>
          </a:p>
          <a:p>
            <a:pPr algn="l">
              <a:lnSpc>
                <a:spcPct val="95000"/>
              </a:lnSpc>
              <a:spcAft>
                <a:spcPts val="1000"/>
              </a:spcAft>
            </a:pPr>
            <a:r>
              <a:rPr sz="2600" b="0">
                <a:solidFill>
                  <a:srgbClr val="000000"/>
                </a:solidFill>
                <a:latin typeface="Arial"/>
              </a:rPr>
              <a:t>These are EXPOSURE values, not risk. No vulnerability term is applied, so nothing here is a damage or loss estimate.</a:t>
            </a:r>
          </a:p>
        </p:txBody>
      </p:sp>
      <p:sp>
        <p:nvSpPr>
          <p:cNvPr id="106" name="Google Shape;106;p13"/>
          <p:cNvSpPr txBox="1"/>
          <p:nvPr/>
        </p:nvSpPr>
        <p:spPr>
          <a:xfrm>
            <a:off x="27127967" y="263118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7" name="Google Shape;107;p13"/>
          <p:cNvSpPr txBox="1"/>
          <p:nvPr/>
        </p:nvSpPr>
        <p:spPr>
          <a:xfrm>
            <a:off x="10774921" y="140141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9" name="Google Shape;109;p13"/>
          <p:cNvSpPr txBox="1"/>
          <p:nvPr/>
        </p:nvSpPr>
        <p:spPr>
          <a:xfrm>
            <a:off x="11265269" y="139684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4" name="Google Shape;114;p13"/>
          <p:cNvSpPr txBox="1"/>
          <p:nvPr/>
        </p:nvSpPr>
        <p:spPr>
          <a:xfrm>
            <a:off x="3826040" y="2264134"/>
            <a:ext cx="25266317" cy="1192930"/>
          </a:xfrm>
          <a:prstGeom prst="rect">
            <a:avLst/>
          </a:prstGeom>
          <a:solidFill>
            <a:schemeClr val="lt1"/>
          </a:solidFill>
          <a:ln>
            <a:noFill/>
          </a:ln>
        </p:spPr>
        <p:txBody>
          <a:bodyPr spcFirstLastPara="1" wrap="square" lIns="65826" tIns="32904" rIns="65826" bIns="32904" anchor="t" anchorCtr="0"/>
          <a:lstStyle/>
          <a:p>
            <a:pPr algn="ctr">
              <a:lnSpc>
                <a:spcPct val="95000"/>
              </a:lnSpc>
              <a:spcAft>
                <a:spcPts val="1000"/>
              </a:spcAft>
            </a:pPr>
            <a:r>
              <a:rPr sz="3800" b="1">
                <a:solidFill>
                  <a:srgbClr val="000000"/>
                </a:solidFill>
                <a:latin typeface="Arial"/>
              </a:rPr>
              <a:t>Avilash Angirekula¹, Dennies Bor¹, Edward J. Oughton¹</a:t>
            </a:r>
            <a:endParaRPr sz="3600" baseline="30000" dirty="0">
              <a:solidFill>
                <a:schemeClr val="dk1"/>
              </a:solidFill>
              <a:latin typeface="Arial" panose="020B0604020202020204" pitchFamily="34" charset="0"/>
              <a:ea typeface="Helvetica Neue"/>
              <a:cs typeface="Arial" panose="020B0604020202020204" pitchFamily="34" charset="0"/>
              <a:sym typeface="Helvetica Neue"/>
            </a:endParaRPr>
          </a:p>
        </p:txBody>
      </p:sp>
      <p:sp>
        <p:nvSpPr>
          <p:cNvPr id="119" name="Google Shape;119;p13"/>
          <p:cNvSpPr txBox="1"/>
          <p:nvPr/>
        </p:nvSpPr>
        <p:spPr>
          <a:xfrm>
            <a:off x="29357053" y="435681"/>
            <a:ext cx="3130666" cy="3656905"/>
          </a:xfrm>
          <a:prstGeom prst="rect">
            <a:avLst/>
          </a:prstGeom>
          <a:solidFill>
            <a:srgbClr val="FFCC00">
              <a:alpha val="84314"/>
            </a:srgbClr>
          </a:solidFill>
          <a:ln w="76200" cap="flat" cmpd="thickThin">
            <a:solidFill>
              <a:schemeClr val="lt1"/>
            </a:solidFill>
            <a:prstDash val="solid"/>
            <a:round/>
            <a:headEnd type="none" w="sm" len="sm"/>
            <a:tailEnd type="none" w="sm" len="sm"/>
          </a:ln>
        </p:spPr>
        <p:txBody>
          <a:bodyPr spcFirstLastPara="1" wrap="square" lIns="65826" tIns="32904" rIns="65826" bIns="32904" anchor="ctr" anchorCtr="0">
            <a:noAutofit/>
          </a:bodyPr>
          <a:lstStyle/>
          <a:p>
            <a:pPr algn="ctr"/>
            <a:r>
              <a:rPr lang="en-US" sz="3240" b="1" dirty="0">
                <a:solidFill>
                  <a:srgbClr val="006600"/>
                </a:solidFill>
                <a:latin typeface="Arial" panose="020B0604020202020204" pitchFamily="34" charset="0"/>
                <a:cs typeface="Arial" panose="020B0604020202020204" pitchFamily="34" charset="0"/>
              </a:rPr>
              <a:t>Aspiring Scientists Summer Internship Program </a:t>
            </a:r>
          </a:p>
          <a:p>
            <a:pPr algn="ctr"/>
            <a:r>
              <a:rPr lang="en-US" sz="3240" b="1" dirty="0">
                <a:solidFill>
                  <a:srgbClr val="006600"/>
                </a:solidFill>
                <a:latin typeface="Arial" panose="020B0604020202020204" pitchFamily="34" charset="0"/>
                <a:cs typeface="Arial" panose="020B0604020202020204" pitchFamily="34" charset="0"/>
              </a:rPr>
              <a:t>2026</a:t>
            </a:r>
            <a:endParaRPr sz="3240" b="1" dirty="0">
              <a:solidFill>
                <a:srgbClr val="006600"/>
              </a:solidFill>
              <a:latin typeface="Arial" panose="020B0604020202020204" pitchFamily="34" charset="0"/>
              <a:cs typeface="Arial" panose="020B0604020202020204" pitchFamily="34" charset="0"/>
            </a:endParaRPr>
          </a:p>
        </p:txBody>
      </p:sp>
      <p:sp>
        <p:nvSpPr>
          <p:cNvPr id="73" name="Google Shape;113;p13">
            <a:extLst>
              <a:ext uri="{FF2B5EF4-FFF2-40B4-BE49-F238E27FC236}">
                <a16:creationId xmlns:a16="http://schemas.microsoft.com/office/drawing/2014/main" id="{B7028C15-A27E-415D-88A6-B08B48F45D43}"/>
              </a:ext>
            </a:extLst>
          </p:cNvPr>
          <p:cNvSpPr txBox="1"/>
          <p:nvPr/>
        </p:nvSpPr>
        <p:spPr>
          <a:xfrm>
            <a:off x="3826040" y="3431258"/>
            <a:ext cx="25266317" cy="703207"/>
          </a:xfrm>
          <a:prstGeom prst="rect">
            <a:avLst/>
          </a:prstGeom>
          <a:solidFill>
            <a:schemeClr val="lt1"/>
          </a:solidFill>
          <a:ln>
            <a:noFill/>
          </a:ln>
        </p:spPr>
        <p:txBody>
          <a:bodyPr spcFirstLastPara="1" wrap="square" lIns="65826" tIns="32904" rIns="65826" bIns="32904" anchor="t" anchorCtr="0"/>
          <a:lstStyle/>
          <a:p>
            <a:pPr algn="ctr">
              <a:lnSpc>
                <a:spcPct val="95000"/>
              </a:lnSpc>
              <a:spcAft>
                <a:spcPts val="1000"/>
              </a:spcAft>
            </a:pPr>
            <a:r>
              <a:rPr sz="2600" b="0">
                <a:solidFill>
                  <a:srgbClr val="333333"/>
                </a:solidFill>
                <a:latin typeface="Arial"/>
              </a:rPr>
              <a:t>¹Department of Geography and Geoinformation Sciences, College of Science, George Mason University</a:t>
            </a:r>
            <a:endParaRPr sz="2880" dirty="0">
              <a:solidFill>
                <a:schemeClr val="dk1"/>
              </a:solidFill>
              <a:latin typeface="Arial" panose="020B0604020202020204" pitchFamily="34" charset="0"/>
              <a:ea typeface="Times New Roman"/>
              <a:cs typeface="Arial" panose="020B0604020202020204" pitchFamily="34" charset="0"/>
              <a:sym typeface="Times New Roman"/>
            </a:endParaRPr>
          </a:p>
        </p:txBody>
      </p:sp>
      <p:sp>
        <p:nvSpPr>
          <p:cNvPr id="3" name="Rectangle 2">
            <a:extLst>
              <a:ext uri="{FF2B5EF4-FFF2-40B4-BE49-F238E27FC236}">
                <a16:creationId xmlns:a16="http://schemas.microsoft.com/office/drawing/2014/main" id="{5414C21D-6153-426C-A648-2F7D91B0A3F2}"/>
              </a:ext>
            </a:extLst>
          </p:cNvPr>
          <p:cNvSpPr/>
          <p:nvPr/>
        </p:nvSpPr>
        <p:spPr>
          <a:xfrm>
            <a:off x="430679" y="4389682"/>
            <a:ext cx="10228799"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Background</a:t>
            </a:r>
          </a:p>
        </p:txBody>
      </p:sp>
      <p:sp>
        <p:nvSpPr>
          <p:cNvPr id="6" name="Rectangle 5">
            <a:extLst>
              <a:ext uri="{FF2B5EF4-FFF2-40B4-BE49-F238E27FC236}">
                <a16:creationId xmlns:a16="http://schemas.microsoft.com/office/drawing/2014/main" id="{8BB275A5-62F7-1742-4380-8AB1A17FAF66}"/>
              </a:ext>
            </a:extLst>
          </p:cNvPr>
          <p:cNvSpPr/>
          <p:nvPr/>
        </p:nvSpPr>
        <p:spPr>
          <a:xfrm>
            <a:off x="10965973" y="4386008"/>
            <a:ext cx="10781748" cy="85752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Results</a:t>
            </a:r>
          </a:p>
        </p:txBody>
      </p:sp>
      <p:sp>
        <p:nvSpPr>
          <p:cNvPr id="7" name="Rectangle 6">
            <a:extLst>
              <a:ext uri="{FF2B5EF4-FFF2-40B4-BE49-F238E27FC236}">
                <a16:creationId xmlns:a16="http://schemas.microsoft.com/office/drawing/2014/main" id="{822515BF-9734-0282-2B15-A32512AD598B}"/>
              </a:ext>
            </a:extLst>
          </p:cNvPr>
          <p:cNvSpPr/>
          <p:nvPr/>
        </p:nvSpPr>
        <p:spPr>
          <a:xfrm>
            <a:off x="22090619" y="4386009"/>
            <a:ext cx="10397100" cy="809607"/>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Conclusions</a:t>
            </a:r>
          </a:p>
        </p:txBody>
      </p:sp>
      <p:sp>
        <p:nvSpPr>
          <p:cNvPr id="8" name="Rectangle 7">
            <a:extLst>
              <a:ext uri="{FF2B5EF4-FFF2-40B4-BE49-F238E27FC236}">
                <a16:creationId xmlns:a16="http://schemas.microsoft.com/office/drawing/2014/main" id="{D4731E14-0938-740A-787A-D2B6693BCB6C}"/>
              </a:ext>
            </a:extLst>
          </p:cNvPr>
          <p:cNvSpPr/>
          <p:nvPr/>
        </p:nvSpPr>
        <p:spPr>
          <a:xfrm>
            <a:off x="430679" y="14378013"/>
            <a:ext cx="10228799" cy="82748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Materials and Methods</a:t>
            </a:r>
          </a:p>
        </p:txBody>
      </p:sp>
      <p:sp>
        <p:nvSpPr>
          <p:cNvPr id="9" name="Rectangle 8">
            <a:extLst>
              <a:ext uri="{FF2B5EF4-FFF2-40B4-BE49-F238E27FC236}">
                <a16:creationId xmlns:a16="http://schemas.microsoft.com/office/drawing/2014/main" id="{2AEA7A76-8036-99F5-636B-AB0CDCB6D5FE}"/>
              </a:ext>
            </a:extLst>
          </p:cNvPr>
          <p:cNvSpPr/>
          <p:nvPr/>
        </p:nvSpPr>
        <p:spPr>
          <a:xfrm>
            <a:off x="22090621" y="15371883"/>
            <a:ext cx="10451076"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Major Citations</a:t>
            </a:r>
          </a:p>
        </p:txBody>
      </p:sp>
      <p:sp>
        <p:nvSpPr>
          <p:cNvPr id="10" name="Rectangle 9">
            <a:extLst>
              <a:ext uri="{FF2B5EF4-FFF2-40B4-BE49-F238E27FC236}">
                <a16:creationId xmlns:a16="http://schemas.microsoft.com/office/drawing/2014/main" id="{51247692-30D3-AF09-61BE-4D4CC0F1B37F}"/>
              </a:ext>
            </a:extLst>
          </p:cNvPr>
          <p:cNvSpPr/>
          <p:nvPr/>
        </p:nvSpPr>
        <p:spPr>
          <a:xfrm>
            <a:off x="22061034" y="20737925"/>
            <a:ext cx="10480664"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Acknowledgements</a:t>
            </a:r>
          </a:p>
        </p:txBody>
      </p:sp>
      <p:sp>
        <p:nvSpPr>
          <p:cNvPr id="11" name="Google Shape;131;p13">
            <a:extLst>
              <a:ext uri="{FF2B5EF4-FFF2-40B4-BE49-F238E27FC236}">
                <a16:creationId xmlns:a16="http://schemas.microsoft.com/office/drawing/2014/main" id="{47302C31-0708-183B-7F10-E19B6238F926}"/>
              </a:ext>
            </a:extLst>
          </p:cNvPr>
          <p:cNvSpPr txBox="1"/>
          <p:nvPr/>
        </p:nvSpPr>
        <p:spPr>
          <a:xfrm>
            <a:off x="376700" y="15205502"/>
            <a:ext cx="10282778" cy="1953006"/>
          </a:xfrm>
          <a:prstGeom prst="rect">
            <a:avLst/>
          </a:prstGeom>
          <a:solidFill>
            <a:schemeClr val="bg1"/>
          </a:solidFill>
          <a:ln>
            <a:noFill/>
          </a:ln>
        </p:spPr>
        <p:txBody>
          <a:bodyPr spcFirstLastPara="1" wrap="square" lIns="164592" tIns="164592" rIns="164592" bIns="164592" anchor="t" anchorCtr="0"/>
          <a:lstStyle/>
          <a:p>
            <a:pPr algn="l">
              <a:lnSpc>
                <a:spcPct val="95000"/>
              </a:lnSpc>
              <a:spcAft>
                <a:spcPts val="1000"/>
              </a:spcAft>
              <a:buClr>
                <a:schemeClr val="dk1"/>
              </a:buClr>
              <a:buSzPts val="1100"/>
            </a:pPr>
            <a:r>
              <a:rPr sz="2600" b="0">
                <a:solidFill>
                  <a:srgbClr val="000000"/>
                </a:solidFill>
                <a:latin typeface="Arial"/>
              </a:rPr>
              <a:t>A reproducible Python pipeline merges OpenStreetMap, PeeringDB and Wikidata, removes duplicate records, and grades every coordinate against an independent building-footprint dataset.</a:t>
            </a:r>
          </a:p>
          <a:p>
            <a:pPr algn="l">
              <a:lnSpc>
                <a:spcPct val="95000"/>
              </a:lnSpc>
              <a:spcAft>
                <a:spcPts val="1000"/>
              </a:spcAft>
            </a:pPr>
            <a:r>
              <a:rPr sz="2600" b="0">
                <a:solidFill>
                  <a:srgbClr val="000000"/>
                </a:solidFill>
                <a:latin typeface="Arial"/>
              </a:rPr>
              <a:t>Hazards are then read at each facility from official sources:</a:t>
            </a:r>
          </a:p>
        </p:txBody>
      </p:sp>
      <p:sp>
        <p:nvSpPr>
          <p:cNvPr id="12" name="Google Shape;131;p13">
            <a:extLst>
              <a:ext uri="{FF2B5EF4-FFF2-40B4-BE49-F238E27FC236}">
                <a16:creationId xmlns:a16="http://schemas.microsoft.com/office/drawing/2014/main" id="{65A629E7-2609-D28B-DA5D-ABE9038EE679}"/>
              </a:ext>
            </a:extLst>
          </p:cNvPr>
          <p:cNvSpPr txBox="1"/>
          <p:nvPr/>
        </p:nvSpPr>
        <p:spPr>
          <a:xfrm>
            <a:off x="10965973" y="6733102"/>
            <a:ext cx="10781748" cy="1187767"/>
          </a:xfrm>
          <a:prstGeom prst="rect">
            <a:avLst/>
          </a:prstGeom>
          <a:solidFill>
            <a:schemeClr val="bg1"/>
          </a:solidFill>
          <a:ln>
            <a:noFill/>
          </a:ln>
        </p:spPr>
        <p:txBody>
          <a:bodyPr spcFirstLastPara="1" wrap="square" lIns="164592" tIns="164592" rIns="164592" bIns="164592" anchor="t" anchorCtr="0"/>
          <a:lstStyle/>
          <a:p>
            <a:pPr algn="l">
              <a:lnSpc>
                <a:spcPct val="95000"/>
              </a:lnSpc>
              <a:spcAft>
                <a:spcPts val="1000"/>
              </a:spcAft>
              <a:buClr>
                <a:schemeClr val="dk1"/>
              </a:buClr>
              <a:buSzPts val="1100"/>
            </a:pPr>
            <a:r>
              <a:rPr sz="2900" b="1">
                <a:solidFill>
                  <a:srgbClr val="000000"/>
                </a:solidFill>
                <a:latin typeface="Arial"/>
              </a:rPr>
              <a:t>Hazard exposure is bimodal. It is decided by which cluster a facility sits in, not by anything about data centers.</a:t>
            </a:r>
          </a:p>
        </p:txBody>
      </p:sp>
      <p:sp>
        <p:nvSpPr>
          <p:cNvPr id="14" name="Rectangle 13">
            <a:extLst>
              <a:ext uri="{FF2B5EF4-FFF2-40B4-BE49-F238E27FC236}">
                <a16:creationId xmlns:a16="http://schemas.microsoft.com/office/drawing/2014/main" id="{161551E7-54AC-5EDA-0356-93EDDEC4719A}"/>
              </a:ext>
            </a:extLst>
          </p:cNvPr>
          <p:cNvSpPr/>
          <p:nvPr/>
        </p:nvSpPr>
        <p:spPr>
          <a:xfrm>
            <a:off x="3826040" y="425006"/>
            <a:ext cx="25266318" cy="1674193"/>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wrap="square"/>
          <a:lstStyle/>
          <a:p>
            <a:pPr algn="ctr">
              <a:lnSpc>
                <a:spcPct val="92000"/>
              </a:lnSpc>
              <a:spcAft>
                <a:spcPts val="1000"/>
              </a:spcAft>
            </a:pPr>
            <a:r>
              <a:rPr sz="6400" b="1">
                <a:solidFill>
                  <a:srgbClr val="000000"/>
                </a:solidFill>
                <a:latin typeface="Arial"/>
              </a:rPr>
              <a:t>Two Americas of Data Center Hazard: 2,696 US Facilities Mapped</a:t>
            </a:r>
          </a:p>
        </p:txBody>
      </p:sp>
      <p:sp>
        <p:nvSpPr>
          <p:cNvPr id="15" name="Google Shape;131;p13">
            <a:extLst>
              <a:ext uri="{FF2B5EF4-FFF2-40B4-BE49-F238E27FC236}">
                <a16:creationId xmlns:a16="http://schemas.microsoft.com/office/drawing/2014/main" id="{E8AE6323-EAA4-4495-A94C-00059D534A29}"/>
              </a:ext>
            </a:extLst>
          </p:cNvPr>
          <p:cNvSpPr txBox="1"/>
          <p:nvPr/>
        </p:nvSpPr>
        <p:spPr>
          <a:xfrm>
            <a:off x="22090621" y="5251774"/>
            <a:ext cx="10397100" cy="2801493"/>
          </a:xfrm>
          <a:prstGeom prst="rect">
            <a:avLst/>
          </a:prstGeom>
          <a:solidFill>
            <a:schemeClr val="bg1"/>
          </a:solidFill>
          <a:ln>
            <a:noFill/>
          </a:ln>
        </p:spPr>
        <p:txBody>
          <a:bodyPr spcFirstLastPara="1" wrap="square" lIns="164592" tIns="164592" rIns="164592" bIns="164592" anchor="t" anchorCtr="0"/>
          <a:lstStyle/>
          <a:p>
            <a:pPr algn="l" marL="346710" indent="-346710">
              <a:lnSpc>
                <a:spcPct val="95000"/>
              </a:lnSpc>
              <a:spcAft>
                <a:spcPts val="1000"/>
              </a:spcAft>
              <a:buClr>
                <a:schemeClr val="dk1"/>
              </a:buClr>
              <a:buSzPts val="1100"/>
            </a:pPr>
            <a:r>
              <a:rPr sz="2600" b="0">
                <a:solidFill>
                  <a:srgbClr val="000000"/>
                </a:solidFill>
                <a:latin typeface="Arial"/>
              </a:rPr>
              <a:t>•  A national average describes no real facility. Exposure is concentrated in a nameable minority of places.</a:t>
            </a:r>
          </a:p>
          <a:p>
            <a:pPr algn="l" marL="346710" indent="-346710">
              <a:lnSpc>
                <a:spcPct val="95000"/>
              </a:lnSpc>
              <a:spcAft>
                <a:spcPts val="1000"/>
              </a:spcAft>
            </a:pPr>
            <a:r>
              <a:rPr sz="2600" b="0">
                <a:solidFill>
                  <a:srgbClr val="000000"/>
                </a:solidFill>
                <a:latin typeface="Arial"/>
              </a:rPr>
              <a:t>•  The industry has clustered in the low-exposure half of the country. That is a finding about siting.</a:t>
            </a:r>
          </a:p>
          <a:p>
            <a:pPr algn="l" marL="346710" indent="-346710">
              <a:lnSpc>
                <a:spcPct val="95000"/>
              </a:lnSpc>
              <a:spcAft>
                <a:spcPts val="1000"/>
              </a:spcAft>
            </a:pPr>
            <a:r>
              <a:rPr sz="2600" b="0">
                <a:solidFill>
                  <a:srgbClr val="000000"/>
                </a:solidFill>
                <a:latin typeface="Arial"/>
              </a:rPr>
              <a:t>•  Next: fragility curves for server and cooling equipment, to turn exposure into estimated loss.</a:t>
            </a:r>
          </a:p>
        </p:txBody>
      </p:sp>
      <p:sp>
        <p:nvSpPr>
          <p:cNvPr id="16" name="Google Shape;131;p13">
            <a:extLst>
              <a:ext uri="{FF2B5EF4-FFF2-40B4-BE49-F238E27FC236}">
                <a16:creationId xmlns:a16="http://schemas.microsoft.com/office/drawing/2014/main" id="{9992E202-91ED-B6FF-C77B-9E72DD0EB5FB}"/>
              </a:ext>
            </a:extLst>
          </p:cNvPr>
          <p:cNvSpPr txBox="1"/>
          <p:nvPr/>
        </p:nvSpPr>
        <p:spPr>
          <a:xfrm>
            <a:off x="22090621" y="16218476"/>
            <a:ext cx="10418660" cy="3257042"/>
          </a:xfrm>
          <a:prstGeom prst="rect">
            <a:avLst/>
          </a:prstGeom>
          <a:solidFill>
            <a:schemeClr val="bg1"/>
          </a:solidFill>
          <a:ln>
            <a:noFill/>
          </a:ln>
        </p:spPr>
        <p:txBody>
          <a:bodyPr spcFirstLastPara="1" wrap="square" lIns="164592" tIns="164592" rIns="164592" bIns="164592" anchor="t" anchorCtr="0"/>
          <a:lstStyle/>
          <a:p>
            <a:pPr algn="l">
              <a:lnSpc>
                <a:spcPct val="90000"/>
              </a:lnSpc>
              <a:spcAft>
                <a:spcPts val="1000"/>
              </a:spcAft>
              <a:buClr>
                <a:schemeClr val="dk1"/>
              </a:buClr>
              <a:buSzPts val="1100"/>
            </a:pPr>
            <a:r>
              <a:rPr sz="2000" b="0">
                <a:solidFill>
                  <a:srgbClr val="333333"/>
                </a:solidFill>
                <a:latin typeface="Arial"/>
              </a:rPr>
              <a:t>Dillon, G.K. (2023) Wildfire Hazard Potential for the United States, 270-m, v2023. USDA Forest Service. doi:10.2737/RDS-2015-0047-4</a:t>
            </a:r>
            <a:endParaRPr sz="2600" i="1" dirty="0">
              <a:latin typeface="Arial" panose="020B0604020202020204" pitchFamily="34" charset="0"/>
              <a:ea typeface="Palatino"/>
              <a:cs typeface="Arial" panose="020B0604020202020204" pitchFamily="34" charset="0"/>
              <a:sym typeface="Palatino"/>
            </a:endParaRPr>
          </a:p>
          <a:p>
            <a:pPr algn="l">
              <a:lnSpc>
                <a:spcPct val="90000"/>
              </a:lnSpc>
              <a:spcAft>
                <a:spcPts val="1000"/>
              </a:spcAft>
            </a:pPr>
            <a:r>
              <a:rPr sz="2000" b="0">
                <a:solidFill>
                  <a:srgbClr val="333333"/>
                </a:solidFill>
                <a:latin typeface="Arial"/>
              </a:rPr>
              <a:t>Petersen, M.D. et al. (2023) 2023 US National Seismic Hazard Model. USGS. doi:10.5066/P9GNPCOD</a:t>
            </a:r>
          </a:p>
          <a:p>
            <a:pPr algn="l">
              <a:lnSpc>
                <a:spcPct val="90000"/>
              </a:lnSpc>
              <a:spcAft>
                <a:spcPts val="1000"/>
              </a:spcAft>
            </a:pPr>
            <a:r>
              <a:rPr sz="2000" b="0">
                <a:solidFill>
                  <a:srgbClr val="333333"/>
                </a:solidFill>
                <a:latin typeface="Arial"/>
              </a:rPr>
              <a:t>FEMA (2026) National Flood Hazard Layer. hazards.fema.gov</a:t>
            </a:r>
          </a:p>
          <a:p>
            <a:pPr algn="l">
              <a:lnSpc>
                <a:spcPct val="90000"/>
              </a:lnSpc>
              <a:spcAft>
                <a:spcPts val="1000"/>
              </a:spcAft>
            </a:pPr>
            <a:r>
              <a:rPr sz="2000" b="0">
                <a:solidFill>
                  <a:srgbClr val="333333"/>
                </a:solidFill>
                <a:latin typeface="Arial"/>
              </a:rPr>
              <a:t>Oughton, E.J. and Weigel, R. (2026) A Comparative Multi-Hazard Risk Assessment of the US High-Voltage Transmission Network. Zenodo. doi:10.5281/zenodo.20331026 (CC BY 4.0)</a:t>
            </a:r>
          </a:p>
          <a:p>
            <a:pPr algn="l">
              <a:lnSpc>
                <a:spcPct val="90000"/>
              </a:lnSpc>
              <a:spcAft>
                <a:spcPts val="1000"/>
              </a:spcAft>
            </a:pPr>
            <a:r>
              <a:rPr sz="2000" b="0">
                <a:solidFill>
                  <a:srgbClr val="333333"/>
                </a:solidFill>
                <a:latin typeface="Arial"/>
              </a:rPr>
              <a:t>WRI (2023) Aqueduct 4.0 Water Risk Atlas.</a:t>
            </a:r>
          </a:p>
        </p:txBody>
      </p:sp>
      <p:sp>
        <p:nvSpPr>
          <p:cNvPr id="17" name="Google Shape;131;p13">
            <a:extLst>
              <a:ext uri="{FF2B5EF4-FFF2-40B4-BE49-F238E27FC236}">
                <a16:creationId xmlns:a16="http://schemas.microsoft.com/office/drawing/2014/main" id="{305E6470-FBE8-3798-FA5A-2630CB85C23B}"/>
              </a:ext>
            </a:extLst>
          </p:cNvPr>
          <p:cNvSpPr txBox="1"/>
          <p:nvPr/>
        </p:nvSpPr>
        <p:spPr>
          <a:xfrm>
            <a:off x="22061036" y="21636297"/>
            <a:ext cx="10480664" cy="1620012"/>
          </a:xfrm>
          <a:prstGeom prst="rect">
            <a:avLst/>
          </a:prstGeom>
          <a:solidFill>
            <a:schemeClr val="bg1"/>
          </a:solidFill>
          <a:ln>
            <a:noFill/>
          </a:ln>
        </p:spPr>
        <p:txBody>
          <a:bodyPr spcFirstLastPara="1" wrap="square" lIns="164592" tIns="164592" rIns="164592" bIns="164592" anchor="t" anchorCtr="0"/>
          <a:lstStyle/>
          <a:p>
            <a:pPr algn="l">
              <a:lnSpc>
                <a:spcPct val="95000"/>
              </a:lnSpc>
              <a:spcAft>
                <a:spcPts val="1000"/>
              </a:spcAft>
              <a:buClr>
                <a:schemeClr val="dk1"/>
              </a:buClr>
              <a:buSzPts val="1100"/>
            </a:pPr>
            <a:r>
              <a:rPr sz="2000" b="0">
                <a:solidFill>
                  <a:srgbClr val="333333"/>
                </a:solidFill>
                <a:latin typeface="Arial"/>
              </a:rPr>
              <a:t>This research was made possible through the support of George Mason University's College of Science, which supports the ASSIP Program. Thanks to Prof. Edward Oughton for supervision and to Dennies Bor for the multi-hazard layers.</a:t>
            </a:r>
            <a:endParaRPr sz="2600" i="1" dirty="0">
              <a:latin typeface="Arial" panose="020B0604020202020204" pitchFamily="34" charset="0"/>
              <a:ea typeface="Palatino"/>
              <a:cs typeface="Arial" panose="020B0604020202020204" pitchFamily="34" charset="0"/>
              <a:sym typeface="Palatino"/>
            </a:endParaRPr>
          </a:p>
          <a:p>
            <a:pPr algn="l">
              <a:lnSpc>
                <a:spcPct val="95000"/>
              </a:lnSpc>
              <a:spcAft>
                <a:spcPts val="1000"/>
              </a:spcAft>
            </a:pPr>
            <a:r>
              <a:rPr sz="2000" b="0">
                <a:solidFill>
                  <a:srgbClr val="333333"/>
                </a:solidFill>
                <a:latin typeface="Arial"/>
              </a:rPr>
              <a:t>Data and code: github.com/aviangirekula/datacenter-dataset</a:t>
            </a:r>
          </a:p>
        </p:txBody>
      </p:sp>
      <p:pic>
        <p:nvPicPr>
          <p:cNvPr id="4" name="Picture 3">
            <a:extLst>
              <a:ext uri="{FF2B5EF4-FFF2-40B4-BE49-F238E27FC236}">
                <a16:creationId xmlns:a16="http://schemas.microsoft.com/office/drawing/2014/main" id="{6CEA0A40-9CB0-F6FB-B739-920187535AC5}"/>
              </a:ext>
            </a:extLst>
          </p:cNvPr>
          <p:cNvPicPr>
            <a:picLocks noChangeAspect="1"/>
          </p:cNvPicPr>
          <p:nvPr/>
        </p:nvPicPr>
        <p:blipFill>
          <a:blip r:embed="rId4"/>
          <a:stretch>
            <a:fillRect/>
          </a:stretch>
        </p:blipFill>
        <p:spPr>
          <a:xfrm>
            <a:off x="84706" y="0"/>
            <a:ext cx="4007774" cy="4742023"/>
          </a:xfrm>
          <a:prstGeom prst="rect">
            <a:avLst/>
          </a:prstGeom>
        </p:spPr>
      </p:pic>
      <p:sp>
        <p:nvSpPr>
          <p:cNvPr id="132" name="Rectangle 131"/>
          <p:cNvSpPr/>
          <p:nvPr/>
        </p:nvSpPr>
        <p:spPr>
          <a:xfrm>
            <a:off x="376700" y="10094248"/>
            <a:ext cx="10282778" cy="3047047"/>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376700" y="10094248"/>
            <a:ext cx="128016" cy="3047047"/>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614444" y="10167400"/>
            <a:ext cx="9871298" cy="2900743"/>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Bounds on these results</a:t>
            </a:r>
          </a:p>
          <a:p>
            <a:pPr algn="l" marL="280035" indent="-280035">
              <a:lnSpc>
                <a:spcPct val="95000"/>
              </a:lnSpc>
              <a:spcAft>
                <a:spcPts val="800"/>
              </a:spcAft>
            </a:pPr>
            <a:r>
              <a:rPr sz="2100" b="0">
                <a:solidFill>
                  <a:srgbClr val="000000"/>
                </a:solidFill>
                <a:latin typeface="Arial"/>
              </a:rPr>
              <a:t>•  Hail and wind rates track observer density (+0.39, +0.34 within state) and are excluded from every result shown.</a:t>
            </a:r>
          </a:p>
          <a:p>
            <a:pPr algn="l" marL="280035" indent="-280035">
              <a:lnSpc>
                <a:spcPct val="95000"/>
              </a:lnSpc>
              <a:spcAft>
                <a:spcPts val="800"/>
              </a:spcAft>
            </a:pPr>
            <a:r>
              <a:rPr sz="2100" b="0">
                <a:solidFill>
                  <a:srgbClr val="000000"/>
                </a:solidFill>
                <a:latin typeface="Arial"/>
              </a:rPr>
              <a:t>•  Power capacity is unrecorded for all 2,696, so every statistic is a facility count, not a capacity share.</a:t>
            </a:r>
          </a:p>
          <a:p>
            <a:pPr algn="l" marL="280035" indent="-280035">
              <a:lnSpc>
                <a:spcPct val="95000"/>
              </a:lnSpc>
              <a:spcAft>
                <a:spcPts val="800"/>
              </a:spcAft>
            </a:pPr>
            <a:r>
              <a:rPr sz="2100" b="0">
                <a:solidFill>
                  <a:srgbClr val="000000"/>
                </a:solidFill>
                <a:latin typeface="Arial"/>
              </a:rPr>
              <a:t>•  234 coordinates match a building only beyond 200 m. Under 500-draw positional error, 2,067 facilities never change class.</a:t>
            </a:r>
          </a:p>
        </p:txBody>
      </p:sp>
      <p:sp>
        <p:nvSpPr>
          <p:cNvPr id="135" name="Rectangle 134"/>
          <p:cNvSpPr/>
          <p:nvPr/>
        </p:nvSpPr>
        <p:spPr>
          <a:xfrm>
            <a:off x="422419" y="17249948"/>
            <a:ext cx="10191338" cy="67665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559580" y="17286524"/>
            <a:ext cx="2926080" cy="603504"/>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Earthquake</a:t>
            </a:r>
          </a:p>
        </p:txBody>
      </p:sp>
      <p:sp>
        <p:nvSpPr>
          <p:cNvPr id="137" name="TextBox 136"/>
          <p:cNvSpPr txBox="1"/>
          <p:nvPr/>
        </p:nvSpPr>
        <p:spPr>
          <a:xfrm>
            <a:off x="3531380" y="17286524"/>
            <a:ext cx="6899497" cy="603504"/>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USGS ASCE 7-22 point service</a:t>
            </a:r>
          </a:p>
        </p:txBody>
      </p:sp>
      <p:sp>
        <p:nvSpPr>
          <p:cNvPr id="138" name="Rectangle 137"/>
          <p:cNvSpPr/>
          <p:nvPr/>
        </p:nvSpPr>
        <p:spPr>
          <a:xfrm>
            <a:off x="422419" y="18018044"/>
            <a:ext cx="10191338" cy="67665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559580" y="18054620"/>
            <a:ext cx="2926080" cy="603504"/>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Wildfire</a:t>
            </a:r>
          </a:p>
        </p:txBody>
      </p:sp>
      <p:sp>
        <p:nvSpPr>
          <p:cNvPr id="140" name="TextBox 139"/>
          <p:cNvSpPr txBox="1"/>
          <p:nvPr/>
        </p:nvSpPr>
        <p:spPr>
          <a:xfrm>
            <a:off x="3531380" y="18054620"/>
            <a:ext cx="6899497" cy="603504"/>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USFS Hazard Potential, 270 m</a:t>
            </a:r>
          </a:p>
        </p:txBody>
      </p:sp>
      <p:sp>
        <p:nvSpPr>
          <p:cNvPr id="141" name="Rectangle 140"/>
          <p:cNvSpPr/>
          <p:nvPr/>
        </p:nvSpPr>
        <p:spPr>
          <a:xfrm>
            <a:off x="422419" y="18786140"/>
            <a:ext cx="10191338" cy="67665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559580" y="18822716"/>
            <a:ext cx="2926080" cy="603504"/>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Flood</a:t>
            </a:r>
          </a:p>
        </p:txBody>
      </p:sp>
      <p:sp>
        <p:nvSpPr>
          <p:cNvPr id="143" name="TextBox 142"/>
          <p:cNvSpPr txBox="1"/>
          <p:nvPr/>
        </p:nvSpPr>
        <p:spPr>
          <a:xfrm>
            <a:off x="3531380" y="18822716"/>
            <a:ext cx="6899497" cy="603504"/>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FEMA National Flood Hazard Layer</a:t>
            </a:r>
          </a:p>
        </p:txBody>
      </p:sp>
      <p:sp>
        <p:nvSpPr>
          <p:cNvPr id="144" name="Rectangle 143"/>
          <p:cNvSpPr/>
          <p:nvPr/>
        </p:nvSpPr>
        <p:spPr>
          <a:xfrm>
            <a:off x="422419" y="19554236"/>
            <a:ext cx="10191338" cy="67665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559580" y="19590812"/>
            <a:ext cx="2926080" cy="603504"/>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Water stress</a:t>
            </a:r>
          </a:p>
        </p:txBody>
      </p:sp>
      <p:sp>
        <p:nvSpPr>
          <p:cNvPr id="146" name="TextBox 145"/>
          <p:cNvSpPr txBox="1"/>
          <p:nvPr/>
        </p:nvSpPr>
        <p:spPr>
          <a:xfrm>
            <a:off x="3531380" y="19590812"/>
            <a:ext cx="6899497" cy="603504"/>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WRI Aqueduct 4.0</a:t>
            </a:r>
          </a:p>
        </p:txBody>
      </p:sp>
      <p:sp>
        <p:nvSpPr>
          <p:cNvPr id="147" name="TextBox 146"/>
          <p:cNvSpPr txBox="1"/>
          <p:nvPr/>
        </p:nvSpPr>
        <p:spPr>
          <a:xfrm>
            <a:off x="376700" y="20413772"/>
            <a:ext cx="10282778" cy="1826005"/>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Missing data is recorded as unknown, never as zero. A facility counts as exposed if it is within 2.4 km of land rated High or Very High for wildfire, inside a FEMA floodplain, or at peak ground acceleration of 0.30 g or more.</a:t>
            </a:r>
          </a:p>
        </p:txBody>
      </p:sp>
      <p:sp>
        <p:nvSpPr>
          <p:cNvPr id="148" name="TextBox 147"/>
          <p:cNvSpPr txBox="1"/>
          <p:nvPr/>
        </p:nvSpPr>
        <p:spPr>
          <a:xfrm>
            <a:off x="11011693"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2,696</a:t>
            </a:r>
          </a:p>
        </p:txBody>
      </p:sp>
      <p:sp>
        <p:nvSpPr>
          <p:cNvPr id="149" name="TextBox 148"/>
          <p:cNvSpPr txBox="1"/>
          <p:nvPr/>
        </p:nvSpPr>
        <p:spPr>
          <a:xfrm>
            <a:off x="11011693" y="6093022"/>
            <a:ext cx="2626857" cy="566928"/>
          </a:xfrm>
          <a:prstGeom prst="rect">
            <a:avLst/>
          </a:prstGeom>
          <a:noFill/>
        </p:spPr>
        <p:txBody>
          <a:bodyPr wrap="square" anchor="t" tIns="36576" bIns="36576">
            <a:spAutoFit/>
          </a:bodyPr>
          <a:lstStyle/>
          <a:p>
            <a:pPr algn="ctr">
              <a:lnSpc>
                <a:spcPct val="95000"/>
              </a:lnSpc>
              <a:spcAft>
                <a:spcPts val="800"/>
              </a:spcAft>
            </a:pPr>
            <a:r>
              <a:rPr sz="1900" b="0">
                <a:solidFill>
                  <a:srgbClr val="333333"/>
                </a:solidFill>
                <a:latin typeface="Arial"/>
              </a:rPr>
              <a:t>facilities mapped</a:t>
            </a:r>
          </a:p>
        </p:txBody>
      </p:sp>
      <p:sp>
        <p:nvSpPr>
          <p:cNvPr id="150" name="TextBox 149"/>
          <p:cNvSpPr txBox="1"/>
          <p:nvPr/>
        </p:nvSpPr>
        <p:spPr>
          <a:xfrm>
            <a:off x="13711702"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1,681</a:t>
            </a:r>
          </a:p>
        </p:txBody>
      </p:sp>
      <p:sp>
        <p:nvSpPr>
          <p:cNvPr id="151" name="TextBox 150"/>
          <p:cNvSpPr txBox="1"/>
          <p:nvPr/>
        </p:nvSpPr>
        <p:spPr>
          <a:xfrm>
            <a:off x="13711702" y="6093022"/>
            <a:ext cx="2626857" cy="566928"/>
          </a:xfrm>
          <a:prstGeom prst="rect">
            <a:avLst/>
          </a:prstGeom>
          <a:noFill/>
        </p:spPr>
        <p:txBody>
          <a:bodyPr wrap="square" anchor="t" tIns="36576" bIns="36576">
            <a:spAutoFit/>
          </a:bodyPr>
          <a:lstStyle/>
          <a:p>
            <a:pPr algn="ctr">
              <a:lnSpc>
                <a:spcPct val="95000"/>
              </a:lnSpc>
              <a:spcAft>
                <a:spcPts val="800"/>
              </a:spcAft>
            </a:pPr>
            <a:r>
              <a:rPr sz="1900" b="0">
                <a:solidFill>
                  <a:srgbClr val="333333"/>
                </a:solidFill>
                <a:latin typeface="Arial"/>
              </a:rPr>
              <a:t>on a building footprint</a:t>
            </a:r>
          </a:p>
        </p:txBody>
      </p:sp>
      <p:sp>
        <p:nvSpPr>
          <p:cNvPr id="152" name="TextBox 151"/>
          <p:cNvSpPr txBox="1"/>
          <p:nvPr/>
        </p:nvSpPr>
        <p:spPr>
          <a:xfrm>
            <a:off x="16411711"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35%</a:t>
            </a:r>
          </a:p>
        </p:txBody>
      </p:sp>
      <p:sp>
        <p:nvSpPr>
          <p:cNvPr id="153" name="TextBox 152"/>
          <p:cNvSpPr txBox="1"/>
          <p:nvPr/>
        </p:nvSpPr>
        <p:spPr>
          <a:xfrm>
            <a:off x="16411711" y="6093022"/>
            <a:ext cx="2626857" cy="566928"/>
          </a:xfrm>
          <a:prstGeom prst="rect">
            <a:avLst/>
          </a:prstGeom>
          <a:noFill/>
        </p:spPr>
        <p:txBody>
          <a:bodyPr wrap="square" anchor="t" tIns="36576" bIns="36576">
            <a:spAutoFit/>
          </a:bodyPr>
          <a:lstStyle/>
          <a:p>
            <a:pPr algn="ctr">
              <a:lnSpc>
                <a:spcPct val="95000"/>
              </a:lnSpc>
              <a:spcAft>
                <a:spcPts val="800"/>
              </a:spcAft>
            </a:pPr>
            <a:r>
              <a:rPr sz="1900" b="0">
                <a:solidFill>
                  <a:srgbClr val="333333"/>
                </a:solidFill>
                <a:latin typeface="Arial"/>
              </a:rPr>
              <a:t>face a mapped hazard</a:t>
            </a:r>
          </a:p>
        </p:txBody>
      </p:sp>
      <p:sp>
        <p:nvSpPr>
          <p:cNvPr id="154" name="TextBox 153"/>
          <p:cNvSpPr txBox="1"/>
          <p:nvPr/>
        </p:nvSpPr>
        <p:spPr>
          <a:xfrm>
            <a:off x="19111720"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0.7%</a:t>
            </a:r>
          </a:p>
        </p:txBody>
      </p:sp>
      <p:sp>
        <p:nvSpPr>
          <p:cNvPr id="155" name="TextBox 154"/>
          <p:cNvSpPr txBox="1"/>
          <p:nvPr/>
        </p:nvSpPr>
        <p:spPr>
          <a:xfrm>
            <a:off x="19111720" y="6093022"/>
            <a:ext cx="2626857" cy="566928"/>
          </a:xfrm>
          <a:prstGeom prst="rect">
            <a:avLst/>
          </a:prstGeom>
          <a:noFill/>
        </p:spPr>
        <p:txBody>
          <a:bodyPr wrap="square" anchor="t" tIns="36576" bIns="36576">
            <a:spAutoFit/>
          </a:bodyPr>
          <a:lstStyle/>
          <a:p>
            <a:pPr algn="ctr">
              <a:lnSpc>
                <a:spcPct val="95000"/>
              </a:lnSpc>
              <a:spcAft>
                <a:spcPts val="800"/>
              </a:spcAft>
            </a:pPr>
            <a:r>
              <a:rPr sz="1900" b="0">
                <a:solidFill>
                  <a:srgbClr val="333333"/>
                </a:solidFill>
                <a:latin typeface="Arial"/>
              </a:rPr>
              <a:t>of Virginia's 409</a:t>
            </a:r>
          </a:p>
        </p:txBody>
      </p:sp>
      <p:pic>
        <p:nvPicPr>
          <p:cNvPr id="156" name="Picture 155" descr="fig1_map.png"/>
          <p:cNvPicPr>
            <a:picLocks noChangeAspect="1"/>
          </p:cNvPicPr>
          <p:nvPr/>
        </p:nvPicPr>
        <p:blipFill>
          <a:blip r:embed="rId5"/>
          <a:stretch>
            <a:fillRect/>
          </a:stretch>
        </p:blipFill>
        <p:spPr>
          <a:xfrm>
            <a:off x="10965973" y="8012309"/>
            <a:ext cx="10781748" cy="4494943"/>
          </a:xfrm>
          <a:prstGeom prst="rect">
            <a:avLst/>
          </a:prstGeom>
        </p:spPr>
      </p:pic>
      <p:sp>
        <p:nvSpPr>
          <p:cNvPr id="157" name="TextBox 156"/>
          <p:cNvSpPr txBox="1"/>
          <p:nvPr/>
        </p:nvSpPr>
        <p:spPr>
          <a:xfrm>
            <a:off x="10965973" y="12580404"/>
            <a:ext cx="10781748" cy="993521"/>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1. Two thirds of US data centers face no mapped hazard. Exposure is regional, not universal.</a:t>
            </a:r>
          </a:p>
        </p:txBody>
      </p:sp>
      <p:sp>
        <p:nvSpPr>
          <p:cNvPr id="158" name="TextBox 157"/>
          <p:cNvSpPr txBox="1"/>
          <p:nvPr/>
        </p:nvSpPr>
        <p:spPr>
          <a:xfrm>
            <a:off x="10965973" y="13665365"/>
            <a:ext cx="10781748" cy="3883723"/>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Of 2,696 facilities, 1,742 face no mapped hazard and 205 face two or more. Among the 32 states holding 20 or more, 15 sit below 10% exposed and 10 sit above 60%. Only 7 lie in between, holding 12% of all facilities.</a:t>
            </a:r>
          </a:p>
          <a:p>
            <a:pPr algn="l">
              <a:lnSpc>
                <a:spcPct val="95000"/>
              </a:lnSpc>
              <a:spcAft>
                <a:spcPts val="800"/>
              </a:spcAft>
            </a:pPr>
            <a:r>
              <a:rPr sz="2600" b="0">
                <a:solidFill>
                  <a:srgbClr val="000000"/>
                </a:solidFill>
                <a:latin typeface="Arial"/>
              </a:rPr>
              <a:t>Virginia, the largest concentration on Earth, is 0.7% exposed. California and New Jersey are 100%.</a:t>
            </a:r>
          </a:p>
          <a:p>
            <a:pPr algn="l">
              <a:lnSpc>
                <a:spcPct val="95000"/>
              </a:lnSpc>
              <a:spcAft>
                <a:spcPts val="800"/>
              </a:spcAft>
            </a:pPr>
            <a:r>
              <a:rPr sz="2600" b="0">
                <a:solidFill>
                  <a:srgbClr val="000000"/>
                </a:solidFill>
                <a:latin typeface="Arial"/>
              </a:rPr>
              <a:t>Water stress is the exception that reaches Virginia: 31% of its facilities sit in high or extremely-high stress basins, against 0.7% for mapped hazards. Nationally 952 do.</a:t>
            </a:r>
          </a:p>
        </p:txBody>
      </p:sp>
      <p:pic>
        <p:nvPicPr>
          <p:cNvPr id="159" name="Picture 158" descr="fig2_states.png"/>
          <p:cNvPicPr>
            <a:picLocks noChangeAspect="1"/>
          </p:cNvPicPr>
          <p:nvPr/>
        </p:nvPicPr>
        <p:blipFill>
          <a:blip r:embed="rId6"/>
          <a:stretch>
            <a:fillRect/>
          </a:stretch>
        </p:blipFill>
        <p:spPr>
          <a:xfrm>
            <a:off x="10965973" y="17640529"/>
            <a:ext cx="10781748" cy="4947413"/>
          </a:xfrm>
          <a:prstGeom prst="rect">
            <a:avLst/>
          </a:prstGeom>
        </p:spPr>
      </p:pic>
      <p:sp>
        <p:nvSpPr>
          <p:cNvPr id="160" name="TextBox 159"/>
          <p:cNvSpPr txBox="1"/>
          <p:nvPr/>
        </p:nvSpPr>
        <p:spPr>
          <a:xfrm>
            <a:off x="10965973" y="22642806"/>
            <a:ext cx="10781748" cy="993521"/>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2. The least and most exposed states. The middle of the range is sparsely occupied, not empty.</a:t>
            </a:r>
          </a:p>
        </p:txBody>
      </p:sp>
      <p:sp>
        <p:nvSpPr>
          <p:cNvPr id="161" name="Rectangle 160"/>
          <p:cNvSpPr/>
          <p:nvPr/>
        </p:nvSpPr>
        <p:spPr>
          <a:xfrm>
            <a:off x="22090621" y="8236146"/>
            <a:ext cx="10397100" cy="2182558"/>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22090621" y="8236146"/>
            <a:ext cx="128016" cy="2182558"/>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22328365" y="8309298"/>
            <a:ext cx="9985620" cy="2036254"/>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Two things we expected and did not find</a:t>
            </a:r>
          </a:p>
          <a:p>
            <a:pPr algn="l">
              <a:lnSpc>
                <a:spcPct val="95000"/>
              </a:lnSpc>
              <a:spcAft>
                <a:spcPts val="800"/>
              </a:spcAft>
            </a:pPr>
            <a:r>
              <a:rPr sz="2100" b="0">
                <a:solidFill>
                  <a:srgbClr val="000000"/>
                </a:solidFill>
                <a:latin typeface="Arial"/>
              </a:rPr>
              <a:t>Measuring hazard across the whole building footprint rather than at one point changed the answer for only 8.9% of facilities. Building height showed no association with exposure once state was controlled, a median difference of 0.0 across 23 states.</a:t>
            </a:r>
          </a:p>
        </p:txBody>
      </p:sp>
      <p:pic>
        <p:nvPicPr>
          <p:cNvPr id="164" name="Picture 163" descr="fig3_confidence.png"/>
          <p:cNvPicPr>
            <a:picLocks noChangeAspect="1"/>
          </p:cNvPicPr>
          <p:nvPr/>
        </p:nvPicPr>
        <p:blipFill>
          <a:blip r:embed="rId7"/>
          <a:stretch>
            <a:fillRect/>
          </a:stretch>
        </p:blipFill>
        <p:spPr>
          <a:xfrm>
            <a:off x="22090621" y="10546721"/>
            <a:ext cx="10397100" cy="3904836"/>
          </a:xfrm>
          <a:prstGeom prst="rect">
            <a:avLst/>
          </a:prstGeom>
        </p:spPr>
      </p:pic>
      <p:sp>
        <p:nvSpPr>
          <p:cNvPr id="165" name="TextBox 164"/>
          <p:cNvSpPr txBox="1"/>
          <p:nvPr/>
        </p:nvSpPr>
        <p:spPr>
          <a:xfrm>
            <a:off x="22090621" y="14488133"/>
            <a:ext cx="10397100" cy="965771"/>
          </a:xfrm>
          <a:prstGeom prst="rect">
            <a:avLst/>
          </a:prstGeom>
          <a:noFill/>
        </p:spPr>
        <p:txBody>
          <a:bodyPr wrap="square" anchor="t" tIns="36576" bIns="36576">
            <a:spAutoFit/>
          </a:bodyPr>
          <a:lstStyle/>
          <a:p>
            <a:pPr algn="l">
              <a:lnSpc>
                <a:spcPct val="95000"/>
              </a:lnSpc>
              <a:spcAft>
                <a:spcPts val="800"/>
              </a:spcAft>
            </a:pPr>
            <a:r>
              <a:rPr sz="2100" b="1">
                <a:solidFill>
                  <a:srgbClr val="000000"/>
                </a:solidFill>
                <a:latin typeface="Arial"/>
              </a:rPr>
              <a:t>Fig 3. Coordinate quality was measured, not assumed. Results stay stable under realistic positional error.</a:t>
            </a:r>
          </a:p>
        </p:txBody>
      </p:sp>
    </p:spTree>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2013 - 2022 Theme</Template>
  <TotalTime>1916</TotalTime>
  <Words>1018</Words>
  <Application>Microsoft Office PowerPoint</Application>
  <PresentationFormat>Custom</PresentationFormat>
  <Paragraphs>59</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Times New Roman</vt:lpstr>
      <vt:lpstr>Arial</vt:lpstr>
      <vt:lpstr>Calibri</vt:lpstr>
      <vt:lpstr>Palatino</vt:lpstr>
      <vt:lpstr>Calibri Light</vt:lpstr>
      <vt:lpstr>Office 2013 - 2022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Amanda Haymond</dc:creator>
  <cp:lastModifiedBy>Amanda Still</cp:lastModifiedBy>
  <cp:revision>45</cp:revision>
  <dcterms:modified xsi:type="dcterms:W3CDTF">2026-06-17T19:45:41Z</dcterms:modified>
</cp:coreProperties>
</file>
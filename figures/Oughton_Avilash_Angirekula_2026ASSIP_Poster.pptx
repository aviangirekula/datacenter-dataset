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437146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demand has concentrated US computing into a few dozen metro clusters that face earthquakes, wildfire and flooding.</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Existing sources are proprietary, or give city-level coordinates never checked against a building.</a:t>
            </a:r>
          </a:p>
          <a:p>
            <a:pPr algn="l" marL="346710" indent="-346710">
              <a:lnSpc>
                <a:spcPct val="95000"/>
              </a:lnSpc>
              <a:spcAft>
                <a:spcPts val="1000"/>
              </a:spcAft>
            </a:pPr>
            <a:r>
              <a:rPr sz="2600" b="0">
                <a:solidFill>
                  <a:srgbClr val="000000"/>
                </a:solidFill>
                <a:latin typeface="Arial"/>
              </a:rPr>
              <a:t>•  We built a free, public, building-level inventory of the contiguous US, and tested how much the answer moves when a coordinate is wrong.</a:t>
            </a:r>
          </a:p>
          <a:p>
            <a:pPr algn="l" marL="346710" indent="-346710">
              <a:lnSpc>
                <a:spcPct val="95000"/>
              </a:lnSpc>
              <a:spcAft>
                <a:spcPts val="1000"/>
              </a:spcAft>
            </a:pPr>
            <a:r>
              <a:rPr sz="2600" b="0">
                <a:solidFill>
                  <a:srgbClr val="000000"/>
                </a:solidFill>
                <a:latin typeface="Arial"/>
              </a:rPr>
              <a:t>•  We measured exposure, meaning whether a site lies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3883723"/>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record per site across the contiguous US, matching on name and distance, with written evidence kept for all 194 merges.</a:t>
            </a:r>
          </a:p>
          <a:p>
            <a:pPr algn="l">
              <a:lnSpc>
                <a:spcPct val="95000"/>
              </a:lnSpc>
              <a:spcAft>
                <a:spcPts val="1000"/>
              </a:spcAft>
            </a:pPr>
            <a:r>
              <a:rPr sz="2600" b="0">
                <a:solidFill>
                  <a:srgbClr val="000000"/>
                </a:solidFill>
                <a:latin typeface="Arial"/>
              </a:rPr>
              <a:t>Against FEMA USA Structures footprints, 1,681 coordinates fall inside a building, 993 match the nearest and 22 have no match. A second non-OSM source confirmed 1,546, and we re-checked the 1,150 least certain with an AI-assisted pipeline we then reviewed.</a:t>
            </a:r>
          </a:p>
          <a:p>
            <a:pPr algn="l">
              <a:lnSpc>
                <a:spcPct val="95000"/>
              </a:lnSpc>
              <a:spcAft>
                <a:spcPts val="1000"/>
              </a:spcAft>
            </a:pPr>
            <a:r>
              <a:rPr sz="2600" b="0">
                <a:solidFill>
                  <a:srgbClr val="000000"/>
                </a:solidFill>
                <a:latin typeface="Arial"/>
              </a:rPr>
              <a:t>Our first seismic layer failed validation against USGS reference values (22 of 150 sites within 10%), so we replaced it:</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590135"/>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Hazard and water stress pick out largely different buildings. Counting both raises the share under a physical constraint from 35% to 56%.</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3649979"/>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 single national rate is close to meaningless. Only 7 of 32 states with 20 or more sites fall between 10% and 60% exposed.</a:t>
            </a:r>
          </a:p>
          <a:p>
            <a:pPr algn="l" marL="346710" indent="-346710">
              <a:lnSpc>
                <a:spcPct val="95000"/>
              </a:lnSpc>
              <a:spcAft>
                <a:spcPts val="1000"/>
              </a:spcAft>
            </a:pPr>
            <a:r>
              <a:rPr sz="2600" b="0">
                <a:solidFill>
                  <a:srgbClr val="000000"/>
                </a:solidFill>
                <a:latin typeface="Arial"/>
              </a:rPr>
              <a:t>•  We did not measure any site's water use, but the basins under the largest clusters are already over-drawn, and a hazard screen misses them.</a:t>
            </a:r>
          </a:p>
          <a:p>
            <a:pPr algn="l" marL="346710" indent="-346710">
              <a:lnSpc>
                <a:spcPct val="95000"/>
              </a:lnSpc>
              <a:spcAft>
                <a:spcPts val="1000"/>
              </a:spcAft>
            </a:pPr>
            <a:r>
              <a:rPr sz="2600" b="0">
                <a:solidFill>
                  <a:srgbClr val="000000"/>
                </a:solidFill>
                <a:latin typeface="Arial"/>
              </a:rPr>
              <a:t>•  New Jersey and California are both 100% exposed for opposite reasons, so one score hides what a site faces.</a:t>
            </a:r>
          </a:p>
          <a:p>
            <a:pPr algn="l" marL="346710" indent="-346710">
              <a:lnSpc>
                <a:spcPct val="95000"/>
              </a:lnSpc>
              <a:spcAft>
                <a:spcPts val="1000"/>
              </a:spcAft>
            </a:pPr>
            <a:r>
              <a:rPr sz="2600" b="0">
                <a:solidFill>
                  <a:srgbClr val="000000"/>
                </a:solidFill>
                <a:latin typeface="Arial"/>
              </a:rPr>
              <a:t>•  Next: fragility curves, to turn exposure into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USGS (2026) ASCE 7-22 Seismic Design Maps web service. earthquake.usgs.gov/ws/designmaps</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21551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860984"/>
            <a:ext cx="10282778" cy="4421943"/>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860984"/>
            <a:ext cx="128016" cy="4421943"/>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934136"/>
            <a:ext cx="9871298" cy="4275639"/>
          </a:xfrm>
          <a:prstGeom prst="rect">
            <a:avLst/>
          </a:prstGeom>
          <a:noFill/>
        </p:spPr>
        <p:txBody>
          <a:bodyPr wrap="square" anchor="t" tIns="36576" bIns="36576">
            <a:spAutoFit/>
          </a:bodyPr>
          <a:lstStyle/>
          <a:p>
            <a:pPr algn="l">
              <a:lnSpc>
                <a:spcPct val="95000"/>
              </a:lnSpc>
              <a:spcAft>
                <a:spcPts val="800"/>
              </a:spcAft>
            </a:pPr>
            <a:r>
              <a:rPr sz="2300" b="1">
                <a:solidFill>
                  <a:srgbClr val="000000"/>
                </a:solidFill>
                <a:latin typeface="Arial"/>
              </a:rPr>
              <a:t>Limitations</a:t>
            </a:r>
          </a:p>
          <a:p>
            <a:pPr algn="l" marL="293370" indent="-293370">
              <a:lnSpc>
                <a:spcPct val="95000"/>
              </a:lnSpc>
              <a:spcAft>
                <a:spcPts val="800"/>
              </a:spcAft>
            </a:pPr>
            <a:r>
              <a:rPr sz="2200" b="0">
                <a:solidFill>
                  <a:srgbClr val="000000"/>
                </a:solidFill>
                <a:latin typeface="Arial"/>
              </a:rPr>
              <a:t>•  Coverage is uneven. 83% of our Virginia sites come from OpenStreetMap against 48% of our California ones, so part of the gap between states reflects who did the mapping.</a:t>
            </a:r>
          </a:p>
          <a:p>
            <a:pPr algn="l" marL="293370" indent="-293370">
              <a:lnSpc>
                <a:spcPct val="95000"/>
              </a:lnSpc>
              <a:spcAft>
                <a:spcPts val="800"/>
              </a:spcAft>
            </a:pPr>
            <a:r>
              <a:rPr sz="2200" b="0">
                <a:solidFill>
                  <a:srgbClr val="000000"/>
                </a:solidFill>
                <a:latin typeface="Arial"/>
              </a:rPr>
              <a:t>•  Hail and wind come from eyewitness reports, so within a state their rates track the number of other sites within 40 km (Spearman 0.39 and 0.34). We left both out, along with lightning, tornado and hurricane.</a:t>
            </a:r>
          </a:p>
          <a:p>
            <a:pPr algn="l" marL="293370" indent="-293370">
              <a:lnSpc>
                <a:spcPct val="95000"/>
              </a:lnSpc>
              <a:spcAft>
                <a:spcPts val="800"/>
              </a:spcAft>
            </a:pPr>
            <a:r>
              <a:rPr sz="2200" b="0">
                <a:solidFill>
                  <a:srgbClr val="000000"/>
                </a:solidFill>
                <a:latin typeface="Arial"/>
              </a:rPr>
              <a:t>•  No public source lists power capacity, so a server room counts the same as a 100 MW campus.</a:t>
            </a:r>
          </a:p>
          <a:p>
            <a:pPr algn="l" marL="293370" indent="-293370">
              <a:lnSpc>
                <a:spcPct val="95000"/>
              </a:lnSpc>
              <a:spcAft>
                <a:spcPts val="800"/>
              </a:spcAft>
            </a:pPr>
            <a:r>
              <a:rPr sz="2200" b="0">
                <a:solidFill>
                  <a:srgbClr val="000000"/>
                </a:solidFill>
                <a:latin typeface="Arial"/>
              </a:rPr>
              <a:t>•  40 sites shown as clear sit outside FEMA's mapped extent and 8 outside the wildfire raster, so 35% is a floor.</a:t>
            </a:r>
          </a:p>
        </p:txBody>
      </p:sp>
      <p:sp>
        <p:nvSpPr>
          <p:cNvPr id="135" name="Rectangle 134"/>
          <p:cNvSpPr/>
          <p:nvPr/>
        </p:nvSpPr>
        <p:spPr>
          <a:xfrm>
            <a:off x="422419" y="1918066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918066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Earthquake</a:t>
            </a:r>
          </a:p>
        </p:txBody>
      </p:sp>
      <p:sp>
        <p:nvSpPr>
          <p:cNvPr id="137" name="TextBox 136"/>
          <p:cNvSpPr txBox="1"/>
          <p:nvPr/>
        </p:nvSpPr>
        <p:spPr>
          <a:xfrm>
            <a:off x="3531380" y="1918066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USGS ASCE 7-22 shaking, 2% chance in 50 yr</a:t>
            </a:r>
          </a:p>
        </p:txBody>
      </p:sp>
      <p:sp>
        <p:nvSpPr>
          <p:cNvPr id="138" name="Rectangle 137"/>
          <p:cNvSpPr/>
          <p:nvPr/>
        </p:nvSpPr>
        <p:spPr>
          <a:xfrm>
            <a:off x="422419" y="1972930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972930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Wildfire</a:t>
            </a:r>
          </a:p>
        </p:txBody>
      </p:sp>
      <p:sp>
        <p:nvSpPr>
          <p:cNvPr id="140" name="TextBox 139"/>
          <p:cNvSpPr txBox="1"/>
          <p:nvPr/>
        </p:nvSpPr>
        <p:spPr>
          <a:xfrm>
            <a:off x="3531380" y="1972930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USFS Hazard Potential 270 m, max in 2.4 km</a:t>
            </a:r>
          </a:p>
        </p:txBody>
      </p:sp>
      <p:sp>
        <p:nvSpPr>
          <p:cNvPr id="141" name="Rectangle 140"/>
          <p:cNvSpPr/>
          <p:nvPr/>
        </p:nvSpPr>
        <p:spPr>
          <a:xfrm>
            <a:off x="422419" y="2027794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2027794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Flood</a:t>
            </a:r>
          </a:p>
        </p:txBody>
      </p:sp>
      <p:sp>
        <p:nvSpPr>
          <p:cNvPr id="143" name="TextBox 142"/>
          <p:cNvSpPr txBox="1"/>
          <p:nvPr/>
        </p:nvSpPr>
        <p:spPr>
          <a:xfrm>
            <a:off x="3531380" y="2027794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FEMA flood layer, 1-in-100-year floodplain</a:t>
            </a:r>
          </a:p>
        </p:txBody>
      </p:sp>
      <p:sp>
        <p:nvSpPr>
          <p:cNvPr id="144" name="Rectangle 143"/>
          <p:cNvSpPr/>
          <p:nvPr/>
        </p:nvSpPr>
        <p:spPr>
          <a:xfrm>
            <a:off x="422419" y="2082658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2082658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Water stress</a:t>
            </a:r>
          </a:p>
        </p:txBody>
      </p:sp>
      <p:sp>
        <p:nvSpPr>
          <p:cNvPr id="146" name="TextBox 145"/>
          <p:cNvSpPr txBox="1"/>
          <p:nvPr/>
        </p:nvSpPr>
        <p:spPr>
          <a:xfrm>
            <a:off x="3531380" y="2082658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WRI Aqueduct 4.0, river-basin scale</a:t>
            </a:r>
          </a:p>
        </p:txBody>
      </p:sp>
      <p:sp>
        <p:nvSpPr>
          <p:cNvPr id="147" name="Rectangle 146"/>
          <p:cNvSpPr/>
          <p:nvPr/>
        </p:nvSpPr>
        <p:spPr>
          <a:xfrm>
            <a:off x="422419" y="2137522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137522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Uncertainty</a:t>
            </a:r>
          </a:p>
        </p:txBody>
      </p:sp>
      <p:sp>
        <p:nvSpPr>
          <p:cNvPr id="149" name="TextBox 148"/>
          <p:cNvSpPr txBox="1"/>
          <p:nvPr/>
        </p:nvSpPr>
        <p:spPr>
          <a:xfrm>
            <a:off x="3531380" y="2137522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500 relocations per site, 10-500 m by precision</a:t>
            </a:r>
          </a:p>
        </p:txBody>
      </p:sp>
      <p:sp>
        <p:nvSpPr>
          <p:cNvPr id="150" name="TextBox 149"/>
          <p:cNvSpPr txBox="1"/>
          <p:nvPr/>
        </p:nvSpPr>
        <p:spPr>
          <a:xfrm>
            <a:off x="376700" y="22015305"/>
            <a:ext cx="10282778" cy="218674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site counts as exposed if it lies within 2.4 km of land rated High or Very High for wildfire, inside a FEMA Special Flood Hazard Area, or at peak ground acceleration of 0.30 g or above. Wildfire is buffered because 2,284 sites sit on non-burnable land, where the pixel under the building says nothing.</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located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954</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a mapped hazard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952</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in a high water-stress basin</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563</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water-stressed only</a:t>
            </a:r>
          </a:p>
        </p:txBody>
      </p:sp>
      <p:pic>
        <p:nvPicPr>
          <p:cNvPr id="159" name="Picture 158" descr="fig1_map.png"/>
          <p:cNvPicPr>
            <a:picLocks noChangeAspect="1"/>
          </p:cNvPicPr>
          <p:nvPr/>
        </p:nvPicPr>
        <p:blipFill>
          <a:blip r:embed="rId5"/>
          <a:stretch>
            <a:fillRect/>
          </a:stretch>
        </p:blipFill>
        <p:spPr>
          <a:xfrm>
            <a:off x="10965973" y="8634133"/>
            <a:ext cx="10781748" cy="4932334"/>
          </a:xfrm>
          <a:prstGeom prst="rect">
            <a:avLst/>
          </a:prstGeom>
        </p:spPr>
      </p:pic>
      <p:sp>
        <p:nvSpPr>
          <p:cNvPr id="160" name="TextBox 159"/>
          <p:cNvSpPr txBox="1"/>
          <p:nvPr/>
        </p:nvSpPr>
        <p:spPr>
          <a:xfrm>
            <a:off x="10965973" y="13639618"/>
            <a:ext cx="10781748" cy="1298765"/>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One third of US data centers face a mapped hazard. Of the 205 facing two or more (orange), California holds 119, with smaller clusters in Utah, Nevada and New Jersey.</a:t>
            </a:r>
          </a:p>
        </p:txBody>
      </p:sp>
      <p:sp>
        <p:nvSpPr>
          <p:cNvPr id="161" name="TextBox 160"/>
          <p:cNvSpPr txBox="1"/>
          <p:nvPr/>
        </p:nvSpPr>
        <p:spPr>
          <a:xfrm>
            <a:off x="10965973" y="15029824"/>
            <a:ext cx="10781748" cy="4965953"/>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952 sites lie in a high or extremely-high water-stress basin, almost exactly the 954 facing a mapped hazard, but only 389 are the same sites. Some of the largest clusters are stressed while their hazard maps read clear: Virginia is 0.7% hazard-exposed and 31% water-stressed, Illinois 2.7% and 95%.</a:t>
            </a:r>
          </a:p>
          <a:p>
            <a:pPr algn="l">
              <a:lnSpc>
                <a:spcPct val="95000"/>
              </a:lnSpc>
              <a:spcAft>
                <a:spcPts val="800"/>
              </a:spcAft>
            </a:pPr>
            <a:r>
              <a:rPr sz="2600" b="0">
                <a:solidFill>
                  <a:srgbClr val="000000"/>
                </a:solidFill>
                <a:latin typeface="Arial"/>
              </a:rPr>
              <a:t>Which hazard dominates depends on the region. New Jersey reaches 100% through wildfire alone and 0% through earthquake, California 96% earthquake. Nationally 646 sites are exposed to wildfire, 448 to earthquake and 71 to flood.</a:t>
            </a:r>
          </a:p>
          <a:p>
            <a:pPr algn="l">
              <a:lnSpc>
                <a:spcPct val="95000"/>
              </a:lnSpc>
              <a:spcAft>
                <a:spcPts val="800"/>
              </a:spcAft>
            </a:pPr>
            <a:r>
              <a:rPr sz="2600" b="0">
                <a:solidFill>
                  <a:srgbClr val="000000"/>
                </a:solidFill>
                <a:latin typeface="Arial"/>
              </a:rPr>
              <a:t>Widening the wildfire buffer from 2.4 km to 5 km takes the wildfire count from 646 to 953, so that result is a statement about the buffer as much as about the site.</a:t>
            </a:r>
          </a:p>
        </p:txBody>
      </p:sp>
      <p:pic>
        <p:nvPicPr>
          <p:cNvPr id="162" name="Picture 161" descr="fig2_states.png"/>
          <p:cNvPicPr>
            <a:picLocks noChangeAspect="1"/>
          </p:cNvPicPr>
          <p:nvPr/>
        </p:nvPicPr>
        <p:blipFill>
          <a:blip r:embed="rId6"/>
          <a:stretch>
            <a:fillRect/>
          </a:stretch>
        </p:blipFill>
        <p:spPr>
          <a:xfrm>
            <a:off x="10965973" y="20087218"/>
            <a:ext cx="10781748" cy="3673701"/>
          </a:xfrm>
          <a:prstGeom prst="rect">
            <a:avLst/>
          </a:prstGeom>
        </p:spPr>
      </p:pic>
      <p:sp>
        <p:nvSpPr>
          <p:cNvPr id="163" name="TextBox 162"/>
          <p:cNvSpPr txBox="1"/>
          <p:nvPr/>
        </p:nvSpPr>
        <p:spPr>
          <a:xfrm>
            <a:off x="10965973" y="23815783"/>
            <a:ext cx="10781748"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All 32 states with 20 or more sites, coloured by dominant hazard.</a:t>
            </a:r>
          </a:p>
        </p:txBody>
      </p:sp>
      <p:sp>
        <p:nvSpPr>
          <p:cNvPr id="164" name="Rectangle 163"/>
          <p:cNvSpPr/>
          <p:nvPr/>
        </p:nvSpPr>
        <p:spPr>
          <a:xfrm>
            <a:off x="22090621" y="9084634"/>
            <a:ext cx="10397100" cy="2043811"/>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9084634"/>
            <a:ext cx="128016" cy="2043811"/>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9157786"/>
            <a:ext cx="9985620" cy="1897507"/>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robustness checks</a:t>
            </a:r>
          </a:p>
          <a:p>
            <a:pPr algn="l">
              <a:lnSpc>
                <a:spcPct val="95000"/>
              </a:lnSpc>
              <a:spcAft>
                <a:spcPts val="800"/>
              </a:spcAft>
            </a:pPr>
            <a:r>
              <a:rPr sz="2400" b="0">
                <a:solidFill>
                  <a:srgbClr val="000000"/>
                </a:solidFill>
                <a:latin typeface="Arial"/>
              </a:rPr>
              <a:t>Sampling across a whole footprint instead of its centre changed the answer for 29 of 326 comparable sites. Taller buildings looked more exposed nationally, but that vanished within states.</a:t>
            </a:r>
          </a:p>
        </p:txBody>
      </p:sp>
      <p:pic>
        <p:nvPicPr>
          <p:cNvPr id="167" name="Picture 166" descr="fig3_confidence.png"/>
          <p:cNvPicPr>
            <a:picLocks noChangeAspect="1"/>
          </p:cNvPicPr>
          <p:nvPr/>
        </p:nvPicPr>
        <p:blipFill>
          <a:blip r:embed="rId7"/>
          <a:stretch>
            <a:fillRect/>
          </a:stretch>
        </p:blipFill>
        <p:spPr>
          <a:xfrm>
            <a:off x="22090621" y="11256461"/>
            <a:ext cx="10397100" cy="3227243"/>
          </a:xfrm>
          <a:prstGeom prst="rect">
            <a:avLst/>
          </a:prstGeom>
        </p:spPr>
      </p:pic>
      <p:sp>
        <p:nvSpPr>
          <p:cNvPr id="168" name="TextBox 167"/>
          <p:cNvSpPr txBox="1"/>
          <p:nvPr/>
        </p:nvSpPr>
        <p:spPr>
          <a:xfrm>
            <a:off x="22090621" y="14520279"/>
            <a:ext cx="10397100"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Wildfire class under coordinate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
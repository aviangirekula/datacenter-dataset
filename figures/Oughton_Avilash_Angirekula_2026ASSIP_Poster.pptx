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274320" y="320040"/>
            <a:ext cx="3246120" cy="3657600"/>
          </a:xfrm>
          <a:prstGeom prst="rect">
            <a:avLst/>
          </a:prstGeom>
          <a:noFill/>
          <a:ln>
            <a:noFill/>
          </a:ln>
        </p:spPr>
      </p:pic>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06" name="Rectangle 105"/>
          <p:cNvSpPr/>
          <p:nvPr/>
        </p:nvSpPr>
        <p:spPr>
          <a:xfrm>
            <a:off x="3931920" y="365760"/>
            <a:ext cx="24963120" cy="233172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4069080" y="457200"/>
            <a:ext cx="24688800" cy="2148840"/>
          </a:xfrm>
          <a:prstGeom prst="rect">
            <a:avLst/>
          </a:prstGeom>
          <a:noFill/>
        </p:spPr>
        <p:txBody>
          <a:bodyPr wrap="square" anchor="ctr">
            <a:spAutoFit/>
          </a:bodyPr>
          <a:lstStyle/>
          <a:p>
            <a:pPr algn="ctr">
              <a:lnSpc>
                <a:spcPct val="92000"/>
              </a:lnSpc>
              <a:spcAft>
                <a:spcPts val="1000"/>
              </a:spcAft>
            </a:pPr>
            <a:r>
              <a:rPr sz="8800" b="1">
                <a:solidFill>
                  <a:srgbClr val="FFFFFF"/>
                </a:solidFill>
                <a:latin typeface="Arial"/>
              </a:rPr>
              <a:t>Two Americas of Data Center Hazard: 2,696 US Facilities Mapped</a:t>
            </a:r>
          </a:p>
        </p:txBody>
      </p:sp>
      <p:sp>
        <p:nvSpPr>
          <p:cNvPr id="108" name="TextBox 107"/>
          <p:cNvSpPr txBox="1"/>
          <p:nvPr/>
        </p:nvSpPr>
        <p:spPr>
          <a:xfrm>
            <a:off x="3931920" y="2761488"/>
            <a:ext cx="24963120" cy="868680"/>
          </a:xfrm>
          <a:prstGeom prst="rect">
            <a:avLst/>
          </a:prstGeom>
          <a:noFill/>
        </p:spPr>
        <p:txBody>
          <a:bodyPr wrap="square" anchor="ctr">
            <a:spAutoFit/>
          </a:bodyPr>
          <a:lstStyle/>
          <a:p>
            <a:pPr algn="ctr">
              <a:lnSpc>
                <a:spcPct val="95000"/>
              </a:lnSpc>
              <a:spcAft>
                <a:spcPts val="1000"/>
              </a:spcAft>
            </a:pPr>
            <a:r>
              <a:rPr sz="4000" b="1">
                <a:solidFill>
                  <a:srgbClr val="000000"/>
                </a:solidFill>
                <a:latin typeface="Arial"/>
              </a:rPr>
              <a:t>Avilash Angirekula¹, Dennies Bor¹, Edward J. Oughton¹</a:t>
            </a:r>
          </a:p>
        </p:txBody>
      </p:sp>
      <p:sp>
        <p:nvSpPr>
          <p:cNvPr id="109" name="TextBox 108"/>
          <p:cNvSpPr txBox="1"/>
          <p:nvPr/>
        </p:nvSpPr>
        <p:spPr>
          <a:xfrm>
            <a:off x="3931920" y="3611880"/>
            <a:ext cx="24963120" cy="658368"/>
          </a:xfrm>
          <a:prstGeom prst="rect">
            <a:avLst/>
          </a:prstGeom>
          <a:noFill/>
        </p:spPr>
        <p:txBody>
          <a:bodyPr wrap="square" anchor="ctr">
            <a:spAutoFit/>
          </a:bodyPr>
          <a:lstStyle/>
          <a:p>
            <a:pPr algn="ctr">
              <a:lnSpc>
                <a:spcPct val="95000"/>
              </a:lnSpc>
              <a:spcAft>
                <a:spcPts val="1000"/>
              </a:spcAft>
            </a:pPr>
            <a:r>
              <a:rPr sz="2600" b="0">
                <a:solidFill>
                  <a:srgbClr val="444444"/>
                </a:solidFill>
                <a:latin typeface="Arial"/>
              </a:rPr>
              <a:t>¹Department of Geography and Geoinformation Sciences, College of Science, George Mason University</a:t>
            </a:r>
          </a:p>
        </p:txBody>
      </p:sp>
      <p:sp>
        <p:nvSpPr>
          <p:cNvPr id="110" name="Rectangle 109"/>
          <p:cNvSpPr/>
          <p:nvPr/>
        </p:nvSpPr>
        <p:spPr>
          <a:xfrm>
            <a:off x="457200" y="4370832"/>
            <a:ext cx="32004000" cy="54864"/>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457200" y="4526280"/>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40080" y="4581144"/>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Background</a:t>
            </a:r>
          </a:p>
        </p:txBody>
      </p:sp>
      <p:sp>
        <p:nvSpPr>
          <p:cNvPr id="113" name="TextBox 112"/>
          <p:cNvSpPr txBox="1"/>
          <p:nvPr/>
        </p:nvSpPr>
        <p:spPr>
          <a:xfrm>
            <a:off x="457200" y="5486400"/>
            <a:ext cx="10332720" cy="5474207"/>
          </a:xfrm>
          <a:prstGeom prst="rect">
            <a:avLst/>
          </a:prstGeom>
          <a:noFill/>
        </p:spPr>
        <p:txBody>
          <a:bodyPr wrap="square" anchor="t">
            <a:spAutoFit/>
          </a:bodyPr>
          <a:lstStyle/>
          <a:p>
            <a:pPr algn="l">
              <a:lnSpc>
                <a:spcPct val="95000"/>
              </a:lnSpc>
              <a:spcAft>
                <a:spcPts val="1000"/>
              </a:spcAft>
            </a:pPr>
            <a:r>
              <a:rPr sz="2800" b="0">
                <a:solidFill>
                  <a:srgbClr val="000000"/>
                </a:solidFill>
                <a:latin typeface="Arial"/>
              </a:rPr>
              <a:t>Artificial intelligence and cloud computing have concentrated enormous computing capacity into a small number of US locations. Those buildings face earthquakes, wildfire, and flooding, but no open dataset records where they physically stand.</a:t>
            </a:r>
          </a:p>
          <a:p>
            <a:pPr algn="l">
              <a:lnSpc>
                <a:spcPct val="95000"/>
              </a:lnSpc>
              <a:spcAft>
                <a:spcPts val="1000"/>
              </a:spcAft>
            </a:pPr>
            <a:r>
              <a:rPr sz="2800" b="0">
                <a:solidFill>
                  <a:srgbClr val="000000"/>
                </a:solidFill>
                <a:latin typeface="Arial"/>
              </a:rPr>
              <a:t/>
            </a:r>
          </a:p>
          <a:p>
            <a:pPr algn="l">
              <a:lnSpc>
                <a:spcPct val="95000"/>
              </a:lnSpc>
              <a:spcAft>
                <a:spcPts val="1000"/>
              </a:spcAft>
            </a:pPr>
            <a:r>
              <a:rPr sz="2800" b="0">
                <a:solidFill>
                  <a:srgbClr val="000000"/>
                </a:solidFill>
                <a:latin typeface="Arial"/>
              </a:rPr>
              <a:t>Existing sources are proprietary, aggregated above the building level, or unverified. Without building-level locations, no one can measure what US computing infrastructure is exposed to.</a:t>
            </a:r>
          </a:p>
          <a:p>
            <a:pPr algn="l">
              <a:lnSpc>
                <a:spcPct val="95000"/>
              </a:lnSpc>
              <a:spcAft>
                <a:spcPts val="1000"/>
              </a:spcAft>
            </a:pPr>
            <a:r>
              <a:rPr sz="2800" b="0">
                <a:solidFill>
                  <a:srgbClr val="000000"/>
                </a:solidFill>
                <a:latin typeface="Arial"/>
              </a:rPr>
              <a:t/>
            </a:r>
          </a:p>
          <a:p>
            <a:pPr algn="l">
              <a:lnSpc>
                <a:spcPct val="95000"/>
              </a:lnSpc>
              <a:spcAft>
                <a:spcPts val="1000"/>
              </a:spcAft>
            </a:pPr>
            <a:r>
              <a:rPr sz="2800" b="0">
                <a:solidFill>
                  <a:srgbClr val="000000"/>
                </a:solidFill>
                <a:latin typeface="Arial"/>
              </a:rPr>
              <a:t>These are EXPOSURE values, not risk. No vulnerability term is applied, so nothing here is a damage or loss estimate.</a:t>
            </a:r>
          </a:p>
        </p:txBody>
      </p:sp>
      <p:sp>
        <p:nvSpPr>
          <p:cNvPr id="114" name="Rectangle 113"/>
          <p:cNvSpPr/>
          <p:nvPr/>
        </p:nvSpPr>
        <p:spPr>
          <a:xfrm>
            <a:off x="457200" y="11750040"/>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640080" y="11804904"/>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Materials and Methods</a:t>
            </a:r>
          </a:p>
        </p:txBody>
      </p:sp>
      <p:sp>
        <p:nvSpPr>
          <p:cNvPr id="116" name="TextBox 115"/>
          <p:cNvSpPr txBox="1"/>
          <p:nvPr/>
        </p:nvSpPr>
        <p:spPr>
          <a:xfrm>
            <a:off x="457200" y="12710159"/>
            <a:ext cx="10332720" cy="2855468"/>
          </a:xfrm>
          <a:prstGeom prst="rect">
            <a:avLst/>
          </a:prstGeom>
          <a:noFill/>
        </p:spPr>
        <p:txBody>
          <a:bodyPr wrap="square" anchor="t">
            <a:spAutoFit/>
          </a:bodyPr>
          <a:lstStyle/>
          <a:p>
            <a:pPr algn="l">
              <a:lnSpc>
                <a:spcPct val="95000"/>
              </a:lnSpc>
              <a:spcAft>
                <a:spcPts val="1000"/>
              </a:spcAft>
            </a:pPr>
            <a:r>
              <a:rPr sz="2800" b="0">
                <a:solidFill>
                  <a:srgbClr val="000000"/>
                </a:solidFill>
                <a:latin typeface="Arial"/>
              </a:rPr>
              <a:t>A reproducible Python pipeline merges OpenStreetMap, PeeringDB, and Wikidata, removes duplicate records, and grades every coordinate against an independent building-footprint dataset.</a:t>
            </a:r>
          </a:p>
          <a:p>
            <a:pPr algn="l">
              <a:lnSpc>
                <a:spcPct val="95000"/>
              </a:lnSpc>
              <a:spcAft>
                <a:spcPts val="1000"/>
              </a:spcAft>
            </a:pPr>
            <a:r>
              <a:rPr sz="2800" b="0">
                <a:solidFill>
                  <a:srgbClr val="000000"/>
                </a:solidFill>
                <a:latin typeface="Arial"/>
              </a:rPr>
              <a:t/>
            </a:r>
          </a:p>
          <a:p>
            <a:pPr algn="l">
              <a:lnSpc>
                <a:spcPct val="95000"/>
              </a:lnSpc>
              <a:spcAft>
                <a:spcPts val="1000"/>
              </a:spcAft>
            </a:pPr>
            <a:r>
              <a:rPr sz="2800" b="0">
                <a:solidFill>
                  <a:srgbClr val="000000"/>
                </a:solidFill>
                <a:latin typeface="Arial"/>
              </a:rPr>
              <a:t>Hazards are then read at each facility from official sources:</a:t>
            </a:r>
          </a:p>
        </p:txBody>
      </p:sp>
      <p:sp>
        <p:nvSpPr>
          <p:cNvPr id="117" name="Rectangle 116"/>
          <p:cNvSpPr/>
          <p:nvPr/>
        </p:nvSpPr>
        <p:spPr>
          <a:xfrm>
            <a:off x="548640" y="15565627"/>
            <a:ext cx="10149840" cy="713232"/>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85800" y="15620491"/>
            <a:ext cx="3017520" cy="603504"/>
          </a:xfrm>
          <a:prstGeom prst="rect">
            <a:avLst/>
          </a:prstGeom>
          <a:noFill/>
        </p:spPr>
        <p:txBody>
          <a:bodyPr wrap="square" anchor="ctr">
            <a:spAutoFit/>
          </a:bodyPr>
          <a:lstStyle/>
          <a:p>
            <a:pPr algn="l">
              <a:lnSpc>
                <a:spcPct val="95000"/>
              </a:lnSpc>
              <a:spcAft>
                <a:spcPts val="1000"/>
              </a:spcAft>
            </a:pPr>
            <a:r>
              <a:rPr sz="2600" b="1">
                <a:solidFill>
                  <a:srgbClr val="000000"/>
                </a:solidFill>
                <a:latin typeface="Arial"/>
              </a:rPr>
              <a:t>Earthquake</a:t>
            </a:r>
          </a:p>
        </p:txBody>
      </p:sp>
      <p:sp>
        <p:nvSpPr>
          <p:cNvPr id="119" name="TextBox 118"/>
          <p:cNvSpPr txBox="1"/>
          <p:nvPr/>
        </p:nvSpPr>
        <p:spPr>
          <a:xfrm>
            <a:off x="3703320" y="15620491"/>
            <a:ext cx="6812280" cy="603504"/>
          </a:xfrm>
          <a:prstGeom prst="rect">
            <a:avLst/>
          </a:prstGeom>
          <a:noFill/>
        </p:spPr>
        <p:txBody>
          <a:bodyPr wrap="square" anchor="ctr">
            <a:spAutoFit/>
          </a:bodyPr>
          <a:lstStyle/>
          <a:p>
            <a:pPr algn="l">
              <a:lnSpc>
                <a:spcPct val="95000"/>
              </a:lnSpc>
              <a:spcAft>
                <a:spcPts val="1000"/>
              </a:spcAft>
            </a:pPr>
            <a:r>
              <a:rPr sz="2400" b="0">
                <a:solidFill>
                  <a:srgbClr val="333333"/>
                </a:solidFill>
                <a:latin typeface="Arial"/>
              </a:rPr>
              <a:t>USGS ASCE 7-22 point service</a:t>
            </a:r>
          </a:p>
        </p:txBody>
      </p:sp>
      <p:sp>
        <p:nvSpPr>
          <p:cNvPr id="120" name="Rectangle 119"/>
          <p:cNvSpPr/>
          <p:nvPr/>
        </p:nvSpPr>
        <p:spPr>
          <a:xfrm>
            <a:off x="548640" y="16388587"/>
            <a:ext cx="10149840" cy="713232"/>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85800" y="16443451"/>
            <a:ext cx="3017520" cy="603504"/>
          </a:xfrm>
          <a:prstGeom prst="rect">
            <a:avLst/>
          </a:prstGeom>
          <a:noFill/>
        </p:spPr>
        <p:txBody>
          <a:bodyPr wrap="square" anchor="ctr">
            <a:spAutoFit/>
          </a:bodyPr>
          <a:lstStyle/>
          <a:p>
            <a:pPr algn="l">
              <a:lnSpc>
                <a:spcPct val="95000"/>
              </a:lnSpc>
              <a:spcAft>
                <a:spcPts val="1000"/>
              </a:spcAft>
            </a:pPr>
            <a:r>
              <a:rPr sz="2600" b="1">
                <a:solidFill>
                  <a:srgbClr val="000000"/>
                </a:solidFill>
                <a:latin typeface="Arial"/>
              </a:rPr>
              <a:t>Wildfire</a:t>
            </a:r>
          </a:p>
        </p:txBody>
      </p:sp>
      <p:sp>
        <p:nvSpPr>
          <p:cNvPr id="122" name="TextBox 121"/>
          <p:cNvSpPr txBox="1"/>
          <p:nvPr/>
        </p:nvSpPr>
        <p:spPr>
          <a:xfrm>
            <a:off x="3703320" y="16443451"/>
            <a:ext cx="6812280" cy="603504"/>
          </a:xfrm>
          <a:prstGeom prst="rect">
            <a:avLst/>
          </a:prstGeom>
          <a:noFill/>
        </p:spPr>
        <p:txBody>
          <a:bodyPr wrap="square" anchor="ctr">
            <a:spAutoFit/>
          </a:bodyPr>
          <a:lstStyle/>
          <a:p>
            <a:pPr algn="l">
              <a:lnSpc>
                <a:spcPct val="95000"/>
              </a:lnSpc>
              <a:spcAft>
                <a:spcPts val="1000"/>
              </a:spcAft>
            </a:pPr>
            <a:r>
              <a:rPr sz="2400" b="0">
                <a:solidFill>
                  <a:srgbClr val="333333"/>
                </a:solidFill>
                <a:latin typeface="Arial"/>
              </a:rPr>
              <a:t>USFS Hazard Potential, 270 m</a:t>
            </a:r>
          </a:p>
        </p:txBody>
      </p:sp>
      <p:sp>
        <p:nvSpPr>
          <p:cNvPr id="123" name="Rectangle 122"/>
          <p:cNvSpPr/>
          <p:nvPr/>
        </p:nvSpPr>
        <p:spPr>
          <a:xfrm>
            <a:off x="548640" y="17211547"/>
            <a:ext cx="10149840" cy="713232"/>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685800" y="17266411"/>
            <a:ext cx="3017520" cy="603504"/>
          </a:xfrm>
          <a:prstGeom prst="rect">
            <a:avLst/>
          </a:prstGeom>
          <a:noFill/>
        </p:spPr>
        <p:txBody>
          <a:bodyPr wrap="square" anchor="ctr">
            <a:spAutoFit/>
          </a:bodyPr>
          <a:lstStyle/>
          <a:p>
            <a:pPr algn="l">
              <a:lnSpc>
                <a:spcPct val="95000"/>
              </a:lnSpc>
              <a:spcAft>
                <a:spcPts val="1000"/>
              </a:spcAft>
            </a:pPr>
            <a:r>
              <a:rPr sz="2600" b="1">
                <a:solidFill>
                  <a:srgbClr val="000000"/>
                </a:solidFill>
                <a:latin typeface="Arial"/>
              </a:rPr>
              <a:t>Flood</a:t>
            </a:r>
          </a:p>
        </p:txBody>
      </p:sp>
      <p:sp>
        <p:nvSpPr>
          <p:cNvPr id="125" name="TextBox 124"/>
          <p:cNvSpPr txBox="1"/>
          <p:nvPr/>
        </p:nvSpPr>
        <p:spPr>
          <a:xfrm>
            <a:off x="3703320" y="17266411"/>
            <a:ext cx="6812280" cy="603504"/>
          </a:xfrm>
          <a:prstGeom prst="rect">
            <a:avLst/>
          </a:prstGeom>
          <a:noFill/>
        </p:spPr>
        <p:txBody>
          <a:bodyPr wrap="square" anchor="ctr">
            <a:spAutoFit/>
          </a:bodyPr>
          <a:lstStyle/>
          <a:p>
            <a:pPr algn="l">
              <a:lnSpc>
                <a:spcPct val="95000"/>
              </a:lnSpc>
              <a:spcAft>
                <a:spcPts val="1000"/>
              </a:spcAft>
            </a:pPr>
            <a:r>
              <a:rPr sz="2400" b="0">
                <a:solidFill>
                  <a:srgbClr val="333333"/>
                </a:solidFill>
                <a:latin typeface="Arial"/>
              </a:rPr>
              <a:t>FEMA National Flood Hazard Layer</a:t>
            </a:r>
          </a:p>
        </p:txBody>
      </p:sp>
      <p:sp>
        <p:nvSpPr>
          <p:cNvPr id="126" name="Rectangle 125"/>
          <p:cNvSpPr/>
          <p:nvPr/>
        </p:nvSpPr>
        <p:spPr>
          <a:xfrm>
            <a:off x="548640" y="18034507"/>
            <a:ext cx="10149840" cy="713232"/>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85800" y="18089371"/>
            <a:ext cx="3017520" cy="603504"/>
          </a:xfrm>
          <a:prstGeom prst="rect">
            <a:avLst/>
          </a:prstGeom>
          <a:noFill/>
        </p:spPr>
        <p:txBody>
          <a:bodyPr wrap="square" anchor="ctr">
            <a:spAutoFit/>
          </a:bodyPr>
          <a:lstStyle/>
          <a:p>
            <a:pPr algn="l">
              <a:lnSpc>
                <a:spcPct val="95000"/>
              </a:lnSpc>
              <a:spcAft>
                <a:spcPts val="1000"/>
              </a:spcAft>
            </a:pPr>
            <a:r>
              <a:rPr sz="2600" b="1">
                <a:solidFill>
                  <a:srgbClr val="000000"/>
                </a:solidFill>
                <a:latin typeface="Arial"/>
              </a:rPr>
              <a:t>Water stress</a:t>
            </a:r>
          </a:p>
        </p:txBody>
      </p:sp>
      <p:sp>
        <p:nvSpPr>
          <p:cNvPr id="128" name="TextBox 127"/>
          <p:cNvSpPr txBox="1"/>
          <p:nvPr/>
        </p:nvSpPr>
        <p:spPr>
          <a:xfrm>
            <a:off x="3703320" y="18089371"/>
            <a:ext cx="6812280" cy="603504"/>
          </a:xfrm>
          <a:prstGeom prst="rect">
            <a:avLst/>
          </a:prstGeom>
          <a:noFill/>
        </p:spPr>
        <p:txBody>
          <a:bodyPr wrap="square" anchor="ctr">
            <a:spAutoFit/>
          </a:bodyPr>
          <a:lstStyle/>
          <a:p>
            <a:pPr algn="l">
              <a:lnSpc>
                <a:spcPct val="95000"/>
              </a:lnSpc>
              <a:spcAft>
                <a:spcPts val="1000"/>
              </a:spcAft>
            </a:pPr>
            <a:r>
              <a:rPr sz="2400" b="0">
                <a:solidFill>
                  <a:srgbClr val="333333"/>
                </a:solidFill>
                <a:latin typeface="Arial"/>
              </a:rPr>
              <a:t>WRI Aqueduct 4.0</a:t>
            </a:r>
          </a:p>
        </p:txBody>
      </p:sp>
      <p:sp>
        <p:nvSpPr>
          <p:cNvPr id="129" name="TextBox 128"/>
          <p:cNvSpPr txBox="1"/>
          <p:nvPr/>
        </p:nvSpPr>
        <p:spPr>
          <a:xfrm>
            <a:off x="457200" y="18948907"/>
            <a:ext cx="10332720" cy="1925827"/>
          </a:xfrm>
          <a:prstGeom prst="rect">
            <a:avLst/>
          </a:prstGeom>
          <a:noFill/>
        </p:spPr>
        <p:txBody>
          <a:bodyPr wrap="square" anchor="t">
            <a:spAutoFit/>
          </a:bodyPr>
          <a:lstStyle/>
          <a:p>
            <a:pPr algn="l">
              <a:lnSpc>
                <a:spcPct val="95000"/>
              </a:lnSpc>
              <a:spcAft>
                <a:spcPts val="1000"/>
              </a:spcAft>
            </a:pPr>
            <a:r>
              <a:rPr sz="2800" b="0">
                <a:solidFill>
                  <a:srgbClr val="000000"/>
                </a:solidFill>
                <a:latin typeface="Arial"/>
              </a:rPr>
              <a:t>Missing data is always recorded as unknown, never as zero. A facility counts as exposed if it sits within 2.4 km of land rated High or Very High for wildfire potential, inside a FEMA regulatory floodplain, or at peak ground acceleration of 0.30 g or more.</a:t>
            </a:r>
          </a:p>
        </p:txBody>
      </p:sp>
      <p:sp>
        <p:nvSpPr>
          <p:cNvPr id="130" name="Rectangle 129"/>
          <p:cNvSpPr/>
          <p:nvPr/>
        </p:nvSpPr>
        <p:spPr>
          <a:xfrm>
            <a:off x="457200" y="21103335"/>
            <a:ext cx="10332720" cy="2434844"/>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457200" y="21103335"/>
            <a:ext cx="128016" cy="2434844"/>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85800" y="21158199"/>
            <a:ext cx="9921240" cy="2306828"/>
          </a:xfrm>
          <a:prstGeom prst="rect">
            <a:avLst/>
          </a:prstGeom>
          <a:noFill/>
        </p:spPr>
        <p:txBody>
          <a:bodyPr wrap="square" anchor="t">
            <a:spAutoFit/>
          </a:bodyPr>
          <a:lstStyle/>
          <a:p>
            <a:pPr algn="l">
              <a:lnSpc>
                <a:spcPct val="95000"/>
              </a:lnSpc>
              <a:spcAft>
                <a:spcPts val="1000"/>
              </a:spcAft>
            </a:pPr>
            <a:r>
              <a:rPr sz="2000" b="0">
                <a:solidFill>
                  <a:srgbClr val="000000"/>
                </a:solidFill>
                <a:latin typeface="Arial"/>
              </a:rPr>
              <a:t>Bounds on these results</a:t>
            </a:r>
          </a:p>
          <a:p>
            <a:pPr algn="l">
              <a:lnSpc>
                <a:spcPct val="95000"/>
              </a:lnSpc>
              <a:spcAft>
                <a:spcPts val="1000"/>
              </a:spcAft>
            </a:pPr>
            <a:r>
              <a:rPr sz="2000" b="0">
                <a:solidFill>
                  <a:srgbClr val="000000"/>
                </a:solidFill>
                <a:latin typeface="Arial"/>
              </a:rPr>
              <a:t>•  Hail and wind rates track observer density (+0.39, +0.34 within state) and are excluded from every result shown.</a:t>
            </a:r>
          </a:p>
          <a:p>
            <a:pPr algn="l">
              <a:lnSpc>
                <a:spcPct val="95000"/>
              </a:lnSpc>
              <a:spcAft>
                <a:spcPts val="1000"/>
              </a:spcAft>
            </a:pPr>
            <a:r>
              <a:rPr sz="2000" b="0">
                <a:solidFill>
                  <a:srgbClr val="000000"/>
                </a:solidFill>
                <a:latin typeface="Arial"/>
              </a:rPr>
              <a:t>•  Power capacity is unrecorded for all 2,696, so every statistic is a facility count, not capacity.</a:t>
            </a:r>
          </a:p>
          <a:p>
            <a:pPr algn="l">
              <a:lnSpc>
                <a:spcPct val="95000"/>
              </a:lnSpc>
              <a:spcAft>
                <a:spcPts val="1000"/>
              </a:spcAft>
            </a:pPr>
            <a:r>
              <a:rPr sz="2000" b="0">
                <a:solidFill>
                  <a:srgbClr val="000000"/>
                </a:solidFill>
                <a:latin typeface="Arial"/>
              </a:rPr>
              <a:t>•  234 coordinates match a building only beyond 200 m. Under 500-draw positional error, 2,067 facilities never change class.</a:t>
            </a:r>
          </a:p>
        </p:txBody>
      </p:sp>
      <p:sp>
        <p:nvSpPr>
          <p:cNvPr id="133" name="Rectangle 132"/>
          <p:cNvSpPr/>
          <p:nvPr/>
        </p:nvSpPr>
        <p:spPr>
          <a:xfrm>
            <a:off x="11292840" y="4526280"/>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1475719" y="4581144"/>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Results</a:t>
            </a:r>
          </a:p>
        </p:txBody>
      </p:sp>
      <p:sp>
        <p:nvSpPr>
          <p:cNvPr id="135" name="TextBox 134"/>
          <p:cNvSpPr txBox="1"/>
          <p:nvPr/>
        </p:nvSpPr>
        <p:spPr>
          <a:xfrm>
            <a:off x="11338560" y="5486400"/>
            <a:ext cx="2514600" cy="777240"/>
          </a:xfrm>
          <a:prstGeom prst="rect">
            <a:avLst/>
          </a:prstGeom>
          <a:noFill/>
        </p:spPr>
        <p:txBody>
          <a:bodyPr wrap="square" anchor="t">
            <a:spAutoFit/>
          </a:bodyPr>
          <a:lstStyle/>
          <a:p>
            <a:pPr algn="ctr">
              <a:lnSpc>
                <a:spcPct val="95000"/>
              </a:lnSpc>
              <a:spcAft>
                <a:spcPts val="1000"/>
              </a:spcAft>
            </a:pPr>
            <a:r>
              <a:rPr sz="5400" b="1">
                <a:solidFill>
                  <a:srgbClr val="006600"/>
                </a:solidFill>
                <a:latin typeface="Arial"/>
              </a:rPr>
              <a:t>2,696</a:t>
            </a:r>
          </a:p>
        </p:txBody>
      </p:sp>
      <p:sp>
        <p:nvSpPr>
          <p:cNvPr id="136" name="TextBox 135"/>
          <p:cNvSpPr txBox="1"/>
          <p:nvPr/>
        </p:nvSpPr>
        <p:spPr>
          <a:xfrm>
            <a:off x="11338560" y="6236208"/>
            <a:ext cx="2514600" cy="685800"/>
          </a:xfrm>
          <a:prstGeom prst="rect">
            <a:avLst/>
          </a:prstGeom>
          <a:noFill/>
        </p:spPr>
        <p:txBody>
          <a:bodyPr wrap="square" anchor="t">
            <a:spAutoFit/>
          </a:bodyPr>
          <a:lstStyle/>
          <a:p>
            <a:pPr algn="ctr">
              <a:lnSpc>
                <a:spcPct val="95000"/>
              </a:lnSpc>
              <a:spcAft>
                <a:spcPts val="1000"/>
              </a:spcAft>
            </a:pPr>
            <a:r>
              <a:rPr sz="1900" b="0">
                <a:solidFill>
                  <a:srgbClr val="444444"/>
                </a:solidFill>
                <a:latin typeface="Arial"/>
              </a:rPr>
              <a:t>facilities mapped</a:t>
            </a:r>
          </a:p>
        </p:txBody>
      </p:sp>
      <p:sp>
        <p:nvSpPr>
          <p:cNvPr id="137" name="TextBox 136"/>
          <p:cNvSpPr txBox="1"/>
          <p:nvPr/>
        </p:nvSpPr>
        <p:spPr>
          <a:xfrm>
            <a:off x="13898880" y="5486400"/>
            <a:ext cx="2514600" cy="777240"/>
          </a:xfrm>
          <a:prstGeom prst="rect">
            <a:avLst/>
          </a:prstGeom>
          <a:noFill/>
        </p:spPr>
        <p:txBody>
          <a:bodyPr wrap="square" anchor="t">
            <a:spAutoFit/>
          </a:bodyPr>
          <a:lstStyle/>
          <a:p>
            <a:pPr algn="ctr">
              <a:lnSpc>
                <a:spcPct val="95000"/>
              </a:lnSpc>
              <a:spcAft>
                <a:spcPts val="1000"/>
              </a:spcAft>
            </a:pPr>
            <a:r>
              <a:rPr sz="5400" b="1">
                <a:solidFill>
                  <a:srgbClr val="006600"/>
                </a:solidFill>
                <a:latin typeface="Arial"/>
              </a:rPr>
              <a:t>1,681</a:t>
            </a:r>
          </a:p>
        </p:txBody>
      </p:sp>
      <p:sp>
        <p:nvSpPr>
          <p:cNvPr id="138" name="TextBox 137"/>
          <p:cNvSpPr txBox="1"/>
          <p:nvPr/>
        </p:nvSpPr>
        <p:spPr>
          <a:xfrm>
            <a:off x="13898880" y="6236208"/>
            <a:ext cx="2514600" cy="685800"/>
          </a:xfrm>
          <a:prstGeom prst="rect">
            <a:avLst/>
          </a:prstGeom>
          <a:noFill/>
        </p:spPr>
        <p:txBody>
          <a:bodyPr wrap="square" anchor="t">
            <a:spAutoFit/>
          </a:bodyPr>
          <a:lstStyle/>
          <a:p>
            <a:pPr algn="ctr">
              <a:lnSpc>
                <a:spcPct val="95000"/>
              </a:lnSpc>
              <a:spcAft>
                <a:spcPts val="1000"/>
              </a:spcAft>
            </a:pPr>
            <a:r>
              <a:rPr sz="1900" b="0">
                <a:solidFill>
                  <a:srgbClr val="444444"/>
                </a:solidFill>
                <a:latin typeface="Arial"/>
              </a:rPr>
              <a:t>on a building footprint</a:t>
            </a:r>
          </a:p>
        </p:txBody>
      </p:sp>
      <p:sp>
        <p:nvSpPr>
          <p:cNvPr id="139" name="TextBox 138"/>
          <p:cNvSpPr txBox="1"/>
          <p:nvPr/>
        </p:nvSpPr>
        <p:spPr>
          <a:xfrm>
            <a:off x="16459200" y="5486400"/>
            <a:ext cx="2514600" cy="777240"/>
          </a:xfrm>
          <a:prstGeom prst="rect">
            <a:avLst/>
          </a:prstGeom>
          <a:noFill/>
        </p:spPr>
        <p:txBody>
          <a:bodyPr wrap="square" anchor="t">
            <a:spAutoFit/>
          </a:bodyPr>
          <a:lstStyle/>
          <a:p>
            <a:pPr algn="ctr">
              <a:lnSpc>
                <a:spcPct val="95000"/>
              </a:lnSpc>
              <a:spcAft>
                <a:spcPts val="1000"/>
              </a:spcAft>
            </a:pPr>
            <a:r>
              <a:rPr sz="5400" b="1">
                <a:solidFill>
                  <a:srgbClr val="006600"/>
                </a:solidFill>
                <a:latin typeface="Arial"/>
              </a:rPr>
              <a:t>35%</a:t>
            </a:r>
          </a:p>
        </p:txBody>
      </p:sp>
      <p:sp>
        <p:nvSpPr>
          <p:cNvPr id="140" name="TextBox 139"/>
          <p:cNvSpPr txBox="1"/>
          <p:nvPr/>
        </p:nvSpPr>
        <p:spPr>
          <a:xfrm>
            <a:off x="16459200" y="6236208"/>
            <a:ext cx="2514600" cy="685800"/>
          </a:xfrm>
          <a:prstGeom prst="rect">
            <a:avLst/>
          </a:prstGeom>
          <a:noFill/>
        </p:spPr>
        <p:txBody>
          <a:bodyPr wrap="square" anchor="t">
            <a:spAutoFit/>
          </a:bodyPr>
          <a:lstStyle/>
          <a:p>
            <a:pPr algn="ctr">
              <a:lnSpc>
                <a:spcPct val="95000"/>
              </a:lnSpc>
              <a:spcAft>
                <a:spcPts val="1000"/>
              </a:spcAft>
            </a:pPr>
            <a:r>
              <a:rPr sz="1900" b="0">
                <a:solidFill>
                  <a:srgbClr val="444444"/>
                </a:solidFill>
                <a:latin typeface="Arial"/>
              </a:rPr>
              <a:t>face a mapped hazard</a:t>
            </a:r>
          </a:p>
        </p:txBody>
      </p:sp>
      <p:sp>
        <p:nvSpPr>
          <p:cNvPr id="141" name="TextBox 140"/>
          <p:cNvSpPr txBox="1"/>
          <p:nvPr/>
        </p:nvSpPr>
        <p:spPr>
          <a:xfrm>
            <a:off x="19019519" y="5486400"/>
            <a:ext cx="2514600" cy="777240"/>
          </a:xfrm>
          <a:prstGeom prst="rect">
            <a:avLst/>
          </a:prstGeom>
          <a:noFill/>
        </p:spPr>
        <p:txBody>
          <a:bodyPr wrap="square" anchor="t">
            <a:spAutoFit/>
          </a:bodyPr>
          <a:lstStyle/>
          <a:p>
            <a:pPr algn="ctr">
              <a:lnSpc>
                <a:spcPct val="95000"/>
              </a:lnSpc>
              <a:spcAft>
                <a:spcPts val="1000"/>
              </a:spcAft>
            </a:pPr>
            <a:r>
              <a:rPr sz="5400" b="1">
                <a:solidFill>
                  <a:srgbClr val="006600"/>
                </a:solidFill>
                <a:latin typeface="Arial"/>
              </a:rPr>
              <a:t>0.7%</a:t>
            </a:r>
          </a:p>
        </p:txBody>
      </p:sp>
      <p:sp>
        <p:nvSpPr>
          <p:cNvPr id="142" name="TextBox 141"/>
          <p:cNvSpPr txBox="1"/>
          <p:nvPr/>
        </p:nvSpPr>
        <p:spPr>
          <a:xfrm>
            <a:off x="19019519" y="6236208"/>
            <a:ext cx="2514600" cy="685800"/>
          </a:xfrm>
          <a:prstGeom prst="rect">
            <a:avLst/>
          </a:prstGeom>
          <a:noFill/>
        </p:spPr>
        <p:txBody>
          <a:bodyPr wrap="square" anchor="t">
            <a:spAutoFit/>
          </a:bodyPr>
          <a:lstStyle/>
          <a:p>
            <a:pPr algn="ctr">
              <a:lnSpc>
                <a:spcPct val="95000"/>
              </a:lnSpc>
              <a:spcAft>
                <a:spcPts val="1000"/>
              </a:spcAft>
            </a:pPr>
            <a:r>
              <a:rPr sz="1900" b="0">
                <a:solidFill>
                  <a:srgbClr val="444444"/>
                </a:solidFill>
                <a:latin typeface="Arial"/>
              </a:rPr>
              <a:t>of Virginia's 409</a:t>
            </a:r>
          </a:p>
        </p:txBody>
      </p:sp>
      <p:sp>
        <p:nvSpPr>
          <p:cNvPr id="143" name="TextBox 142"/>
          <p:cNvSpPr txBox="1"/>
          <p:nvPr/>
        </p:nvSpPr>
        <p:spPr>
          <a:xfrm>
            <a:off x="11292840" y="6931152"/>
            <a:ext cx="10332720" cy="1358773"/>
          </a:xfrm>
          <a:prstGeom prst="rect">
            <a:avLst/>
          </a:prstGeom>
          <a:noFill/>
        </p:spPr>
        <p:txBody>
          <a:bodyPr wrap="square" anchor="t">
            <a:spAutoFit/>
          </a:bodyPr>
          <a:lstStyle/>
          <a:p>
            <a:pPr algn="l">
              <a:lnSpc>
                <a:spcPct val="95000"/>
              </a:lnSpc>
              <a:spcAft>
                <a:spcPts val="1000"/>
              </a:spcAft>
            </a:pPr>
            <a:r>
              <a:rPr sz="3100" b="1">
                <a:solidFill>
                  <a:srgbClr val="000000"/>
                </a:solidFill>
                <a:latin typeface="Arial"/>
              </a:rPr>
              <a:t>Hazard exposure is bimodal. It is decided by which cluster a facility sits in, not by anything about data centers.</a:t>
            </a:r>
          </a:p>
        </p:txBody>
      </p:sp>
      <p:pic>
        <p:nvPicPr>
          <p:cNvPr id="144" name="Picture 143" descr="fig1_map.png"/>
          <p:cNvPicPr>
            <a:picLocks noChangeAspect="1"/>
          </p:cNvPicPr>
          <p:nvPr/>
        </p:nvPicPr>
        <p:blipFill>
          <a:blip r:embed="rId5"/>
          <a:stretch>
            <a:fillRect/>
          </a:stretch>
        </p:blipFill>
        <p:spPr>
          <a:xfrm>
            <a:off x="11292840" y="8399653"/>
            <a:ext cx="10332720" cy="4307742"/>
          </a:xfrm>
          <a:prstGeom prst="rect">
            <a:avLst/>
          </a:prstGeom>
        </p:spPr>
      </p:pic>
      <p:sp>
        <p:nvSpPr>
          <p:cNvPr id="145" name="TextBox 144"/>
          <p:cNvSpPr txBox="1"/>
          <p:nvPr/>
        </p:nvSpPr>
        <p:spPr>
          <a:xfrm>
            <a:off x="11292840" y="12844555"/>
            <a:ext cx="10332720" cy="815847"/>
          </a:xfrm>
          <a:prstGeom prst="rect">
            <a:avLst/>
          </a:prstGeom>
          <a:noFill/>
        </p:spPr>
        <p:txBody>
          <a:bodyPr wrap="square" anchor="t">
            <a:spAutoFit/>
          </a:bodyPr>
          <a:lstStyle/>
          <a:p>
            <a:pPr algn="l">
              <a:lnSpc>
                <a:spcPct val="95000"/>
              </a:lnSpc>
              <a:spcAft>
                <a:spcPts val="1000"/>
              </a:spcAft>
            </a:pPr>
            <a:r>
              <a:rPr sz="2400" b="1">
                <a:solidFill>
                  <a:srgbClr val="000000"/>
                </a:solidFill>
                <a:latin typeface="Arial"/>
              </a:rPr>
              <a:t>Fig 1. Two thirds of US data centers face no mapped hazard. Exposure is regional, not universal.</a:t>
            </a:r>
          </a:p>
        </p:txBody>
      </p:sp>
      <p:sp>
        <p:nvSpPr>
          <p:cNvPr id="146" name="TextBox 145"/>
          <p:cNvSpPr txBox="1"/>
          <p:nvPr/>
        </p:nvSpPr>
        <p:spPr>
          <a:xfrm>
            <a:off x="11292840" y="13751843"/>
            <a:ext cx="10332720" cy="4460748"/>
          </a:xfrm>
          <a:prstGeom prst="rect">
            <a:avLst/>
          </a:prstGeom>
          <a:noFill/>
        </p:spPr>
        <p:txBody>
          <a:bodyPr wrap="square" anchor="t">
            <a:spAutoFit/>
          </a:bodyPr>
          <a:lstStyle/>
          <a:p>
            <a:pPr algn="l">
              <a:lnSpc>
                <a:spcPct val="95000"/>
              </a:lnSpc>
              <a:spcAft>
                <a:spcPts val="1000"/>
              </a:spcAft>
            </a:pPr>
            <a:r>
              <a:rPr sz="2800" b="0">
                <a:solidFill>
                  <a:srgbClr val="000000"/>
                </a:solidFill>
                <a:latin typeface="Arial"/>
              </a:rPr>
              <a:t>Of 2,696 facilities, 1,742 face no mapped hazard and 205 face two or more. Eighteen states holding half the fleet sit below 10% exposed. Ten states holding a third sit above 60%.</a:t>
            </a:r>
          </a:p>
          <a:p>
            <a:pPr algn="l">
              <a:lnSpc>
                <a:spcPct val="95000"/>
              </a:lnSpc>
              <a:spcAft>
                <a:spcPts val="1000"/>
              </a:spcAft>
            </a:pPr>
            <a:r>
              <a:rPr sz="2800" b="0">
                <a:solidFill>
                  <a:srgbClr val="000000"/>
                </a:solidFill>
                <a:latin typeface="Arial"/>
              </a:rPr>
              <a:t/>
            </a:r>
          </a:p>
          <a:p>
            <a:pPr algn="l">
              <a:lnSpc>
                <a:spcPct val="95000"/>
              </a:lnSpc>
              <a:spcAft>
                <a:spcPts val="1000"/>
              </a:spcAft>
            </a:pPr>
            <a:r>
              <a:rPr sz="2800" b="0">
                <a:solidFill>
                  <a:srgbClr val="000000"/>
                </a:solidFill>
                <a:latin typeface="Arial"/>
              </a:rPr>
              <a:t>Virginia, the largest concentration on Earth, is 0.7% exposed. California and New Jersey are 100%.</a:t>
            </a:r>
          </a:p>
          <a:p>
            <a:pPr algn="l">
              <a:lnSpc>
                <a:spcPct val="95000"/>
              </a:lnSpc>
              <a:spcAft>
                <a:spcPts val="1000"/>
              </a:spcAft>
            </a:pPr>
            <a:r>
              <a:rPr sz="2800" b="0">
                <a:solidFill>
                  <a:srgbClr val="000000"/>
                </a:solidFill>
                <a:latin typeface="Arial"/>
              </a:rPr>
              <a:t/>
            </a:r>
          </a:p>
          <a:p>
            <a:pPr algn="l">
              <a:lnSpc>
                <a:spcPct val="95000"/>
              </a:lnSpc>
              <a:spcAft>
                <a:spcPts val="1000"/>
              </a:spcAft>
            </a:pPr>
            <a:r>
              <a:rPr sz="2800" b="0">
                <a:solidFill>
                  <a:srgbClr val="000000"/>
                </a:solidFill>
                <a:latin typeface="Arial"/>
              </a:rPr>
              <a:t>Water stress is the exception that reaches Virginia. 952 facilities nationally sit in high or extremely-high stress basins.</a:t>
            </a:r>
          </a:p>
        </p:txBody>
      </p:sp>
      <p:pic>
        <p:nvPicPr>
          <p:cNvPr id="147" name="Picture 146" descr="fig2_states.png"/>
          <p:cNvPicPr>
            <a:picLocks noChangeAspect="1"/>
          </p:cNvPicPr>
          <p:nvPr/>
        </p:nvPicPr>
        <p:blipFill>
          <a:blip r:embed="rId6"/>
          <a:stretch>
            <a:fillRect/>
          </a:stretch>
        </p:blipFill>
        <p:spPr>
          <a:xfrm>
            <a:off x="11292840" y="18322319"/>
            <a:ext cx="10332720" cy="4874805"/>
          </a:xfrm>
          <a:prstGeom prst="rect">
            <a:avLst/>
          </a:prstGeom>
        </p:spPr>
      </p:pic>
      <p:sp>
        <p:nvSpPr>
          <p:cNvPr id="148" name="TextBox 147"/>
          <p:cNvSpPr txBox="1"/>
          <p:nvPr/>
        </p:nvSpPr>
        <p:spPr>
          <a:xfrm>
            <a:off x="11292840" y="23334283"/>
            <a:ext cx="10332720" cy="815847"/>
          </a:xfrm>
          <a:prstGeom prst="rect">
            <a:avLst/>
          </a:prstGeom>
          <a:noFill/>
        </p:spPr>
        <p:txBody>
          <a:bodyPr wrap="square" anchor="t">
            <a:spAutoFit/>
          </a:bodyPr>
          <a:lstStyle/>
          <a:p>
            <a:pPr algn="l">
              <a:lnSpc>
                <a:spcPct val="95000"/>
              </a:lnSpc>
              <a:spcAft>
                <a:spcPts val="1000"/>
              </a:spcAft>
            </a:pPr>
            <a:r>
              <a:rPr sz="2400" b="1">
                <a:solidFill>
                  <a:srgbClr val="000000"/>
                </a:solidFill>
                <a:latin typeface="Arial"/>
              </a:rPr>
              <a:t>Fig 2. States split into two groups with almost nothing between them.</a:t>
            </a:r>
          </a:p>
        </p:txBody>
      </p:sp>
      <p:sp>
        <p:nvSpPr>
          <p:cNvPr id="149" name="Rectangle 148"/>
          <p:cNvSpPr/>
          <p:nvPr/>
        </p:nvSpPr>
        <p:spPr>
          <a:xfrm>
            <a:off x="22128480" y="4526280"/>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22311360" y="4581144"/>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Conclusions</a:t>
            </a:r>
          </a:p>
        </p:txBody>
      </p:sp>
      <p:sp>
        <p:nvSpPr>
          <p:cNvPr id="151" name="TextBox 150"/>
          <p:cNvSpPr txBox="1"/>
          <p:nvPr/>
        </p:nvSpPr>
        <p:spPr>
          <a:xfrm>
            <a:off x="22128480" y="5486400"/>
            <a:ext cx="10332720" cy="4582033"/>
          </a:xfrm>
          <a:prstGeom prst="rect">
            <a:avLst/>
          </a:prstGeom>
          <a:noFill/>
        </p:spPr>
        <p:txBody>
          <a:bodyPr wrap="square" anchor="t">
            <a:spAutoFit/>
          </a:bodyPr>
          <a:lstStyle/>
          <a:p>
            <a:pPr algn="l">
              <a:lnSpc>
                <a:spcPct val="95000"/>
              </a:lnSpc>
              <a:spcAft>
                <a:spcPts val="1000"/>
              </a:spcAft>
            </a:pPr>
            <a:r>
              <a:rPr sz="2700" b="0">
                <a:solidFill>
                  <a:srgbClr val="000000"/>
                </a:solidFill>
                <a:latin typeface="Arial"/>
              </a:rPr>
              <a:t>•  A national average describes no real facility. Exposure is concentrated in a nameable minority of places.</a:t>
            </a:r>
          </a:p>
          <a:p>
            <a:pPr algn="l">
              <a:lnSpc>
                <a:spcPct val="95000"/>
              </a:lnSpc>
              <a:spcAft>
                <a:spcPts val="1000"/>
              </a:spcAft>
            </a:pPr>
            <a:r>
              <a:rPr sz="2700" b="0">
                <a:solidFill>
                  <a:srgbClr val="000000"/>
                </a:solidFill>
                <a:latin typeface="Arial"/>
              </a:rPr>
              <a:t/>
            </a:r>
          </a:p>
          <a:p>
            <a:pPr algn="l">
              <a:lnSpc>
                <a:spcPct val="95000"/>
              </a:lnSpc>
              <a:spcAft>
                <a:spcPts val="1000"/>
              </a:spcAft>
            </a:pPr>
            <a:r>
              <a:rPr sz="2700" b="0">
                <a:solidFill>
                  <a:srgbClr val="000000"/>
                </a:solidFill>
                <a:latin typeface="Arial"/>
              </a:rPr>
              <a:t>•  The industry has clustered in the low-exposure half of the country. That is a finding about siting.</a:t>
            </a:r>
          </a:p>
          <a:p>
            <a:pPr algn="l">
              <a:lnSpc>
                <a:spcPct val="95000"/>
              </a:lnSpc>
              <a:spcAft>
                <a:spcPts val="1000"/>
              </a:spcAft>
            </a:pPr>
            <a:r>
              <a:rPr sz="2700" b="0">
                <a:solidFill>
                  <a:srgbClr val="000000"/>
                </a:solidFill>
                <a:latin typeface="Arial"/>
              </a:rPr>
              <a:t/>
            </a:r>
          </a:p>
          <a:p>
            <a:pPr algn="l">
              <a:lnSpc>
                <a:spcPct val="95000"/>
              </a:lnSpc>
              <a:spcAft>
                <a:spcPts val="1000"/>
              </a:spcAft>
            </a:pPr>
            <a:r>
              <a:rPr sz="2700" b="0">
                <a:solidFill>
                  <a:srgbClr val="000000"/>
                </a:solidFill>
                <a:latin typeface="Arial"/>
              </a:rPr>
              <a:t>•  Building height belongs in the vulnerability term, not the exposure term.</a:t>
            </a:r>
          </a:p>
          <a:p>
            <a:pPr algn="l">
              <a:lnSpc>
                <a:spcPct val="95000"/>
              </a:lnSpc>
              <a:spcAft>
                <a:spcPts val="1000"/>
              </a:spcAft>
            </a:pPr>
            <a:r>
              <a:rPr sz="2700" b="0">
                <a:solidFill>
                  <a:srgbClr val="000000"/>
                </a:solidFill>
                <a:latin typeface="Arial"/>
              </a:rPr>
              <a:t/>
            </a:r>
          </a:p>
          <a:p>
            <a:pPr algn="l">
              <a:lnSpc>
                <a:spcPct val="95000"/>
              </a:lnSpc>
              <a:spcAft>
                <a:spcPts val="1000"/>
              </a:spcAft>
            </a:pPr>
            <a:r>
              <a:rPr sz="2700" b="0">
                <a:solidFill>
                  <a:srgbClr val="000000"/>
                </a:solidFill>
                <a:latin typeface="Arial"/>
              </a:rPr>
              <a:t>•  Next: fragility curves for server and cooling equipment, to turn exposure into estimated loss.</a:t>
            </a:r>
          </a:p>
        </p:txBody>
      </p:sp>
      <p:sp>
        <p:nvSpPr>
          <p:cNvPr id="152" name="Rectangle 151"/>
          <p:cNvSpPr/>
          <p:nvPr/>
        </p:nvSpPr>
        <p:spPr>
          <a:xfrm>
            <a:off x="22128480" y="10178161"/>
            <a:ext cx="10332720" cy="2175002"/>
          </a:xfrm>
          <a:prstGeom prst="rect">
            <a:avLst/>
          </a:prstGeom>
          <a:solidFill>
            <a:srgbClr val="E5E5E5"/>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22128480" y="10178161"/>
            <a:ext cx="128016" cy="2175002"/>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22357080" y="10251313"/>
            <a:ext cx="9921240" cy="2028698"/>
          </a:xfrm>
          <a:prstGeom prst="rect">
            <a:avLst/>
          </a:prstGeom>
          <a:noFill/>
        </p:spPr>
        <p:txBody>
          <a:bodyPr wrap="square" anchor="t">
            <a:spAutoFit/>
          </a:bodyPr>
          <a:lstStyle/>
          <a:p>
            <a:pPr algn="l">
              <a:lnSpc>
                <a:spcPct val="95000"/>
              </a:lnSpc>
              <a:spcAft>
                <a:spcPts val="1000"/>
              </a:spcAft>
            </a:pPr>
            <a:r>
              <a:rPr sz="2300" b="0">
                <a:solidFill>
                  <a:srgbClr val="000000"/>
                </a:solidFill>
                <a:latin typeface="Arial"/>
              </a:rPr>
              <a:t>Two things we expected and did not find</a:t>
            </a:r>
          </a:p>
          <a:p>
            <a:pPr algn="l">
              <a:lnSpc>
                <a:spcPct val="95000"/>
              </a:lnSpc>
              <a:spcAft>
                <a:spcPts val="1000"/>
              </a:spcAft>
            </a:pPr>
            <a:r>
              <a:rPr sz="2300" b="0">
                <a:solidFill>
                  <a:srgbClr val="000000"/>
                </a:solidFill>
                <a:latin typeface="Arial"/>
              </a:rPr>
              <a:t>Measuring hazard across the whole building footprint instead of one point changed the answer for only 8.9% of facilities. Building height showed no association with exposure once state was controlled, with a median difference of exactly 0.0 across 23 states.</a:t>
            </a:r>
          </a:p>
        </p:txBody>
      </p:sp>
      <p:pic>
        <p:nvPicPr>
          <p:cNvPr id="155" name="Picture 154" descr="fig3_confidence.png"/>
          <p:cNvPicPr>
            <a:picLocks noChangeAspect="1"/>
          </p:cNvPicPr>
          <p:nvPr/>
        </p:nvPicPr>
        <p:blipFill>
          <a:blip r:embed="rId7"/>
          <a:stretch>
            <a:fillRect/>
          </a:stretch>
        </p:blipFill>
        <p:spPr>
          <a:xfrm>
            <a:off x="22128480" y="12481179"/>
            <a:ext cx="10332720" cy="3880657"/>
          </a:xfrm>
          <a:prstGeom prst="rect">
            <a:avLst/>
          </a:prstGeom>
        </p:spPr>
      </p:pic>
      <p:sp>
        <p:nvSpPr>
          <p:cNvPr id="156" name="TextBox 155"/>
          <p:cNvSpPr txBox="1"/>
          <p:nvPr/>
        </p:nvSpPr>
        <p:spPr>
          <a:xfrm>
            <a:off x="22128480" y="16471563"/>
            <a:ext cx="10332720" cy="815847"/>
          </a:xfrm>
          <a:prstGeom prst="rect">
            <a:avLst/>
          </a:prstGeom>
          <a:noFill/>
        </p:spPr>
        <p:txBody>
          <a:bodyPr wrap="square" anchor="t">
            <a:spAutoFit/>
          </a:bodyPr>
          <a:lstStyle/>
          <a:p>
            <a:pPr algn="l">
              <a:lnSpc>
                <a:spcPct val="95000"/>
              </a:lnSpc>
              <a:spcAft>
                <a:spcPts val="1000"/>
              </a:spcAft>
            </a:pPr>
            <a:r>
              <a:rPr sz="2400" b="1">
                <a:solidFill>
                  <a:srgbClr val="000000"/>
                </a:solidFill>
                <a:latin typeface="Arial"/>
              </a:rPr>
              <a:t>Fig 3. Coordinate quality was measured, not assumed. Results stay stable under realistic positional error.</a:t>
            </a:r>
          </a:p>
        </p:txBody>
      </p:sp>
      <p:sp>
        <p:nvSpPr>
          <p:cNvPr id="157" name="Rectangle 156"/>
          <p:cNvSpPr/>
          <p:nvPr/>
        </p:nvSpPr>
        <p:spPr>
          <a:xfrm>
            <a:off x="22128480" y="16471563"/>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2311360" y="16526427"/>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Major Citations</a:t>
            </a:r>
          </a:p>
        </p:txBody>
      </p:sp>
      <p:sp>
        <p:nvSpPr>
          <p:cNvPr id="159" name="TextBox 158"/>
          <p:cNvSpPr txBox="1"/>
          <p:nvPr/>
        </p:nvSpPr>
        <p:spPr>
          <a:xfrm>
            <a:off x="22128480" y="17431683"/>
            <a:ext cx="10332720" cy="2699258"/>
          </a:xfrm>
          <a:prstGeom prst="rect">
            <a:avLst/>
          </a:prstGeom>
          <a:noFill/>
        </p:spPr>
        <p:txBody>
          <a:bodyPr wrap="square" anchor="t">
            <a:spAutoFit/>
          </a:bodyPr>
          <a:lstStyle/>
          <a:p>
            <a:pPr algn="l">
              <a:lnSpc>
                <a:spcPct val="90000"/>
              </a:lnSpc>
              <a:spcAft>
                <a:spcPts val="1000"/>
              </a:spcAft>
            </a:pPr>
            <a:r>
              <a:rPr sz="1900" b="0">
                <a:solidFill>
                  <a:srgbClr val="333333"/>
                </a:solidFill>
                <a:latin typeface="Arial"/>
              </a:rPr>
              <a:t>Dillon, G.K. (2023) Wildfire Hazard Potential for the United States, 270-m, v2023. USDA Forest Service. doi:10.2737/RDS-2015-0047-4</a:t>
            </a:r>
          </a:p>
          <a:p>
            <a:pPr algn="l">
              <a:lnSpc>
                <a:spcPct val="90000"/>
              </a:lnSpc>
              <a:spcAft>
                <a:spcPts val="1000"/>
              </a:spcAft>
            </a:pPr>
            <a:r>
              <a:rPr sz="1900" b="0">
                <a:solidFill>
                  <a:srgbClr val="333333"/>
                </a:solidFill>
                <a:latin typeface="Arial"/>
              </a:rPr>
              <a:t>Petersen, M.D. et al. (2023) 2023 US National Seismic Hazard Model. USGS. doi:10.5066/P9GNPCOD</a:t>
            </a:r>
          </a:p>
          <a:p>
            <a:pPr algn="l">
              <a:lnSpc>
                <a:spcPct val="90000"/>
              </a:lnSpc>
              <a:spcAft>
                <a:spcPts val="1000"/>
              </a:spcAft>
            </a:pPr>
            <a:r>
              <a:rPr sz="1900" b="0">
                <a:solidFill>
                  <a:srgbClr val="333333"/>
                </a:solidFill>
                <a:latin typeface="Arial"/>
              </a:rPr>
              <a:t>FEMA (2026) National Flood Hazard Layer. hazards.fema.gov</a:t>
            </a:r>
          </a:p>
          <a:p>
            <a:pPr algn="l">
              <a:lnSpc>
                <a:spcPct val="90000"/>
              </a:lnSpc>
              <a:spcAft>
                <a:spcPts val="1000"/>
              </a:spcAft>
            </a:pPr>
            <a:r>
              <a:rPr sz="1900" b="0">
                <a:solidFill>
                  <a:srgbClr val="333333"/>
                </a:solidFill>
                <a:latin typeface="Arial"/>
              </a:rPr>
              <a:t>Oughton, E.J. &amp; Weigel, R. (2026) A Comparative Multi-Hazard Risk Assessment of the US High-Voltage Transmission Network. Zenodo. doi:10.5281/zenodo.20331026 (CC BY 4.0)</a:t>
            </a:r>
          </a:p>
          <a:p>
            <a:pPr algn="l">
              <a:lnSpc>
                <a:spcPct val="90000"/>
              </a:lnSpc>
              <a:spcAft>
                <a:spcPts val="1000"/>
              </a:spcAft>
            </a:pPr>
            <a:r>
              <a:rPr sz="1900" b="0">
                <a:solidFill>
                  <a:srgbClr val="333333"/>
                </a:solidFill>
                <a:latin typeface="Arial"/>
              </a:rPr>
              <a:t>WRI (2023) Aqueduct 4.0 Water Risk Atlas.</a:t>
            </a:r>
          </a:p>
        </p:txBody>
      </p:sp>
      <p:sp>
        <p:nvSpPr>
          <p:cNvPr id="160" name="Rectangle 159"/>
          <p:cNvSpPr/>
          <p:nvPr/>
        </p:nvSpPr>
        <p:spPr>
          <a:xfrm>
            <a:off x="22128480" y="20240669"/>
            <a:ext cx="10332720" cy="868680"/>
          </a:xfrm>
          <a:prstGeom prst="rect">
            <a:avLst/>
          </a:prstGeom>
          <a:solidFill>
            <a:srgbClr val="00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22311360" y="20295533"/>
            <a:ext cx="10058400" cy="777240"/>
          </a:xfrm>
          <a:prstGeom prst="rect">
            <a:avLst/>
          </a:prstGeom>
          <a:noFill/>
        </p:spPr>
        <p:txBody>
          <a:bodyPr wrap="square" anchor="ctr">
            <a:spAutoFit/>
          </a:bodyPr>
          <a:lstStyle/>
          <a:p>
            <a:pPr algn="l">
              <a:lnSpc>
                <a:spcPct val="95000"/>
              </a:lnSpc>
              <a:spcAft>
                <a:spcPts val="1000"/>
              </a:spcAft>
            </a:pPr>
            <a:r>
              <a:rPr sz="4400" b="1">
                <a:solidFill>
                  <a:srgbClr val="FFFFFF"/>
                </a:solidFill>
                <a:latin typeface="Arial"/>
              </a:rPr>
              <a:t>Acknowledgements</a:t>
            </a:r>
          </a:p>
        </p:txBody>
      </p:sp>
      <p:sp>
        <p:nvSpPr>
          <p:cNvPr id="162" name="TextBox 161"/>
          <p:cNvSpPr txBox="1"/>
          <p:nvPr/>
        </p:nvSpPr>
        <p:spPr>
          <a:xfrm>
            <a:off x="22128480" y="21200789"/>
            <a:ext cx="10332720" cy="1757552"/>
          </a:xfrm>
          <a:prstGeom prst="rect">
            <a:avLst/>
          </a:prstGeom>
          <a:noFill/>
        </p:spPr>
        <p:txBody>
          <a:bodyPr wrap="square" anchor="t">
            <a:spAutoFit/>
          </a:bodyPr>
          <a:lstStyle/>
          <a:p>
            <a:pPr algn="l">
              <a:lnSpc>
                <a:spcPct val="95000"/>
              </a:lnSpc>
              <a:spcAft>
                <a:spcPts val="1000"/>
              </a:spcAft>
            </a:pPr>
            <a:r>
              <a:rPr sz="2100" b="0">
                <a:solidFill>
                  <a:srgbClr val="333333"/>
                </a:solidFill>
                <a:latin typeface="Arial"/>
              </a:rPr>
              <a:t>Made possible by George Mason University's College of Science, which supports the ASSIP Program. Thanks to Prof. Edward Oughton for supervision and Dennies Bor for the multi-hazard layers.</a:t>
            </a:r>
          </a:p>
          <a:p>
            <a:pPr algn="l">
              <a:lnSpc>
                <a:spcPct val="95000"/>
              </a:lnSpc>
              <a:spcAft>
                <a:spcPts val="1000"/>
              </a:spcAft>
            </a:pPr>
            <a:r>
              <a:rPr sz="2100" b="0">
                <a:solidFill>
                  <a:srgbClr val="333333"/>
                </a:solidFill>
                <a:latin typeface="Arial"/>
              </a:rPr>
              <a:t/>
            </a:r>
          </a:p>
          <a:p>
            <a:pPr algn="l">
              <a:lnSpc>
                <a:spcPct val="95000"/>
              </a:lnSpc>
              <a:spcAft>
                <a:spcPts val="1000"/>
              </a:spcAft>
            </a:pPr>
            <a:r>
              <a:rPr sz="2100" b="0">
                <a:solidFill>
                  <a:srgbClr val="333333"/>
                </a:solidFill>
                <a:latin typeface="Arial"/>
              </a:rPr>
              <a:t>Data and code: github.com/aviangirekula/datacenter-dataset</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
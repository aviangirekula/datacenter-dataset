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748" r:id="rId1"/>
  </p:sldMasterIdLst>
  <p:notesMasterIdLst>
    <p:notesMasterId r:id="rId3"/>
  </p:notesMasterIdLst>
  <p:sldIdLst>
    <p:sldId id="256" r:id="rId2"/>
  </p:sldIdLst>
  <p:sldSz cx="32918400" cy="24688800"/>
  <p:notesSz cx="7010400" cy="9236075"/>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7776" userDrawn="1">
          <p15:clr>
            <a:srgbClr val="A4A3A4"/>
          </p15:clr>
        </p15:guide>
        <p15:guide id="2" pos="1036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CC00"/>
    <a:srgbClr val="00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AD4020C-D529-40F8-BBB5-FADFFD60BAF7}">
  <a:tblStyle styleId="{2AD4020C-D529-40F8-BBB5-FADFFD60BAF7}" styleName="Table_0">
    <a:wholeTbl>
      <a:tcTxStyle>
        <a:font>
          <a:latin typeface="Arial"/>
          <a:ea typeface="Arial"/>
          <a:cs typeface="Arial"/>
        </a:font>
        <a:srgbClr val="000000"/>
      </a:tcTxStyle>
      <a:tcStyle>
        <a:tcBdr>
          <a:left>
            <a:ln w="12700" cap="flat" cmpd="sng">
              <a:solidFill>
                <a:srgbClr val="000000"/>
              </a:solidFill>
              <a:prstDash val="solid"/>
              <a:round/>
              <a:headEnd type="none" w="sm" len="sm"/>
              <a:tailEnd type="none" w="sm" len="sm"/>
            </a:ln>
          </a:left>
          <a:right>
            <a:ln w="12700" cap="flat" cmpd="sng">
              <a:solidFill>
                <a:srgbClr val="000000"/>
              </a:solidFill>
              <a:prstDash val="solid"/>
              <a:round/>
              <a:headEnd type="none" w="sm" len="sm"/>
              <a:tailEnd type="none" w="sm" len="sm"/>
            </a:ln>
          </a:right>
          <a:top>
            <a:ln w="12700" cap="flat" cmpd="sng">
              <a:solidFill>
                <a:srgbClr val="000000"/>
              </a:solidFill>
              <a:prstDash val="solid"/>
              <a:round/>
              <a:headEnd type="none" w="sm" len="sm"/>
              <a:tailEnd type="none" w="sm" len="sm"/>
            </a:ln>
          </a:top>
          <a:bottom>
            <a:ln w="12700" cap="flat" cmpd="sng">
              <a:solidFill>
                <a:srgbClr val="000000"/>
              </a:solidFill>
              <a:prstDash val="solid"/>
              <a:round/>
              <a:headEnd type="none" w="sm" len="sm"/>
              <a:tailEnd type="none" w="sm" len="sm"/>
            </a:ln>
          </a:bottom>
          <a:insideH>
            <a:ln w="12700" cap="flat" cmpd="sng">
              <a:solidFill>
                <a:srgbClr val="000000"/>
              </a:solidFill>
              <a:prstDash val="solid"/>
              <a:round/>
              <a:headEnd type="none" w="sm" len="sm"/>
              <a:tailEnd type="none" w="sm" len="sm"/>
            </a:ln>
          </a:insideH>
          <a:insideV>
            <a:ln w="12700" cap="flat" cmpd="sng">
              <a:solidFill>
                <a:srgbClr val="000000"/>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95BF6B8E-B4C6-4455-9E36-4D0BB332AEDA}" styleName="Table_1">
    <a:wholeTbl>
      <a:tcTxStyle>
        <a:font>
          <a:latin typeface="Arial"/>
          <a:ea typeface="Arial"/>
          <a:cs typeface="Arial"/>
        </a:font>
        <a:srgbClr val="000000"/>
      </a:tcTxStyle>
      <a:tcStyle>
        <a:tcBdr>
          <a:left>
            <a:ln w="12700" cap="flat" cmpd="sng">
              <a:solidFill>
                <a:srgbClr val="9E9E9E"/>
              </a:solidFill>
              <a:prstDash val="solid"/>
              <a:round/>
              <a:headEnd type="none" w="sm" len="sm"/>
              <a:tailEnd type="none" w="sm" len="sm"/>
            </a:ln>
          </a:left>
          <a:right>
            <a:ln w="12700" cap="flat" cmpd="sng">
              <a:solidFill>
                <a:srgbClr val="9E9E9E"/>
              </a:solidFill>
              <a:prstDash val="solid"/>
              <a:round/>
              <a:headEnd type="none" w="sm" len="sm"/>
              <a:tailEnd type="none" w="sm" len="sm"/>
            </a:ln>
          </a:right>
          <a:top>
            <a:ln w="12700" cap="flat" cmpd="sng">
              <a:solidFill>
                <a:srgbClr val="9E9E9E"/>
              </a:solidFill>
              <a:prstDash val="solid"/>
              <a:round/>
              <a:headEnd type="none" w="sm" len="sm"/>
              <a:tailEnd type="none" w="sm" len="sm"/>
            </a:ln>
          </a:top>
          <a:bottom>
            <a:ln w="12700" cap="flat" cmpd="sng">
              <a:solidFill>
                <a:srgbClr val="9E9E9E"/>
              </a:solidFill>
              <a:prstDash val="solid"/>
              <a:round/>
              <a:headEnd type="none" w="sm" len="sm"/>
              <a:tailEnd type="none" w="sm" len="sm"/>
            </a:ln>
          </a:bottom>
          <a:insideH>
            <a:ln w="12700" cap="flat" cmpd="sng">
              <a:solidFill>
                <a:srgbClr val="9E9E9E"/>
              </a:solidFill>
              <a:prstDash val="solid"/>
              <a:round/>
              <a:headEnd type="none" w="sm" len="sm"/>
              <a:tailEnd type="none" w="sm" len="sm"/>
            </a:ln>
          </a:insideH>
          <a:insideV>
            <a:ln w="12700"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7171" autoAdjust="0"/>
    <p:restoredTop sz="83290" autoAdjust="0"/>
  </p:normalViewPr>
  <p:slideViewPr>
    <p:cSldViewPr snapToGrid="0">
      <p:cViewPr varScale="1">
        <p:scale>
          <a:sx n="18" d="100"/>
          <a:sy n="18" d="100"/>
        </p:scale>
        <p:origin x="1723" y="72"/>
      </p:cViewPr>
      <p:guideLst>
        <p:guide orient="horz" pos="7776"/>
        <p:guide pos="10368"/>
      </p:guideLst>
    </p:cSldViewPr>
  </p:slideViewPr>
  <p:notesTextViewPr>
    <p:cViewPr>
      <p:scale>
        <a:sx n="1" d="1"/>
        <a:sy n="1" d="1"/>
      </p:scale>
      <p:origin x="0" y="-2222"/>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3037212" cy="461804"/>
          </a:xfrm>
          <a:prstGeom prst="rect">
            <a:avLst/>
          </a:prstGeom>
          <a:noFill/>
          <a:ln>
            <a:noFill/>
          </a:ln>
        </p:spPr>
        <p:txBody>
          <a:bodyPr spcFirstLastPara="1" wrap="square" lIns="90275" tIns="45125" rIns="90275" bIns="45125" anchor="t" anchorCtr="0">
            <a:noAutofit/>
          </a:bodyPr>
          <a:lstStyle>
            <a:lvl1pPr marR="0" lvl="0" algn="l" rtl="0">
              <a:spcBef>
                <a:spcPts val="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1pPr>
            <a:lvl2pPr marR="0" lvl="1"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2pPr>
            <a:lvl3pPr marR="0" lvl="2"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3pPr>
            <a:lvl4pPr marR="0" lvl="3"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4pPr>
            <a:lvl5pPr marR="0" lvl="4"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5pPr>
            <a:lvl6pPr marR="0" lvl="5"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6pPr>
            <a:lvl7pPr marR="0" lvl="6"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7pPr>
            <a:lvl8pPr marR="0" lvl="7"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8pPr>
            <a:lvl9pPr marR="0" lvl="8"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9pPr>
          </a:lstStyle>
          <a:p>
            <a:endParaRPr/>
          </a:p>
        </p:txBody>
      </p:sp>
      <p:sp>
        <p:nvSpPr>
          <p:cNvPr id="4" name="Google Shape;4;n"/>
          <p:cNvSpPr txBox="1">
            <a:spLocks noGrp="1"/>
          </p:cNvSpPr>
          <p:nvPr>
            <p:ph type="dt" idx="10"/>
          </p:nvPr>
        </p:nvSpPr>
        <p:spPr>
          <a:xfrm>
            <a:off x="3971619" y="0"/>
            <a:ext cx="3037212" cy="461804"/>
          </a:xfrm>
          <a:prstGeom prst="rect">
            <a:avLst/>
          </a:prstGeom>
          <a:noFill/>
          <a:ln>
            <a:noFill/>
          </a:ln>
        </p:spPr>
        <p:txBody>
          <a:bodyPr spcFirstLastPara="1" wrap="square" lIns="90275" tIns="45125" rIns="90275" bIns="45125" anchor="t" anchorCtr="0">
            <a:noAutofit/>
          </a:bodyPr>
          <a:lstStyle>
            <a:lvl1pPr marR="0" lvl="0" algn="r" rtl="0">
              <a:spcBef>
                <a:spcPts val="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1pPr>
            <a:lvl2pPr marR="0" lvl="1"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2pPr>
            <a:lvl3pPr marR="0" lvl="2"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3pPr>
            <a:lvl4pPr marR="0" lvl="3"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4pPr>
            <a:lvl5pPr marR="0" lvl="4"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5pPr>
            <a:lvl6pPr marR="0" lvl="5"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6pPr>
            <a:lvl7pPr marR="0" lvl="6"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7pPr>
            <a:lvl8pPr marR="0" lvl="7"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8pPr>
            <a:lvl9pPr marR="0" lvl="8"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9pPr>
          </a:lstStyle>
          <a:p>
            <a:endParaRPr/>
          </a:p>
        </p:txBody>
      </p:sp>
      <p:sp>
        <p:nvSpPr>
          <p:cNvPr id="5" name="Google Shape;5;n"/>
          <p:cNvSpPr>
            <a:spLocks noGrp="1" noRot="1" noChangeAspect="1"/>
          </p:cNvSpPr>
          <p:nvPr>
            <p:ph type="sldImg" idx="3"/>
          </p:nvPr>
        </p:nvSpPr>
        <p:spPr>
          <a:xfrm>
            <a:off x="1196975" y="693738"/>
            <a:ext cx="4616450" cy="3462337"/>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700413" y="4387913"/>
            <a:ext cx="5609576" cy="4156234"/>
          </a:xfrm>
          <a:prstGeom prst="rect">
            <a:avLst/>
          </a:prstGeom>
          <a:noFill/>
          <a:ln>
            <a:noFill/>
          </a:ln>
        </p:spPr>
        <p:txBody>
          <a:bodyPr spcFirstLastPara="1" wrap="square" lIns="90275" tIns="45125" rIns="90275" bIns="45125" anchor="t" anchorCtr="0">
            <a:noAutofit/>
          </a:bodyPr>
          <a:lstStyle>
            <a:lvl1pPr marL="457200" marR="0" lvl="0"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1pPr>
            <a:lvl2pPr marL="914400" marR="0" lvl="1"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2pPr>
            <a:lvl3pPr marL="1371600" marR="0" lvl="2"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3pPr>
            <a:lvl4pPr marL="1828800" marR="0" lvl="3"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4pPr>
            <a:lvl5pPr marL="2286000" marR="0" lvl="4"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0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0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0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0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772716"/>
            <a:ext cx="3037212" cy="461804"/>
          </a:xfrm>
          <a:prstGeom prst="rect">
            <a:avLst/>
          </a:prstGeom>
          <a:noFill/>
          <a:ln>
            <a:noFill/>
          </a:ln>
        </p:spPr>
        <p:txBody>
          <a:bodyPr spcFirstLastPara="1" wrap="square" lIns="90275" tIns="45125" rIns="90275" bIns="45125" anchor="b" anchorCtr="0">
            <a:noAutofit/>
          </a:bodyPr>
          <a:lstStyle>
            <a:lvl1pPr marR="0" lvl="0" algn="l" rtl="0">
              <a:spcBef>
                <a:spcPts val="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1pPr>
            <a:lvl2pPr marR="0" lvl="1"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2pPr>
            <a:lvl3pPr marR="0" lvl="2"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3pPr>
            <a:lvl4pPr marR="0" lvl="3"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4pPr>
            <a:lvl5pPr marR="0" lvl="4"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5pPr>
            <a:lvl6pPr marR="0" lvl="5"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6pPr>
            <a:lvl7pPr marR="0" lvl="6"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7pPr>
            <a:lvl8pPr marR="0" lvl="7"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8pPr>
            <a:lvl9pPr marR="0" lvl="8"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9pPr>
          </a:lstStyle>
          <a:p>
            <a:endParaRPr/>
          </a:p>
        </p:txBody>
      </p:sp>
      <p:sp>
        <p:nvSpPr>
          <p:cNvPr id="8" name="Google Shape;8;n"/>
          <p:cNvSpPr txBox="1">
            <a:spLocks noGrp="1"/>
          </p:cNvSpPr>
          <p:nvPr>
            <p:ph type="sldNum" idx="12"/>
          </p:nvPr>
        </p:nvSpPr>
        <p:spPr>
          <a:xfrm>
            <a:off x="3971619" y="8772716"/>
            <a:ext cx="3037212" cy="461804"/>
          </a:xfrm>
          <a:prstGeom prst="rect">
            <a:avLst/>
          </a:prstGeom>
          <a:noFill/>
          <a:ln>
            <a:noFill/>
          </a:ln>
        </p:spPr>
        <p:txBody>
          <a:bodyPr spcFirstLastPara="1" wrap="square" lIns="90275" tIns="45125" rIns="90275" bIns="45125"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Times New Roman"/>
                <a:ea typeface="Times New Roman"/>
                <a:cs typeface="Times New Roman"/>
                <a:sym typeface="Times New Roman"/>
              </a:rPr>
              <a:t>‹#›</a:t>
            </a:fld>
            <a:endParaRPr sz="1200" b="0" i="0" u="none" strike="noStrike" cap="none">
              <a:solidFill>
                <a:schemeClr val="dk1"/>
              </a:solidFill>
              <a:latin typeface="Times New Roman"/>
              <a:ea typeface="Times New Roman"/>
              <a:cs typeface="Times New Roman"/>
              <a:sym typeface="Times New Roman"/>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a:spLocks noGrp="1" noRot="1" noChangeAspect="1"/>
          </p:cNvSpPr>
          <p:nvPr>
            <p:ph type="sldImg" idx="2"/>
          </p:nvPr>
        </p:nvSpPr>
        <p:spPr>
          <a:xfrm>
            <a:off x="1196975" y="693738"/>
            <a:ext cx="4616450" cy="3462337"/>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86" name="Google Shape;86;p1:notes"/>
          <p:cNvSpPr txBox="1">
            <a:spLocks noGrp="1"/>
          </p:cNvSpPr>
          <p:nvPr>
            <p:ph type="body" idx="1"/>
          </p:nvPr>
        </p:nvSpPr>
        <p:spPr>
          <a:xfrm>
            <a:off x="700413" y="4387913"/>
            <a:ext cx="5609576" cy="4156234"/>
          </a:xfrm>
          <a:prstGeom prst="rect">
            <a:avLst/>
          </a:prstGeom>
          <a:noFill/>
          <a:ln>
            <a:noFill/>
          </a:ln>
        </p:spPr>
        <p:txBody>
          <a:bodyPr spcFirstLastPara="1" wrap="square" lIns="90275" tIns="45125" rIns="90275" bIns="45125" anchor="t" anchorCtr="0">
            <a:noAutofit/>
          </a:bodyPr>
          <a:lstStyle/>
          <a:p>
            <a:pPr marL="0" lvl="0" indent="0" algn="l" rtl="0">
              <a:lnSpc>
                <a:spcPct val="80000"/>
              </a:lnSpc>
              <a:spcBef>
                <a:spcPts val="0"/>
              </a:spcBef>
              <a:spcAft>
                <a:spcPts val="0"/>
              </a:spcAft>
              <a:buNone/>
            </a:pPr>
            <a:r>
              <a:rPr lang="en-US" sz="700" u="sng" dirty="0">
                <a:solidFill>
                  <a:schemeClr val="dk1"/>
                </a:solidFill>
                <a:latin typeface="Arial" panose="020B0604020202020204" pitchFamily="34" charset="0"/>
                <a:ea typeface="Calibri"/>
                <a:cs typeface="Arial" panose="020B0604020202020204" pitchFamily="34" charset="0"/>
                <a:sym typeface="Calibri"/>
              </a:rPr>
              <a:t>READ ME: 2026 ASSIP Poster Template Instructions</a:t>
            </a: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u="sng" dirty="0">
                <a:solidFill>
                  <a:schemeClr val="dk1"/>
                </a:solidFill>
                <a:latin typeface="Arial" panose="020B0604020202020204" pitchFamily="34" charset="0"/>
                <a:ea typeface="Calibri"/>
                <a:cs typeface="Arial" panose="020B0604020202020204" pitchFamily="34" charset="0"/>
                <a:sym typeface="Calibri"/>
              </a:rPr>
              <a:t>Read this section before using the template. </a:t>
            </a: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Questions? Email Dr. Haymond Still at cosassip@gmu.edu</a:t>
            </a: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This is a template for you to use as is or modify WITH MENTOR’S input.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The poster dimensions will print as 27 inches high x 36 inches wide.  </a:t>
            </a:r>
            <a:r>
              <a:rPr lang="en-US" sz="700" b="1" dirty="0">
                <a:solidFill>
                  <a:schemeClr val="dk1"/>
                </a:solidFill>
                <a:latin typeface="Arial" panose="020B0604020202020204" pitchFamily="34" charset="0"/>
                <a:ea typeface="Calibri"/>
                <a:cs typeface="Arial" panose="020B0604020202020204" pitchFamily="34" charset="0"/>
                <a:sym typeface="Calibri"/>
              </a:rPr>
              <a:t>Do not change the poster dimensions, as the pricing and turnaround time I’ve negotiated with Print Services accounts for this sizing. </a:t>
            </a:r>
          </a:p>
          <a:p>
            <a:pPr marL="0" lvl="0" indent="0" algn="l" rtl="0">
              <a:lnSpc>
                <a:spcPct val="80000"/>
              </a:lnSpc>
              <a:spcBef>
                <a:spcPts val="210"/>
              </a:spcBef>
              <a:spcAft>
                <a:spcPts val="0"/>
              </a:spcAft>
              <a:buNone/>
            </a:pP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Be sure to delete the instructions in the text boxes (my instructions are all in italics). You may mess around with the particular font used if you like; just keep it clean and professional. (No Comic Sans!!)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You can change the header names, locations and presence as agreed upon by your mentor.  For example, you may or may not have a Major Citations section. Or, you may need more room for your methods section or want to combine your results and conclusions. This is fine. </a:t>
            </a:r>
          </a:p>
          <a:p>
            <a:pPr marL="0" lvl="0" indent="0" algn="l" rtl="0">
              <a:lnSpc>
                <a:spcPct val="80000"/>
              </a:lnSpc>
              <a:spcBef>
                <a:spcPts val="210"/>
              </a:spcBef>
              <a:spcAft>
                <a:spcPts val="0"/>
              </a:spcAft>
              <a:buNone/>
            </a:pP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b="1" dirty="0">
                <a:solidFill>
                  <a:schemeClr val="dk1"/>
                </a:solidFill>
                <a:latin typeface="Arial" panose="020B0604020202020204" pitchFamily="34" charset="0"/>
                <a:ea typeface="Calibri"/>
                <a:cs typeface="Arial" panose="020B0604020202020204" pitchFamily="34" charset="0"/>
                <a:sym typeface="Calibri"/>
              </a:rPr>
              <a:t>Try to keep the font sizes within the specified ranges for legibility. </a:t>
            </a:r>
            <a:r>
              <a:rPr lang="en-US" sz="700" b="0" dirty="0">
                <a:solidFill>
                  <a:schemeClr val="dk1"/>
                </a:solidFill>
                <a:latin typeface="Arial" panose="020B0604020202020204" pitchFamily="34" charset="0"/>
                <a:ea typeface="Calibri"/>
                <a:cs typeface="Arial" panose="020B0604020202020204" pitchFamily="34" charset="0"/>
                <a:sym typeface="Calibri"/>
              </a:rPr>
              <a:t>If you have a super long title, for example, I recommend that you make the title box wider and let the title run across two lines, rather than shrink the title text to fit my box. Again, feel free to resize any boxes as necessary to fit the boxes to your content. </a:t>
            </a:r>
            <a:endParaRPr b="0"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For the poster session printed version, leave the two logos in the left and right corners as is, and the colors as is, for consistency. </a:t>
            </a:r>
          </a:p>
          <a:p>
            <a:pPr marL="0" lvl="0" indent="0" algn="l" rtl="0">
              <a:lnSpc>
                <a:spcPct val="80000"/>
              </a:lnSpc>
              <a:spcBef>
                <a:spcPts val="210"/>
              </a:spcBef>
              <a:spcAft>
                <a:spcPts val="0"/>
              </a:spcAft>
              <a:buNone/>
            </a:pPr>
            <a:endParaRPr lang="en-US" sz="700" b="1"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980" b="1" dirty="0">
                <a:solidFill>
                  <a:schemeClr val="dk1"/>
                </a:solidFill>
                <a:latin typeface="Arial" panose="020B0604020202020204" pitchFamily="34" charset="0"/>
                <a:ea typeface="Calibri"/>
                <a:cs typeface="Arial" panose="020B0604020202020204" pitchFamily="34" charset="0"/>
                <a:sym typeface="Calibri"/>
              </a:rPr>
              <a:t>Your mentor must approve the poster!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endParaRPr lang="en-US"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b="1" dirty="0">
                <a:solidFill>
                  <a:schemeClr val="dk1"/>
                </a:solidFill>
                <a:latin typeface="Arial" panose="020B0604020202020204" pitchFamily="34" charset="0"/>
                <a:ea typeface="Calibri"/>
                <a:cs typeface="Arial" panose="020B0604020202020204" pitchFamily="34" charset="0"/>
                <a:sym typeface="Calibri"/>
              </a:rPr>
              <a:t>Remember to save the finished poster as a PDF under the file name:</a:t>
            </a:r>
            <a:endParaRPr b="1"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MentorsLastName_YourFirstName_YourLastName_2026ASSIP_POSTER</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Submit the PDF of the saved poster to Dr. Haymond Still no later than 5pm on Tuesday, August 4</a:t>
            </a:r>
            <a:r>
              <a:rPr lang="en-US" sz="700" baseline="30000" dirty="0">
                <a:solidFill>
                  <a:schemeClr val="dk1"/>
                </a:solidFill>
                <a:latin typeface="Arial" panose="020B0604020202020204" pitchFamily="34" charset="0"/>
                <a:ea typeface="Calibri"/>
                <a:cs typeface="Arial" panose="020B0604020202020204" pitchFamily="34" charset="0"/>
                <a:sym typeface="Calibri"/>
              </a:rPr>
              <a:t>th</a:t>
            </a:r>
            <a:r>
              <a:rPr lang="en-US" sz="700" dirty="0">
                <a:solidFill>
                  <a:schemeClr val="dk1"/>
                </a:solidFill>
                <a:latin typeface="Arial" panose="020B0604020202020204" pitchFamily="34" charset="0"/>
                <a:ea typeface="Calibri"/>
                <a:cs typeface="Arial" panose="020B0604020202020204" pitchFamily="34" charset="0"/>
                <a:sym typeface="Calibri"/>
              </a:rPr>
              <a:t> to our Canvas course site.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If you miss the deadline, I won’t have time to get your poster printed!! </a:t>
            </a:r>
            <a:endParaRPr dirty="0">
              <a:latin typeface="Arial" panose="020B0604020202020204" pitchFamily="34" charset="0"/>
              <a:cs typeface="Arial" panose="020B0604020202020204" pitchFamily="34" charset="0"/>
            </a:endParaRPr>
          </a:p>
        </p:txBody>
      </p:sp>
      <p:sp>
        <p:nvSpPr>
          <p:cNvPr id="87" name="Google Shape;87;p1:notes"/>
          <p:cNvSpPr txBox="1">
            <a:spLocks noGrp="1"/>
          </p:cNvSpPr>
          <p:nvPr>
            <p:ph type="sldNum" idx="12"/>
          </p:nvPr>
        </p:nvSpPr>
        <p:spPr>
          <a:xfrm>
            <a:off x="3971619" y="8772716"/>
            <a:ext cx="3037212" cy="461804"/>
          </a:xfrm>
          <a:prstGeom prst="rect">
            <a:avLst/>
          </a:prstGeom>
          <a:noFill/>
          <a:ln>
            <a:noFill/>
          </a:ln>
        </p:spPr>
        <p:txBody>
          <a:bodyPr spcFirstLastPara="1" wrap="square" lIns="90275" tIns="45125" rIns="90275" bIns="45125"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Times New Roman"/>
                <a:ea typeface="Times New Roman"/>
                <a:cs typeface="Times New Roman"/>
                <a:sym typeface="Times New Roman"/>
              </a:rPr>
              <a:t>1</a:t>
            </a:fld>
            <a:endParaRPr sz="1200" b="0" i="0" u="none" strike="noStrike" cap="none">
              <a:solidFill>
                <a:schemeClr val="dk1"/>
              </a:solidFill>
              <a:latin typeface="Times New Roman"/>
              <a:ea typeface="Times New Roman"/>
              <a:cs typeface="Times New Roman"/>
              <a:sym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68880" y="4040507"/>
            <a:ext cx="27980640" cy="8595360"/>
          </a:xfrm>
        </p:spPr>
        <p:txBody>
          <a:bodyPr anchor="b"/>
          <a:lstStyle>
            <a:lvl1pPr algn="ctr">
              <a:defRPr sz="21600"/>
            </a:lvl1pPr>
          </a:lstStyle>
          <a:p>
            <a:r>
              <a:rPr lang="en-US"/>
              <a:t>Click to edit Master title style</a:t>
            </a:r>
            <a:endParaRPr lang="en-US" dirty="0"/>
          </a:p>
        </p:txBody>
      </p:sp>
      <p:sp>
        <p:nvSpPr>
          <p:cNvPr id="3" name="Subtitle 2"/>
          <p:cNvSpPr>
            <a:spLocks noGrp="1"/>
          </p:cNvSpPr>
          <p:nvPr>
            <p:ph type="subTitle" idx="1"/>
          </p:nvPr>
        </p:nvSpPr>
        <p:spPr>
          <a:xfrm>
            <a:off x="4114800" y="12967337"/>
            <a:ext cx="24688800" cy="5960743"/>
          </a:xfrm>
        </p:spPr>
        <p:txBody>
          <a:bodyPr/>
          <a:lstStyle>
            <a:lvl1pPr marL="0" indent="0" algn="ctr">
              <a:buNone/>
              <a:defRPr sz="8640"/>
            </a:lvl1pPr>
            <a:lvl2pPr marL="1645920" indent="0" algn="ctr">
              <a:buNone/>
              <a:defRPr sz="7200"/>
            </a:lvl2pPr>
            <a:lvl3pPr marL="3291840" indent="0" algn="ctr">
              <a:buNone/>
              <a:defRPr sz="6480"/>
            </a:lvl3pPr>
            <a:lvl4pPr marL="4937760" indent="0" algn="ctr">
              <a:buNone/>
              <a:defRPr sz="5760"/>
            </a:lvl4pPr>
            <a:lvl5pPr marL="6583680" indent="0" algn="ctr">
              <a:buNone/>
              <a:defRPr sz="5760"/>
            </a:lvl5pPr>
            <a:lvl6pPr marL="8229600" indent="0" algn="ctr">
              <a:buNone/>
              <a:defRPr sz="5760"/>
            </a:lvl6pPr>
            <a:lvl7pPr marL="9875520" indent="0" algn="ctr">
              <a:buNone/>
              <a:defRPr sz="5760"/>
            </a:lvl7pPr>
            <a:lvl8pPr marL="11521440" indent="0" algn="ctr">
              <a:buNone/>
              <a:defRPr sz="5760"/>
            </a:lvl8pPr>
            <a:lvl9pPr marL="13167360" indent="0" algn="ctr">
              <a:buNone/>
              <a:defRPr sz="576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6620268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6221925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245997" y="6155062"/>
            <a:ext cx="28392120" cy="10269853"/>
          </a:xfrm>
        </p:spPr>
        <p:txBody>
          <a:bodyPr anchor="b"/>
          <a:lstStyle>
            <a:lvl1pPr>
              <a:defRPr sz="21600"/>
            </a:lvl1pPr>
          </a:lstStyle>
          <a:p>
            <a:r>
              <a:rPr lang="en-US"/>
              <a:t>Click to edit Master title style</a:t>
            </a:r>
            <a:endParaRPr lang="en-US" dirty="0"/>
          </a:p>
        </p:txBody>
      </p:sp>
      <p:sp>
        <p:nvSpPr>
          <p:cNvPr id="3" name="Text Placeholder 2"/>
          <p:cNvSpPr>
            <a:spLocks noGrp="1"/>
          </p:cNvSpPr>
          <p:nvPr>
            <p:ph type="body" idx="1"/>
          </p:nvPr>
        </p:nvSpPr>
        <p:spPr>
          <a:xfrm>
            <a:off x="2245997" y="16522072"/>
            <a:ext cx="28392120" cy="5400673"/>
          </a:xfrm>
        </p:spPr>
        <p:txBody>
          <a:bodyPr/>
          <a:lstStyle>
            <a:lvl1pPr marL="0" indent="0">
              <a:buNone/>
              <a:defRPr sz="8640">
                <a:solidFill>
                  <a:schemeClr val="tx1"/>
                </a:solidFill>
              </a:defRPr>
            </a:lvl1pPr>
            <a:lvl2pPr marL="1645920" indent="0">
              <a:buNone/>
              <a:defRPr sz="7200">
                <a:solidFill>
                  <a:schemeClr val="tx1">
                    <a:tint val="75000"/>
                  </a:schemeClr>
                </a:solidFill>
              </a:defRPr>
            </a:lvl2pPr>
            <a:lvl3pPr marL="3291840" indent="0">
              <a:buNone/>
              <a:defRPr sz="6480">
                <a:solidFill>
                  <a:schemeClr val="tx1">
                    <a:tint val="75000"/>
                  </a:schemeClr>
                </a:solidFill>
              </a:defRPr>
            </a:lvl3pPr>
            <a:lvl4pPr marL="4937760" indent="0">
              <a:buNone/>
              <a:defRPr sz="5760">
                <a:solidFill>
                  <a:schemeClr val="tx1">
                    <a:tint val="75000"/>
                  </a:schemeClr>
                </a:solidFill>
              </a:defRPr>
            </a:lvl4pPr>
            <a:lvl5pPr marL="6583680" indent="0">
              <a:buNone/>
              <a:defRPr sz="5760">
                <a:solidFill>
                  <a:schemeClr val="tx1">
                    <a:tint val="75000"/>
                  </a:schemeClr>
                </a:solidFill>
              </a:defRPr>
            </a:lvl5pPr>
            <a:lvl6pPr marL="8229600" indent="0">
              <a:buNone/>
              <a:defRPr sz="5760">
                <a:solidFill>
                  <a:schemeClr val="tx1">
                    <a:tint val="75000"/>
                  </a:schemeClr>
                </a:solidFill>
              </a:defRPr>
            </a:lvl6pPr>
            <a:lvl7pPr marL="9875520" indent="0">
              <a:buNone/>
              <a:defRPr sz="5760">
                <a:solidFill>
                  <a:schemeClr val="tx1">
                    <a:tint val="75000"/>
                  </a:schemeClr>
                </a:solidFill>
              </a:defRPr>
            </a:lvl7pPr>
            <a:lvl8pPr marL="11521440" indent="0">
              <a:buNone/>
              <a:defRPr sz="5760">
                <a:solidFill>
                  <a:schemeClr val="tx1">
                    <a:tint val="75000"/>
                  </a:schemeClr>
                </a:solidFill>
              </a:defRPr>
            </a:lvl8pPr>
            <a:lvl9pPr marL="13167360" indent="0">
              <a:buNone/>
              <a:defRPr sz="576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482988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263140" y="6572250"/>
            <a:ext cx="13990320" cy="156648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6664940" y="6572250"/>
            <a:ext cx="13990320" cy="156648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77619046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267428" y="1314455"/>
            <a:ext cx="28392120" cy="4772027"/>
          </a:xfrm>
        </p:spPr>
        <p:txBody>
          <a:bodyPr/>
          <a:lstStyle/>
          <a:p>
            <a:r>
              <a:rPr lang="en-US"/>
              <a:t>Click to edit Master title style</a:t>
            </a:r>
            <a:endParaRPr lang="en-US" dirty="0"/>
          </a:p>
        </p:txBody>
      </p:sp>
      <p:sp>
        <p:nvSpPr>
          <p:cNvPr id="3" name="Text Placeholder 2"/>
          <p:cNvSpPr>
            <a:spLocks noGrp="1"/>
          </p:cNvSpPr>
          <p:nvPr>
            <p:ph type="body" idx="1"/>
          </p:nvPr>
        </p:nvSpPr>
        <p:spPr>
          <a:xfrm>
            <a:off x="2267431" y="6052187"/>
            <a:ext cx="13926024" cy="2966083"/>
          </a:xfrm>
        </p:spPr>
        <p:txBody>
          <a:bodyPr anchor="b"/>
          <a:lstStyle>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a:pPr lvl="0"/>
            <a:r>
              <a:rPr lang="en-US"/>
              <a:t>Click to edit Master text styles</a:t>
            </a:r>
          </a:p>
        </p:txBody>
      </p:sp>
      <p:sp>
        <p:nvSpPr>
          <p:cNvPr id="4" name="Content Placeholder 3"/>
          <p:cNvSpPr>
            <a:spLocks noGrp="1"/>
          </p:cNvSpPr>
          <p:nvPr>
            <p:ph sz="half" idx="2"/>
          </p:nvPr>
        </p:nvSpPr>
        <p:spPr>
          <a:xfrm>
            <a:off x="2267431" y="9018270"/>
            <a:ext cx="13926024" cy="132645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6664942" y="6052187"/>
            <a:ext cx="13994608" cy="2966083"/>
          </a:xfrm>
        </p:spPr>
        <p:txBody>
          <a:bodyPr anchor="b"/>
          <a:lstStyle>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a:pPr lvl="0"/>
            <a:r>
              <a:rPr lang="en-US"/>
              <a:t>Click to edit Master text styles</a:t>
            </a:r>
          </a:p>
        </p:txBody>
      </p:sp>
      <p:sp>
        <p:nvSpPr>
          <p:cNvPr id="6" name="Content Placeholder 5"/>
          <p:cNvSpPr>
            <a:spLocks noGrp="1"/>
          </p:cNvSpPr>
          <p:nvPr>
            <p:ph sz="quarter" idx="4"/>
          </p:nvPr>
        </p:nvSpPr>
        <p:spPr>
          <a:xfrm>
            <a:off x="16664942" y="9018270"/>
            <a:ext cx="13994608" cy="132645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4416305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0672259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33057098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267428" y="1645920"/>
            <a:ext cx="10617041" cy="5760720"/>
          </a:xfrm>
        </p:spPr>
        <p:txBody>
          <a:bodyPr anchor="b"/>
          <a:lstStyle>
            <a:lvl1pPr>
              <a:defRPr sz="11520"/>
            </a:lvl1pPr>
          </a:lstStyle>
          <a:p>
            <a:r>
              <a:rPr lang="en-US"/>
              <a:t>Click to edit Master title style</a:t>
            </a:r>
            <a:endParaRPr lang="en-US" dirty="0"/>
          </a:p>
        </p:txBody>
      </p:sp>
      <p:sp>
        <p:nvSpPr>
          <p:cNvPr id="3" name="Content Placeholder 2"/>
          <p:cNvSpPr>
            <a:spLocks noGrp="1"/>
          </p:cNvSpPr>
          <p:nvPr>
            <p:ph idx="1"/>
          </p:nvPr>
        </p:nvSpPr>
        <p:spPr>
          <a:xfrm>
            <a:off x="13994608" y="3554735"/>
            <a:ext cx="16664940" cy="17545050"/>
          </a:xfrm>
        </p:spPr>
        <p:txBody>
          <a:bodyPr/>
          <a:lstStyle>
            <a:lvl1pPr>
              <a:defRPr sz="11520"/>
            </a:lvl1pPr>
            <a:lvl2pPr>
              <a:defRPr sz="10080"/>
            </a:lvl2pPr>
            <a:lvl3pPr>
              <a:defRPr sz="8640"/>
            </a:lvl3pPr>
            <a:lvl4pPr>
              <a:defRPr sz="7200"/>
            </a:lvl4pPr>
            <a:lvl5pPr>
              <a:defRPr sz="7200"/>
            </a:lvl5pPr>
            <a:lvl6pPr>
              <a:defRPr sz="7200"/>
            </a:lvl6pPr>
            <a:lvl7pPr>
              <a:defRPr sz="7200"/>
            </a:lvl7pPr>
            <a:lvl8pPr>
              <a:defRPr sz="7200"/>
            </a:lvl8pPr>
            <a:lvl9pPr>
              <a:defRPr sz="7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267428" y="7406640"/>
            <a:ext cx="10617041" cy="13721717"/>
          </a:xfrm>
        </p:spPr>
        <p:txBody>
          <a:bodyPr/>
          <a:lstStyle>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8765945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267428" y="1645920"/>
            <a:ext cx="10617041" cy="5760720"/>
          </a:xfrm>
        </p:spPr>
        <p:txBody>
          <a:bodyPr anchor="b"/>
          <a:lstStyle>
            <a:lvl1pPr>
              <a:defRPr sz="11520"/>
            </a:lvl1pPr>
          </a:lstStyle>
          <a:p>
            <a:r>
              <a:rPr lang="en-US"/>
              <a:t>Click to edit Master title style</a:t>
            </a:r>
            <a:endParaRPr lang="en-US" dirty="0"/>
          </a:p>
        </p:txBody>
      </p:sp>
      <p:sp>
        <p:nvSpPr>
          <p:cNvPr id="3" name="Picture Placeholder 2"/>
          <p:cNvSpPr>
            <a:spLocks noGrp="1" noChangeAspect="1"/>
          </p:cNvSpPr>
          <p:nvPr>
            <p:ph type="pic" idx="1"/>
          </p:nvPr>
        </p:nvSpPr>
        <p:spPr>
          <a:xfrm>
            <a:off x="13994608" y="3554735"/>
            <a:ext cx="16664940" cy="17545050"/>
          </a:xfrm>
        </p:spPr>
        <p:txBody>
          <a:bodyPr anchor="t"/>
          <a:lstStyle>
            <a:lvl1pPr marL="0" indent="0">
              <a:buNone/>
              <a:defRPr sz="11520"/>
            </a:lvl1pPr>
            <a:lvl2pPr marL="1645920" indent="0">
              <a:buNone/>
              <a:defRPr sz="10080"/>
            </a:lvl2pPr>
            <a:lvl3pPr marL="3291840" indent="0">
              <a:buNone/>
              <a:defRPr sz="8640"/>
            </a:lvl3pPr>
            <a:lvl4pPr marL="4937760" indent="0">
              <a:buNone/>
              <a:defRPr sz="7200"/>
            </a:lvl4pPr>
            <a:lvl5pPr marL="6583680" indent="0">
              <a:buNone/>
              <a:defRPr sz="7200"/>
            </a:lvl5pPr>
            <a:lvl6pPr marL="8229600" indent="0">
              <a:buNone/>
              <a:defRPr sz="7200"/>
            </a:lvl6pPr>
            <a:lvl7pPr marL="9875520" indent="0">
              <a:buNone/>
              <a:defRPr sz="7200"/>
            </a:lvl7pPr>
            <a:lvl8pPr marL="11521440" indent="0">
              <a:buNone/>
              <a:defRPr sz="7200"/>
            </a:lvl8pPr>
            <a:lvl9pPr marL="13167360" indent="0">
              <a:buNone/>
              <a:defRPr sz="7200"/>
            </a:lvl9pPr>
          </a:lstStyle>
          <a:p>
            <a:r>
              <a:rPr lang="en-US"/>
              <a:t>Click icon to add picture</a:t>
            </a:r>
            <a:endParaRPr lang="en-US" dirty="0"/>
          </a:p>
        </p:txBody>
      </p:sp>
      <p:sp>
        <p:nvSpPr>
          <p:cNvPr id="4" name="Text Placeholder 3"/>
          <p:cNvSpPr>
            <a:spLocks noGrp="1"/>
          </p:cNvSpPr>
          <p:nvPr>
            <p:ph type="body" sz="half" idx="2"/>
          </p:nvPr>
        </p:nvSpPr>
        <p:spPr>
          <a:xfrm>
            <a:off x="2267428" y="7406640"/>
            <a:ext cx="10617041" cy="13721717"/>
          </a:xfrm>
        </p:spPr>
        <p:txBody>
          <a:bodyPr/>
          <a:lstStyle>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126791679"/>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6766023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3557232" y="1314450"/>
            <a:ext cx="7098030" cy="20922617"/>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263142" y="1314450"/>
            <a:ext cx="20882610" cy="209226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53153972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263140" y="1314455"/>
            <a:ext cx="28392120" cy="4772027"/>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263140" y="6572250"/>
            <a:ext cx="28392120" cy="1566481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263140" y="22882865"/>
            <a:ext cx="7406640" cy="1314450"/>
          </a:xfrm>
          <a:prstGeom prst="rect">
            <a:avLst/>
          </a:prstGeom>
        </p:spPr>
        <p:txBody>
          <a:bodyPr vert="horz" lIns="91440" tIns="45720" rIns="91440" bIns="45720" rtlCol="0" anchor="ctr"/>
          <a:lstStyle>
            <a:lvl1pPr algn="l">
              <a:defRPr sz="4320">
                <a:solidFill>
                  <a:schemeClr val="tx1">
                    <a:tint val="75000"/>
                  </a:schemeClr>
                </a:solidFill>
              </a:defRPr>
            </a:lvl1pPr>
          </a:lstStyle>
          <a:p>
            <a:endParaRPr lang="en-US"/>
          </a:p>
        </p:txBody>
      </p:sp>
      <p:sp>
        <p:nvSpPr>
          <p:cNvPr id="5" name="Footer Placeholder 4"/>
          <p:cNvSpPr>
            <a:spLocks noGrp="1"/>
          </p:cNvSpPr>
          <p:nvPr>
            <p:ph type="ftr" sz="quarter" idx="3"/>
          </p:nvPr>
        </p:nvSpPr>
        <p:spPr>
          <a:xfrm>
            <a:off x="10904220" y="22882865"/>
            <a:ext cx="11109960" cy="1314450"/>
          </a:xfrm>
          <a:prstGeom prst="rect">
            <a:avLst/>
          </a:prstGeom>
        </p:spPr>
        <p:txBody>
          <a:bodyPr vert="horz" lIns="91440" tIns="45720" rIns="91440" bIns="45720" rtlCol="0" anchor="ctr"/>
          <a:lstStyle>
            <a:lvl1pPr algn="ctr">
              <a:defRPr sz="432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23248620" y="22882865"/>
            <a:ext cx="7406640" cy="1314450"/>
          </a:xfrm>
          <a:prstGeom prst="rect">
            <a:avLst/>
          </a:prstGeom>
        </p:spPr>
        <p:txBody>
          <a:bodyPr vert="horz" lIns="91440" tIns="45720" rIns="91440" bIns="45720" rtlCol="0" anchor="ctr"/>
          <a:lstStyle>
            <a:lvl1pPr algn="r">
              <a:defRPr sz="4320">
                <a:solidFill>
                  <a:schemeClr val="tx1">
                    <a:tint val="75000"/>
                  </a:schemeClr>
                </a:solidFill>
              </a:defRPr>
            </a:lvl1pPr>
          </a:lstStyle>
          <a:p>
            <a:fld id="{00000000-1234-1234-1234-123412341234}" type="slidenum">
              <a:rPr lang="en-US" smtClean="0"/>
              <a:pPr/>
              <a:t>‹#›</a:t>
            </a:fld>
            <a:endParaRPr lang="en-US"/>
          </a:p>
        </p:txBody>
      </p:sp>
    </p:spTree>
    <p:extLst>
      <p:ext uri="{BB962C8B-B14F-4D97-AF65-F5344CB8AC3E}">
        <p14:creationId xmlns:p14="http://schemas.microsoft.com/office/powerpoint/2010/main" val="2195114939"/>
      </p:ext>
    </p:extLst>
  </p:cSld>
  <p:clrMap bg1="lt1" tx1="dk1" bg2="lt2" tx2="dk2" accent1="accent1" accent2="accent2" accent3="accent3" accent4="accent4" accent5="accent5" accent6="accent6" hlink="hlink" folHlink="folHlink"/>
  <p:sldLayoutIdLst>
    <p:sldLayoutId id="2147483749" r:id="rId1"/>
    <p:sldLayoutId id="2147483750" r:id="rId2"/>
    <p:sldLayoutId id="2147483751" r:id="rId3"/>
    <p:sldLayoutId id="2147483752" r:id="rId4"/>
    <p:sldLayoutId id="2147483753" r:id="rId5"/>
    <p:sldLayoutId id="2147483754" r:id="rId6"/>
    <p:sldLayoutId id="2147483755" r:id="rId7"/>
    <p:sldLayoutId id="2147483756" r:id="rId8"/>
    <p:sldLayoutId id="2147483757" r:id="rId9"/>
    <p:sldLayoutId id="2147483758" r:id="rId10"/>
    <p:sldLayoutId id="2147483759" r:id="rId11"/>
  </p:sldLayoutIdLst>
  <p:hf sldNum="0" hdr="0" ftr="0" dt="0"/>
  <p:txStyles>
    <p:titleStyle>
      <a:lvl1pPr algn="l" defTabSz="3291840" rtl="0" eaLnBrk="1" latinLnBrk="0" hangingPunct="1">
        <a:lnSpc>
          <a:spcPct val="90000"/>
        </a:lnSpc>
        <a:spcBef>
          <a:spcPct val="0"/>
        </a:spcBef>
        <a:buNone/>
        <a:defRPr sz="15840" kern="1200">
          <a:solidFill>
            <a:schemeClr val="tx1"/>
          </a:solidFill>
          <a:latin typeface="+mj-lt"/>
          <a:ea typeface="+mj-ea"/>
          <a:cs typeface="+mj-cs"/>
        </a:defRPr>
      </a:lvl1pPr>
    </p:titleStyle>
    <p:bodyStyle>
      <a:lvl1pPr marL="822960" indent="-822960" algn="l" defTabSz="3291840" rtl="0" eaLnBrk="1" latinLnBrk="0" hangingPunct="1">
        <a:lnSpc>
          <a:spcPct val="90000"/>
        </a:lnSpc>
        <a:spcBef>
          <a:spcPts val="3600"/>
        </a:spcBef>
        <a:buFont typeface="Arial" panose="020B0604020202020204" pitchFamily="34" charset="0"/>
        <a:buChar char="•"/>
        <a:defRPr sz="10080" kern="1200">
          <a:solidFill>
            <a:schemeClr val="tx1"/>
          </a:solidFill>
          <a:latin typeface="+mn-lt"/>
          <a:ea typeface="+mn-ea"/>
          <a:cs typeface="+mn-cs"/>
        </a:defRPr>
      </a:lvl1pPr>
      <a:lvl2pPr marL="2468880" indent="-822960" algn="l" defTabSz="3291840" rtl="0" eaLnBrk="1" latinLnBrk="0" hangingPunct="1">
        <a:lnSpc>
          <a:spcPct val="90000"/>
        </a:lnSpc>
        <a:spcBef>
          <a:spcPts val="1800"/>
        </a:spcBef>
        <a:buFont typeface="Arial" panose="020B0604020202020204" pitchFamily="34" charset="0"/>
        <a:buChar char="•"/>
        <a:defRPr sz="8640" kern="1200">
          <a:solidFill>
            <a:schemeClr val="tx1"/>
          </a:solidFill>
          <a:latin typeface="+mn-lt"/>
          <a:ea typeface="+mn-ea"/>
          <a:cs typeface="+mn-cs"/>
        </a:defRPr>
      </a:lvl2pPr>
      <a:lvl3pPr marL="4114800" indent="-822960" algn="l" defTabSz="3291840" rtl="0" eaLnBrk="1" latinLnBrk="0" hangingPunct="1">
        <a:lnSpc>
          <a:spcPct val="90000"/>
        </a:lnSpc>
        <a:spcBef>
          <a:spcPts val="1800"/>
        </a:spcBef>
        <a:buFont typeface="Arial" panose="020B0604020202020204" pitchFamily="34" charset="0"/>
        <a:buChar char="•"/>
        <a:defRPr sz="7200" kern="1200">
          <a:solidFill>
            <a:schemeClr val="tx1"/>
          </a:solidFill>
          <a:latin typeface="+mn-lt"/>
          <a:ea typeface="+mn-ea"/>
          <a:cs typeface="+mn-cs"/>
        </a:defRPr>
      </a:lvl3pPr>
      <a:lvl4pPr marL="576072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4pPr>
      <a:lvl5pPr marL="740664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5pPr>
      <a:lvl6pPr marL="905256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6pPr>
      <a:lvl7pPr marL="1069848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7pPr>
      <a:lvl8pPr marL="1234440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8pPr>
      <a:lvl9pPr marL="1399032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9pPr>
    </p:bodyStyle>
    <p:otherStyle>
      <a:defPPr>
        <a:defRPr lang="en-US"/>
      </a:defPPr>
      <a:lvl1pPr marL="0" algn="l" defTabSz="3291840" rtl="0" eaLnBrk="1" latinLnBrk="0" hangingPunct="1">
        <a:defRPr sz="6480" kern="1200">
          <a:solidFill>
            <a:schemeClr val="tx1"/>
          </a:solidFill>
          <a:latin typeface="+mn-lt"/>
          <a:ea typeface="+mn-ea"/>
          <a:cs typeface="+mn-cs"/>
        </a:defRPr>
      </a:lvl1pPr>
      <a:lvl2pPr marL="1645920" algn="l" defTabSz="3291840" rtl="0" eaLnBrk="1" latinLnBrk="0" hangingPunct="1">
        <a:defRPr sz="6480" kern="1200">
          <a:solidFill>
            <a:schemeClr val="tx1"/>
          </a:solidFill>
          <a:latin typeface="+mn-lt"/>
          <a:ea typeface="+mn-ea"/>
          <a:cs typeface="+mn-cs"/>
        </a:defRPr>
      </a:lvl2pPr>
      <a:lvl3pPr marL="3291840" algn="l" defTabSz="3291840" rtl="0" eaLnBrk="1" latinLnBrk="0" hangingPunct="1">
        <a:defRPr sz="6480" kern="1200">
          <a:solidFill>
            <a:schemeClr val="tx1"/>
          </a:solidFill>
          <a:latin typeface="+mn-lt"/>
          <a:ea typeface="+mn-ea"/>
          <a:cs typeface="+mn-cs"/>
        </a:defRPr>
      </a:lvl3pPr>
      <a:lvl4pPr marL="4937760" algn="l" defTabSz="3291840" rtl="0" eaLnBrk="1" latinLnBrk="0" hangingPunct="1">
        <a:defRPr sz="6480" kern="1200">
          <a:solidFill>
            <a:schemeClr val="tx1"/>
          </a:solidFill>
          <a:latin typeface="+mn-lt"/>
          <a:ea typeface="+mn-ea"/>
          <a:cs typeface="+mn-cs"/>
        </a:defRPr>
      </a:lvl4pPr>
      <a:lvl5pPr marL="6583680" algn="l" defTabSz="3291840" rtl="0" eaLnBrk="1" latinLnBrk="0" hangingPunct="1">
        <a:defRPr sz="6480" kern="1200">
          <a:solidFill>
            <a:schemeClr val="tx1"/>
          </a:solidFill>
          <a:latin typeface="+mn-lt"/>
          <a:ea typeface="+mn-ea"/>
          <a:cs typeface="+mn-cs"/>
        </a:defRPr>
      </a:lvl5pPr>
      <a:lvl6pPr marL="8229600" algn="l" defTabSz="3291840" rtl="0" eaLnBrk="1" latinLnBrk="0" hangingPunct="1">
        <a:defRPr sz="6480" kern="1200">
          <a:solidFill>
            <a:schemeClr val="tx1"/>
          </a:solidFill>
          <a:latin typeface="+mn-lt"/>
          <a:ea typeface="+mn-ea"/>
          <a:cs typeface="+mn-cs"/>
        </a:defRPr>
      </a:lvl6pPr>
      <a:lvl7pPr marL="9875520" algn="l" defTabSz="3291840" rtl="0" eaLnBrk="1" latinLnBrk="0" hangingPunct="1">
        <a:defRPr sz="6480" kern="1200">
          <a:solidFill>
            <a:schemeClr val="tx1"/>
          </a:solidFill>
          <a:latin typeface="+mn-lt"/>
          <a:ea typeface="+mn-ea"/>
          <a:cs typeface="+mn-cs"/>
        </a:defRPr>
      </a:lvl7pPr>
      <a:lvl8pPr marL="11521440" algn="l" defTabSz="3291840" rtl="0" eaLnBrk="1" latinLnBrk="0" hangingPunct="1">
        <a:defRPr sz="6480" kern="1200">
          <a:solidFill>
            <a:schemeClr val="tx1"/>
          </a:solidFill>
          <a:latin typeface="+mn-lt"/>
          <a:ea typeface="+mn-ea"/>
          <a:cs typeface="+mn-cs"/>
        </a:defRPr>
      </a:lvl8pPr>
      <a:lvl9pPr marL="13167360" algn="l" defTabSz="3291840" rtl="0" eaLnBrk="1" latinLnBrk="0" hangingPunct="1">
        <a:defRPr sz="648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5E5E5"/>
        </a:solidFill>
        <a:effectLst/>
      </p:bgPr>
    </p:bg>
    <p:spTree>
      <p:nvGrpSpPr>
        <p:cNvPr id="1" name="Shape 88"/>
        <p:cNvGrpSpPr/>
        <p:nvPr/>
      </p:nvGrpSpPr>
      <p:grpSpPr>
        <a:xfrm>
          <a:off x="0" y="0"/>
          <a:ext cx="0" cy="0"/>
          <a:chOff x="0" y="0"/>
          <a:chExt cx="0" cy="0"/>
        </a:xfrm>
      </p:grpSpPr>
      <p:pic>
        <p:nvPicPr>
          <p:cNvPr id="105" name="Google Shape;105;p13"/>
          <p:cNvPicPr preferRelativeResize="0"/>
          <p:nvPr/>
        </p:nvPicPr>
        <p:blipFill rotWithShape="1">
          <a:blip r:embed="rId3">
            <a:alphaModFix/>
          </a:blip>
          <a:srcRect/>
          <a:stretch/>
        </p:blipFill>
        <p:spPr>
          <a:xfrm>
            <a:off x="274320" y="320040"/>
            <a:ext cx="3246120" cy="3657600"/>
          </a:xfrm>
          <a:prstGeom prst="rect">
            <a:avLst/>
          </a:prstGeom>
          <a:noFill/>
          <a:ln>
            <a:noFill/>
          </a:ln>
        </p:spPr>
      </p:pic>
      <p:pic>
        <p:nvPicPr>
          <p:cNvPr id="4" name="Picture 3">
            <a:extLst>
              <a:ext uri="{FF2B5EF4-FFF2-40B4-BE49-F238E27FC236}">
                <a16:creationId xmlns:a16="http://schemas.microsoft.com/office/drawing/2014/main" id="{6CEA0A40-9CB0-F6FB-B739-920187535AC5}"/>
              </a:ext>
            </a:extLst>
          </p:cNvPr>
          <p:cNvPicPr>
            <a:picLocks noChangeAspect="1"/>
          </p:cNvPicPr>
          <p:nvPr/>
        </p:nvPicPr>
        <p:blipFill>
          <a:blip r:embed="rId4"/>
          <a:stretch>
            <a:fillRect/>
          </a:stretch>
        </p:blipFill>
        <p:spPr>
          <a:xfrm>
            <a:off x="84706" y="0"/>
            <a:ext cx="4007774" cy="4742023"/>
          </a:xfrm>
          <a:prstGeom prst="rect">
            <a:avLst/>
          </a:prstGeom>
        </p:spPr>
      </p:pic>
      <p:sp>
        <p:nvSpPr>
          <p:cNvPr id="106" name="Rectangle 105"/>
          <p:cNvSpPr/>
          <p:nvPr/>
        </p:nvSpPr>
        <p:spPr>
          <a:xfrm>
            <a:off x="3931920" y="365760"/>
            <a:ext cx="24963120" cy="2331720"/>
          </a:xfrm>
          <a:prstGeom prst="rect">
            <a:avLst/>
          </a:prstGeom>
          <a:solidFill>
            <a:srgbClr val="006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4069080" y="457200"/>
            <a:ext cx="24688800" cy="2148840"/>
          </a:xfrm>
          <a:prstGeom prst="rect">
            <a:avLst/>
          </a:prstGeom>
          <a:noFill/>
        </p:spPr>
        <p:txBody>
          <a:bodyPr wrap="square" anchor="ctr">
            <a:spAutoFit/>
          </a:bodyPr>
          <a:lstStyle/>
          <a:p>
            <a:pPr algn="ctr">
              <a:lnSpc>
                <a:spcPct val="92000"/>
              </a:lnSpc>
              <a:spcAft>
                <a:spcPts val="1000"/>
              </a:spcAft>
            </a:pPr>
            <a:r>
              <a:rPr sz="8800" b="1">
                <a:solidFill>
                  <a:srgbClr val="FFFFFF"/>
                </a:solidFill>
                <a:latin typeface="Arial"/>
              </a:rPr>
              <a:t>Two Americas of Data Center Hazard: 2,696 US Facilities Mapped</a:t>
            </a:r>
          </a:p>
        </p:txBody>
      </p:sp>
      <p:sp>
        <p:nvSpPr>
          <p:cNvPr id="108" name="TextBox 107"/>
          <p:cNvSpPr txBox="1"/>
          <p:nvPr/>
        </p:nvSpPr>
        <p:spPr>
          <a:xfrm>
            <a:off x="3931920" y="2761488"/>
            <a:ext cx="24963120" cy="868680"/>
          </a:xfrm>
          <a:prstGeom prst="rect">
            <a:avLst/>
          </a:prstGeom>
          <a:noFill/>
        </p:spPr>
        <p:txBody>
          <a:bodyPr wrap="square" anchor="ctr">
            <a:spAutoFit/>
          </a:bodyPr>
          <a:lstStyle/>
          <a:p>
            <a:pPr algn="ctr">
              <a:lnSpc>
                <a:spcPct val="95000"/>
              </a:lnSpc>
              <a:spcAft>
                <a:spcPts val="1000"/>
              </a:spcAft>
            </a:pPr>
            <a:r>
              <a:rPr sz="4000" b="1">
                <a:solidFill>
                  <a:srgbClr val="000000"/>
                </a:solidFill>
                <a:latin typeface="Arial"/>
              </a:rPr>
              <a:t>Avilash Angirekula¹, Dennies Bor¹, Edward J. Oughton¹</a:t>
            </a:r>
          </a:p>
        </p:txBody>
      </p:sp>
      <p:sp>
        <p:nvSpPr>
          <p:cNvPr id="109" name="TextBox 108"/>
          <p:cNvSpPr txBox="1"/>
          <p:nvPr/>
        </p:nvSpPr>
        <p:spPr>
          <a:xfrm>
            <a:off x="3931920" y="3611880"/>
            <a:ext cx="24963120" cy="658368"/>
          </a:xfrm>
          <a:prstGeom prst="rect">
            <a:avLst/>
          </a:prstGeom>
          <a:noFill/>
        </p:spPr>
        <p:txBody>
          <a:bodyPr wrap="square" anchor="ctr">
            <a:spAutoFit/>
          </a:bodyPr>
          <a:lstStyle/>
          <a:p>
            <a:pPr algn="ctr">
              <a:lnSpc>
                <a:spcPct val="95000"/>
              </a:lnSpc>
              <a:spcAft>
                <a:spcPts val="1000"/>
              </a:spcAft>
            </a:pPr>
            <a:r>
              <a:rPr sz="2600" b="0">
                <a:solidFill>
                  <a:srgbClr val="444444"/>
                </a:solidFill>
                <a:latin typeface="Arial"/>
              </a:rPr>
              <a:t>¹Department of Geography and Geoinformation Sciences, College of Science, George Mason University</a:t>
            </a:r>
          </a:p>
        </p:txBody>
      </p:sp>
      <p:sp>
        <p:nvSpPr>
          <p:cNvPr id="110" name="Rectangle 109"/>
          <p:cNvSpPr/>
          <p:nvPr/>
        </p:nvSpPr>
        <p:spPr>
          <a:xfrm>
            <a:off x="457200" y="4370832"/>
            <a:ext cx="32004000" cy="54864"/>
          </a:xfrm>
          <a:prstGeom prst="rect">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457200" y="4526280"/>
            <a:ext cx="10332720" cy="868680"/>
          </a:xfrm>
          <a:prstGeom prst="rect">
            <a:avLst/>
          </a:prstGeom>
          <a:solidFill>
            <a:srgbClr val="006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640080" y="4581144"/>
            <a:ext cx="10058400" cy="777240"/>
          </a:xfrm>
          <a:prstGeom prst="rect">
            <a:avLst/>
          </a:prstGeom>
          <a:noFill/>
        </p:spPr>
        <p:txBody>
          <a:bodyPr wrap="square" anchor="ctr">
            <a:spAutoFit/>
          </a:bodyPr>
          <a:lstStyle/>
          <a:p>
            <a:pPr algn="l">
              <a:lnSpc>
                <a:spcPct val="95000"/>
              </a:lnSpc>
              <a:spcAft>
                <a:spcPts val="1000"/>
              </a:spcAft>
            </a:pPr>
            <a:r>
              <a:rPr sz="4400" b="1">
                <a:solidFill>
                  <a:srgbClr val="FFFFFF"/>
                </a:solidFill>
                <a:latin typeface="Arial"/>
              </a:rPr>
              <a:t>Background</a:t>
            </a:r>
          </a:p>
        </p:txBody>
      </p:sp>
      <p:sp>
        <p:nvSpPr>
          <p:cNvPr id="113" name="TextBox 112"/>
          <p:cNvSpPr txBox="1"/>
          <p:nvPr/>
        </p:nvSpPr>
        <p:spPr>
          <a:xfrm>
            <a:off x="457200" y="5486400"/>
            <a:ext cx="10332720" cy="5669280"/>
          </a:xfrm>
          <a:prstGeom prst="rect">
            <a:avLst/>
          </a:prstGeom>
          <a:noFill/>
        </p:spPr>
        <p:txBody>
          <a:bodyPr wrap="square" anchor="t">
            <a:spAutoFit/>
          </a:bodyPr>
          <a:lstStyle/>
          <a:p>
            <a:pPr algn="l">
              <a:lnSpc>
                <a:spcPct val="95000"/>
              </a:lnSpc>
              <a:spcAft>
                <a:spcPts val="1000"/>
              </a:spcAft>
            </a:pPr>
            <a:r>
              <a:rPr sz="2800" b="0">
                <a:solidFill>
                  <a:srgbClr val="000000"/>
                </a:solidFill>
                <a:latin typeface="Arial"/>
              </a:rPr>
              <a:t>Artificial intelligence and cloud computing have concentrated enormous computing capacity into a small number of US locations. Those buildings face earthquakes, wildfire, and flooding, but no open dataset records where they physically stand.</a:t>
            </a:r>
          </a:p>
          <a:p>
            <a:pPr algn="l">
              <a:lnSpc>
                <a:spcPct val="95000"/>
              </a:lnSpc>
              <a:spcAft>
                <a:spcPts val="1000"/>
              </a:spcAft>
            </a:pPr>
            <a:r>
              <a:rPr sz="2800" b="0">
                <a:solidFill>
                  <a:srgbClr val="000000"/>
                </a:solidFill>
                <a:latin typeface="Arial"/>
              </a:rPr>
              <a:t/>
            </a:r>
          </a:p>
          <a:p>
            <a:pPr algn="l">
              <a:lnSpc>
                <a:spcPct val="95000"/>
              </a:lnSpc>
              <a:spcAft>
                <a:spcPts val="1000"/>
              </a:spcAft>
            </a:pPr>
            <a:r>
              <a:rPr sz="2800" b="0">
                <a:solidFill>
                  <a:srgbClr val="000000"/>
                </a:solidFill>
                <a:latin typeface="Arial"/>
              </a:rPr>
              <a:t>Existing sources are proprietary, aggregated above the building level, or unverified. Without building-level locations, no one can measure what US computing infrastructure is exposed to.</a:t>
            </a:r>
          </a:p>
          <a:p>
            <a:pPr algn="l">
              <a:lnSpc>
                <a:spcPct val="95000"/>
              </a:lnSpc>
              <a:spcAft>
                <a:spcPts val="1000"/>
              </a:spcAft>
            </a:pPr>
            <a:r>
              <a:rPr sz="2800" b="0">
                <a:solidFill>
                  <a:srgbClr val="000000"/>
                </a:solidFill>
                <a:latin typeface="Arial"/>
              </a:rPr>
              <a:t/>
            </a:r>
          </a:p>
          <a:p>
            <a:pPr algn="l">
              <a:lnSpc>
                <a:spcPct val="95000"/>
              </a:lnSpc>
              <a:spcAft>
                <a:spcPts val="1000"/>
              </a:spcAft>
            </a:pPr>
            <a:r>
              <a:rPr sz="2800" b="0">
                <a:solidFill>
                  <a:srgbClr val="000000"/>
                </a:solidFill>
                <a:latin typeface="Arial"/>
              </a:rPr>
              <a:t>These are EXPOSURE values, not risk. No vulnerability term is applied, so nothing here is a damage or loss estimate.</a:t>
            </a:r>
          </a:p>
        </p:txBody>
      </p:sp>
      <p:sp>
        <p:nvSpPr>
          <p:cNvPr id="114" name="Rectangle 113"/>
          <p:cNvSpPr/>
          <p:nvPr/>
        </p:nvSpPr>
        <p:spPr>
          <a:xfrm>
            <a:off x="457200" y="11750040"/>
            <a:ext cx="10332720" cy="868680"/>
          </a:xfrm>
          <a:prstGeom prst="rect">
            <a:avLst/>
          </a:prstGeom>
          <a:solidFill>
            <a:srgbClr val="006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640080" y="11804904"/>
            <a:ext cx="10058400" cy="777240"/>
          </a:xfrm>
          <a:prstGeom prst="rect">
            <a:avLst/>
          </a:prstGeom>
          <a:noFill/>
        </p:spPr>
        <p:txBody>
          <a:bodyPr wrap="square" anchor="ctr">
            <a:spAutoFit/>
          </a:bodyPr>
          <a:lstStyle/>
          <a:p>
            <a:pPr algn="l">
              <a:lnSpc>
                <a:spcPct val="95000"/>
              </a:lnSpc>
              <a:spcAft>
                <a:spcPts val="1000"/>
              </a:spcAft>
            </a:pPr>
            <a:r>
              <a:rPr sz="4400" b="1">
                <a:solidFill>
                  <a:srgbClr val="FFFFFF"/>
                </a:solidFill>
                <a:latin typeface="Arial"/>
              </a:rPr>
              <a:t>Materials and Methods</a:t>
            </a:r>
          </a:p>
        </p:txBody>
      </p:sp>
      <p:sp>
        <p:nvSpPr>
          <p:cNvPr id="116" name="TextBox 115"/>
          <p:cNvSpPr txBox="1"/>
          <p:nvPr/>
        </p:nvSpPr>
        <p:spPr>
          <a:xfrm>
            <a:off x="457200" y="12710159"/>
            <a:ext cx="10332720" cy="2880360"/>
          </a:xfrm>
          <a:prstGeom prst="rect">
            <a:avLst/>
          </a:prstGeom>
          <a:noFill/>
        </p:spPr>
        <p:txBody>
          <a:bodyPr wrap="square" anchor="t">
            <a:spAutoFit/>
          </a:bodyPr>
          <a:lstStyle/>
          <a:p>
            <a:pPr algn="l">
              <a:lnSpc>
                <a:spcPct val="95000"/>
              </a:lnSpc>
              <a:spcAft>
                <a:spcPts val="1000"/>
              </a:spcAft>
            </a:pPr>
            <a:r>
              <a:rPr sz="2800" b="0">
                <a:solidFill>
                  <a:srgbClr val="000000"/>
                </a:solidFill>
                <a:latin typeface="Arial"/>
              </a:rPr>
              <a:t>A reproducible Python pipeline merges OpenStreetMap, PeeringDB, and Wikidata, removes duplicate records, and grades every coordinate against an independent building-footprint dataset.</a:t>
            </a:r>
          </a:p>
          <a:p>
            <a:pPr algn="l">
              <a:lnSpc>
                <a:spcPct val="95000"/>
              </a:lnSpc>
              <a:spcAft>
                <a:spcPts val="1000"/>
              </a:spcAft>
            </a:pPr>
            <a:r>
              <a:rPr sz="2800" b="0">
                <a:solidFill>
                  <a:srgbClr val="000000"/>
                </a:solidFill>
                <a:latin typeface="Arial"/>
              </a:rPr>
              <a:t/>
            </a:r>
          </a:p>
          <a:p>
            <a:pPr algn="l">
              <a:lnSpc>
                <a:spcPct val="95000"/>
              </a:lnSpc>
              <a:spcAft>
                <a:spcPts val="1000"/>
              </a:spcAft>
            </a:pPr>
            <a:r>
              <a:rPr sz="2800" b="0">
                <a:solidFill>
                  <a:srgbClr val="000000"/>
                </a:solidFill>
                <a:latin typeface="Arial"/>
              </a:rPr>
              <a:t>Hazards are then read at each facility from official sources:</a:t>
            </a:r>
          </a:p>
        </p:txBody>
      </p:sp>
      <p:sp>
        <p:nvSpPr>
          <p:cNvPr id="117" name="Rectangle 116"/>
          <p:cNvSpPr/>
          <p:nvPr/>
        </p:nvSpPr>
        <p:spPr>
          <a:xfrm>
            <a:off x="548640" y="15499080"/>
            <a:ext cx="10149840" cy="713232"/>
          </a:xfrm>
          <a:prstGeom prst="rect">
            <a:avLst/>
          </a:prstGeom>
          <a:solidFill>
            <a:srgbClr val="E5E5E5"/>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685800" y="15553943"/>
            <a:ext cx="3017520" cy="603504"/>
          </a:xfrm>
          <a:prstGeom prst="rect">
            <a:avLst/>
          </a:prstGeom>
          <a:noFill/>
        </p:spPr>
        <p:txBody>
          <a:bodyPr wrap="square" anchor="ctr">
            <a:spAutoFit/>
          </a:bodyPr>
          <a:lstStyle/>
          <a:p>
            <a:pPr algn="l">
              <a:lnSpc>
                <a:spcPct val="95000"/>
              </a:lnSpc>
              <a:spcAft>
                <a:spcPts val="1000"/>
              </a:spcAft>
            </a:pPr>
            <a:r>
              <a:rPr sz="2600" b="1">
                <a:solidFill>
                  <a:srgbClr val="000000"/>
                </a:solidFill>
                <a:latin typeface="Arial"/>
              </a:rPr>
              <a:t>Earthquake</a:t>
            </a:r>
          </a:p>
        </p:txBody>
      </p:sp>
      <p:sp>
        <p:nvSpPr>
          <p:cNvPr id="119" name="TextBox 118"/>
          <p:cNvSpPr txBox="1"/>
          <p:nvPr/>
        </p:nvSpPr>
        <p:spPr>
          <a:xfrm>
            <a:off x="3703320" y="15553943"/>
            <a:ext cx="6812280" cy="603504"/>
          </a:xfrm>
          <a:prstGeom prst="rect">
            <a:avLst/>
          </a:prstGeom>
          <a:noFill/>
        </p:spPr>
        <p:txBody>
          <a:bodyPr wrap="square" anchor="ctr">
            <a:spAutoFit/>
          </a:bodyPr>
          <a:lstStyle/>
          <a:p>
            <a:pPr algn="l">
              <a:lnSpc>
                <a:spcPct val="95000"/>
              </a:lnSpc>
              <a:spcAft>
                <a:spcPts val="1000"/>
              </a:spcAft>
            </a:pPr>
            <a:r>
              <a:rPr sz="2400" b="0">
                <a:solidFill>
                  <a:srgbClr val="333333"/>
                </a:solidFill>
                <a:latin typeface="Arial"/>
              </a:rPr>
              <a:t>USGS ASCE 7-22 point service</a:t>
            </a:r>
          </a:p>
        </p:txBody>
      </p:sp>
      <p:sp>
        <p:nvSpPr>
          <p:cNvPr id="120" name="Rectangle 119"/>
          <p:cNvSpPr/>
          <p:nvPr/>
        </p:nvSpPr>
        <p:spPr>
          <a:xfrm>
            <a:off x="548640" y="16322039"/>
            <a:ext cx="10149840" cy="713232"/>
          </a:xfrm>
          <a:prstGeom prst="rect">
            <a:avLst/>
          </a:prstGeom>
          <a:solidFill>
            <a:srgbClr val="E5E5E5"/>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685800" y="16376903"/>
            <a:ext cx="3017520" cy="603504"/>
          </a:xfrm>
          <a:prstGeom prst="rect">
            <a:avLst/>
          </a:prstGeom>
          <a:noFill/>
        </p:spPr>
        <p:txBody>
          <a:bodyPr wrap="square" anchor="ctr">
            <a:spAutoFit/>
          </a:bodyPr>
          <a:lstStyle/>
          <a:p>
            <a:pPr algn="l">
              <a:lnSpc>
                <a:spcPct val="95000"/>
              </a:lnSpc>
              <a:spcAft>
                <a:spcPts val="1000"/>
              </a:spcAft>
            </a:pPr>
            <a:r>
              <a:rPr sz="2600" b="1">
                <a:solidFill>
                  <a:srgbClr val="000000"/>
                </a:solidFill>
                <a:latin typeface="Arial"/>
              </a:rPr>
              <a:t>Wildfire</a:t>
            </a:r>
          </a:p>
        </p:txBody>
      </p:sp>
      <p:sp>
        <p:nvSpPr>
          <p:cNvPr id="122" name="TextBox 121"/>
          <p:cNvSpPr txBox="1"/>
          <p:nvPr/>
        </p:nvSpPr>
        <p:spPr>
          <a:xfrm>
            <a:off x="3703320" y="16376903"/>
            <a:ext cx="6812280" cy="603504"/>
          </a:xfrm>
          <a:prstGeom prst="rect">
            <a:avLst/>
          </a:prstGeom>
          <a:noFill/>
        </p:spPr>
        <p:txBody>
          <a:bodyPr wrap="square" anchor="ctr">
            <a:spAutoFit/>
          </a:bodyPr>
          <a:lstStyle/>
          <a:p>
            <a:pPr algn="l">
              <a:lnSpc>
                <a:spcPct val="95000"/>
              </a:lnSpc>
              <a:spcAft>
                <a:spcPts val="1000"/>
              </a:spcAft>
            </a:pPr>
            <a:r>
              <a:rPr sz="2400" b="0">
                <a:solidFill>
                  <a:srgbClr val="333333"/>
                </a:solidFill>
                <a:latin typeface="Arial"/>
              </a:rPr>
              <a:t>USFS Hazard Potential, 270 m</a:t>
            </a:r>
          </a:p>
        </p:txBody>
      </p:sp>
      <p:sp>
        <p:nvSpPr>
          <p:cNvPr id="123" name="Rectangle 122"/>
          <p:cNvSpPr/>
          <p:nvPr/>
        </p:nvSpPr>
        <p:spPr>
          <a:xfrm>
            <a:off x="548640" y="17144999"/>
            <a:ext cx="10149840" cy="713232"/>
          </a:xfrm>
          <a:prstGeom prst="rect">
            <a:avLst/>
          </a:prstGeom>
          <a:solidFill>
            <a:srgbClr val="E5E5E5"/>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685800" y="17199863"/>
            <a:ext cx="3017520" cy="603504"/>
          </a:xfrm>
          <a:prstGeom prst="rect">
            <a:avLst/>
          </a:prstGeom>
          <a:noFill/>
        </p:spPr>
        <p:txBody>
          <a:bodyPr wrap="square" anchor="ctr">
            <a:spAutoFit/>
          </a:bodyPr>
          <a:lstStyle/>
          <a:p>
            <a:pPr algn="l">
              <a:lnSpc>
                <a:spcPct val="95000"/>
              </a:lnSpc>
              <a:spcAft>
                <a:spcPts val="1000"/>
              </a:spcAft>
            </a:pPr>
            <a:r>
              <a:rPr sz="2600" b="1">
                <a:solidFill>
                  <a:srgbClr val="000000"/>
                </a:solidFill>
                <a:latin typeface="Arial"/>
              </a:rPr>
              <a:t>Flood</a:t>
            </a:r>
          </a:p>
        </p:txBody>
      </p:sp>
      <p:sp>
        <p:nvSpPr>
          <p:cNvPr id="125" name="TextBox 124"/>
          <p:cNvSpPr txBox="1"/>
          <p:nvPr/>
        </p:nvSpPr>
        <p:spPr>
          <a:xfrm>
            <a:off x="3703320" y="17199863"/>
            <a:ext cx="6812280" cy="603504"/>
          </a:xfrm>
          <a:prstGeom prst="rect">
            <a:avLst/>
          </a:prstGeom>
          <a:noFill/>
        </p:spPr>
        <p:txBody>
          <a:bodyPr wrap="square" anchor="ctr">
            <a:spAutoFit/>
          </a:bodyPr>
          <a:lstStyle/>
          <a:p>
            <a:pPr algn="l">
              <a:lnSpc>
                <a:spcPct val="95000"/>
              </a:lnSpc>
              <a:spcAft>
                <a:spcPts val="1000"/>
              </a:spcAft>
            </a:pPr>
            <a:r>
              <a:rPr sz="2400" b="0">
                <a:solidFill>
                  <a:srgbClr val="333333"/>
                </a:solidFill>
                <a:latin typeface="Arial"/>
              </a:rPr>
              <a:t>FEMA National Flood Hazard Layer</a:t>
            </a:r>
          </a:p>
        </p:txBody>
      </p:sp>
      <p:sp>
        <p:nvSpPr>
          <p:cNvPr id="126" name="Rectangle 125"/>
          <p:cNvSpPr/>
          <p:nvPr/>
        </p:nvSpPr>
        <p:spPr>
          <a:xfrm>
            <a:off x="548640" y="17967959"/>
            <a:ext cx="10149840" cy="713232"/>
          </a:xfrm>
          <a:prstGeom prst="rect">
            <a:avLst/>
          </a:prstGeom>
          <a:solidFill>
            <a:srgbClr val="E5E5E5"/>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685800" y="18022823"/>
            <a:ext cx="3017520" cy="603504"/>
          </a:xfrm>
          <a:prstGeom prst="rect">
            <a:avLst/>
          </a:prstGeom>
          <a:noFill/>
        </p:spPr>
        <p:txBody>
          <a:bodyPr wrap="square" anchor="ctr">
            <a:spAutoFit/>
          </a:bodyPr>
          <a:lstStyle/>
          <a:p>
            <a:pPr algn="l">
              <a:lnSpc>
                <a:spcPct val="95000"/>
              </a:lnSpc>
              <a:spcAft>
                <a:spcPts val="1000"/>
              </a:spcAft>
            </a:pPr>
            <a:r>
              <a:rPr sz="2600" b="1">
                <a:solidFill>
                  <a:srgbClr val="000000"/>
                </a:solidFill>
                <a:latin typeface="Arial"/>
              </a:rPr>
              <a:t>Water stress</a:t>
            </a:r>
          </a:p>
        </p:txBody>
      </p:sp>
      <p:sp>
        <p:nvSpPr>
          <p:cNvPr id="128" name="TextBox 127"/>
          <p:cNvSpPr txBox="1"/>
          <p:nvPr/>
        </p:nvSpPr>
        <p:spPr>
          <a:xfrm>
            <a:off x="3703320" y="18022823"/>
            <a:ext cx="6812280" cy="603504"/>
          </a:xfrm>
          <a:prstGeom prst="rect">
            <a:avLst/>
          </a:prstGeom>
          <a:noFill/>
        </p:spPr>
        <p:txBody>
          <a:bodyPr wrap="square" anchor="ctr">
            <a:spAutoFit/>
          </a:bodyPr>
          <a:lstStyle/>
          <a:p>
            <a:pPr algn="l">
              <a:lnSpc>
                <a:spcPct val="95000"/>
              </a:lnSpc>
              <a:spcAft>
                <a:spcPts val="1000"/>
              </a:spcAft>
            </a:pPr>
            <a:r>
              <a:rPr sz="2400" b="0">
                <a:solidFill>
                  <a:srgbClr val="333333"/>
                </a:solidFill>
                <a:latin typeface="Arial"/>
              </a:rPr>
              <a:t>WRI Aqueduct 4.0</a:t>
            </a:r>
          </a:p>
        </p:txBody>
      </p:sp>
      <p:sp>
        <p:nvSpPr>
          <p:cNvPr id="129" name="TextBox 128"/>
          <p:cNvSpPr txBox="1"/>
          <p:nvPr/>
        </p:nvSpPr>
        <p:spPr>
          <a:xfrm>
            <a:off x="457200" y="18882359"/>
            <a:ext cx="10332720" cy="3108960"/>
          </a:xfrm>
          <a:prstGeom prst="rect">
            <a:avLst/>
          </a:prstGeom>
          <a:noFill/>
        </p:spPr>
        <p:txBody>
          <a:bodyPr wrap="square" anchor="t">
            <a:spAutoFit/>
          </a:bodyPr>
          <a:lstStyle/>
          <a:p>
            <a:pPr algn="l">
              <a:lnSpc>
                <a:spcPct val="95000"/>
              </a:lnSpc>
              <a:spcAft>
                <a:spcPts val="1000"/>
              </a:spcAft>
            </a:pPr>
            <a:r>
              <a:rPr sz="2800" b="0">
                <a:solidFill>
                  <a:srgbClr val="000000"/>
                </a:solidFill>
                <a:latin typeface="Arial"/>
              </a:rPr>
              <a:t>Missing data is always recorded as unknown, never as zero. A facility counts as exposed if it sits within 2.4 km of land rated High or Very High for wildfire potential, inside a FEMA regulatory floodplain, or at peak ground acceleration of 0.30 g or more.</a:t>
            </a:r>
          </a:p>
        </p:txBody>
      </p:sp>
      <p:sp>
        <p:nvSpPr>
          <p:cNvPr id="130" name="Rectangle 129"/>
          <p:cNvSpPr/>
          <p:nvPr/>
        </p:nvSpPr>
        <p:spPr>
          <a:xfrm>
            <a:off x="457200" y="22128479"/>
            <a:ext cx="10332720" cy="2103120"/>
          </a:xfrm>
          <a:prstGeom prst="rect">
            <a:avLst/>
          </a:prstGeom>
          <a:solidFill>
            <a:srgbClr val="E5E5E5"/>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457200" y="22128479"/>
            <a:ext cx="128016" cy="2103120"/>
          </a:xfrm>
          <a:prstGeom prst="rect">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685800" y="22183343"/>
            <a:ext cx="9921240" cy="1993392"/>
          </a:xfrm>
          <a:prstGeom prst="rect">
            <a:avLst/>
          </a:prstGeom>
          <a:noFill/>
        </p:spPr>
        <p:txBody>
          <a:bodyPr wrap="square" anchor="t">
            <a:spAutoFit/>
          </a:bodyPr>
          <a:lstStyle/>
          <a:p>
            <a:pPr algn="l">
              <a:lnSpc>
                <a:spcPct val="95000"/>
              </a:lnSpc>
              <a:spcAft>
                <a:spcPts val="1000"/>
              </a:spcAft>
            </a:pPr>
            <a:r>
              <a:rPr sz="2000" b="0">
                <a:solidFill>
                  <a:srgbClr val="000000"/>
                </a:solidFill>
                <a:latin typeface="Arial"/>
              </a:rPr>
              <a:t>Bounds on these results</a:t>
            </a:r>
          </a:p>
          <a:p>
            <a:pPr algn="l">
              <a:lnSpc>
                <a:spcPct val="95000"/>
              </a:lnSpc>
              <a:spcAft>
                <a:spcPts val="1000"/>
              </a:spcAft>
            </a:pPr>
            <a:r>
              <a:rPr sz="2000" b="0">
                <a:solidFill>
                  <a:srgbClr val="000000"/>
                </a:solidFill>
                <a:latin typeface="Arial"/>
              </a:rPr>
              <a:t>•  Hail and wind rates track observer density (+0.39, +0.34 within state) and are excluded from every result shown.</a:t>
            </a:r>
          </a:p>
          <a:p>
            <a:pPr algn="l">
              <a:lnSpc>
                <a:spcPct val="95000"/>
              </a:lnSpc>
              <a:spcAft>
                <a:spcPts val="1000"/>
              </a:spcAft>
            </a:pPr>
            <a:r>
              <a:rPr sz="2000" b="0">
                <a:solidFill>
                  <a:srgbClr val="000000"/>
                </a:solidFill>
                <a:latin typeface="Arial"/>
              </a:rPr>
              <a:t>•  Power capacity is unrecorded for all 2,696, so every statistic is a facility count, not capacity.</a:t>
            </a:r>
          </a:p>
          <a:p>
            <a:pPr algn="l">
              <a:lnSpc>
                <a:spcPct val="95000"/>
              </a:lnSpc>
              <a:spcAft>
                <a:spcPts val="1000"/>
              </a:spcAft>
            </a:pPr>
            <a:r>
              <a:rPr sz="2000" b="0">
                <a:solidFill>
                  <a:srgbClr val="000000"/>
                </a:solidFill>
                <a:latin typeface="Arial"/>
              </a:rPr>
              <a:t>•  234 coordinates match a building only beyond 200 m. Under 500-draw positional error, 2,067 facilities never change class.</a:t>
            </a:r>
          </a:p>
        </p:txBody>
      </p:sp>
      <p:sp>
        <p:nvSpPr>
          <p:cNvPr id="133" name="Rectangle 132"/>
          <p:cNvSpPr/>
          <p:nvPr/>
        </p:nvSpPr>
        <p:spPr>
          <a:xfrm>
            <a:off x="11292840" y="4526280"/>
            <a:ext cx="10332720" cy="868680"/>
          </a:xfrm>
          <a:prstGeom prst="rect">
            <a:avLst/>
          </a:prstGeom>
          <a:solidFill>
            <a:srgbClr val="006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11475719" y="4581144"/>
            <a:ext cx="10058400" cy="777240"/>
          </a:xfrm>
          <a:prstGeom prst="rect">
            <a:avLst/>
          </a:prstGeom>
          <a:noFill/>
        </p:spPr>
        <p:txBody>
          <a:bodyPr wrap="square" anchor="ctr">
            <a:spAutoFit/>
          </a:bodyPr>
          <a:lstStyle/>
          <a:p>
            <a:pPr algn="l">
              <a:lnSpc>
                <a:spcPct val="95000"/>
              </a:lnSpc>
              <a:spcAft>
                <a:spcPts val="1000"/>
              </a:spcAft>
            </a:pPr>
            <a:r>
              <a:rPr sz="4400" b="1">
                <a:solidFill>
                  <a:srgbClr val="FFFFFF"/>
                </a:solidFill>
                <a:latin typeface="Arial"/>
              </a:rPr>
              <a:t>Results</a:t>
            </a:r>
          </a:p>
        </p:txBody>
      </p:sp>
      <p:sp>
        <p:nvSpPr>
          <p:cNvPr id="135" name="TextBox 134"/>
          <p:cNvSpPr txBox="1"/>
          <p:nvPr/>
        </p:nvSpPr>
        <p:spPr>
          <a:xfrm>
            <a:off x="11338560" y="5486400"/>
            <a:ext cx="2514600" cy="777240"/>
          </a:xfrm>
          <a:prstGeom prst="rect">
            <a:avLst/>
          </a:prstGeom>
          <a:noFill/>
        </p:spPr>
        <p:txBody>
          <a:bodyPr wrap="square" anchor="t">
            <a:spAutoFit/>
          </a:bodyPr>
          <a:lstStyle/>
          <a:p>
            <a:pPr algn="ctr">
              <a:lnSpc>
                <a:spcPct val="95000"/>
              </a:lnSpc>
              <a:spcAft>
                <a:spcPts val="1000"/>
              </a:spcAft>
            </a:pPr>
            <a:r>
              <a:rPr sz="5400" b="1">
                <a:solidFill>
                  <a:srgbClr val="006600"/>
                </a:solidFill>
                <a:latin typeface="Arial"/>
              </a:rPr>
              <a:t>2,696</a:t>
            </a:r>
          </a:p>
        </p:txBody>
      </p:sp>
      <p:sp>
        <p:nvSpPr>
          <p:cNvPr id="136" name="TextBox 135"/>
          <p:cNvSpPr txBox="1"/>
          <p:nvPr/>
        </p:nvSpPr>
        <p:spPr>
          <a:xfrm>
            <a:off x="11338560" y="6236208"/>
            <a:ext cx="2514600" cy="685800"/>
          </a:xfrm>
          <a:prstGeom prst="rect">
            <a:avLst/>
          </a:prstGeom>
          <a:noFill/>
        </p:spPr>
        <p:txBody>
          <a:bodyPr wrap="square" anchor="t">
            <a:spAutoFit/>
          </a:bodyPr>
          <a:lstStyle/>
          <a:p>
            <a:pPr algn="ctr">
              <a:lnSpc>
                <a:spcPct val="95000"/>
              </a:lnSpc>
              <a:spcAft>
                <a:spcPts val="1000"/>
              </a:spcAft>
            </a:pPr>
            <a:r>
              <a:rPr sz="1900" b="0">
                <a:solidFill>
                  <a:srgbClr val="444444"/>
                </a:solidFill>
                <a:latin typeface="Arial"/>
              </a:rPr>
              <a:t>facilities mapped</a:t>
            </a:r>
          </a:p>
        </p:txBody>
      </p:sp>
      <p:sp>
        <p:nvSpPr>
          <p:cNvPr id="137" name="TextBox 136"/>
          <p:cNvSpPr txBox="1"/>
          <p:nvPr/>
        </p:nvSpPr>
        <p:spPr>
          <a:xfrm>
            <a:off x="13898880" y="5486400"/>
            <a:ext cx="2514600" cy="777240"/>
          </a:xfrm>
          <a:prstGeom prst="rect">
            <a:avLst/>
          </a:prstGeom>
          <a:noFill/>
        </p:spPr>
        <p:txBody>
          <a:bodyPr wrap="square" anchor="t">
            <a:spAutoFit/>
          </a:bodyPr>
          <a:lstStyle/>
          <a:p>
            <a:pPr algn="ctr">
              <a:lnSpc>
                <a:spcPct val="95000"/>
              </a:lnSpc>
              <a:spcAft>
                <a:spcPts val="1000"/>
              </a:spcAft>
            </a:pPr>
            <a:r>
              <a:rPr sz="5400" b="1">
                <a:solidFill>
                  <a:srgbClr val="006600"/>
                </a:solidFill>
                <a:latin typeface="Arial"/>
              </a:rPr>
              <a:t>1,681</a:t>
            </a:r>
          </a:p>
        </p:txBody>
      </p:sp>
      <p:sp>
        <p:nvSpPr>
          <p:cNvPr id="138" name="TextBox 137"/>
          <p:cNvSpPr txBox="1"/>
          <p:nvPr/>
        </p:nvSpPr>
        <p:spPr>
          <a:xfrm>
            <a:off x="13898880" y="6236208"/>
            <a:ext cx="2514600" cy="685800"/>
          </a:xfrm>
          <a:prstGeom prst="rect">
            <a:avLst/>
          </a:prstGeom>
          <a:noFill/>
        </p:spPr>
        <p:txBody>
          <a:bodyPr wrap="square" anchor="t">
            <a:spAutoFit/>
          </a:bodyPr>
          <a:lstStyle/>
          <a:p>
            <a:pPr algn="ctr">
              <a:lnSpc>
                <a:spcPct val="95000"/>
              </a:lnSpc>
              <a:spcAft>
                <a:spcPts val="1000"/>
              </a:spcAft>
            </a:pPr>
            <a:r>
              <a:rPr sz="1900" b="0">
                <a:solidFill>
                  <a:srgbClr val="444444"/>
                </a:solidFill>
                <a:latin typeface="Arial"/>
              </a:rPr>
              <a:t>on a building footprint</a:t>
            </a:r>
          </a:p>
        </p:txBody>
      </p:sp>
      <p:sp>
        <p:nvSpPr>
          <p:cNvPr id="139" name="TextBox 138"/>
          <p:cNvSpPr txBox="1"/>
          <p:nvPr/>
        </p:nvSpPr>
        <p:spPr>
          <a:xfrm>
            <a:off x="16459200" y="5486400"/>
            <a:ext cx="2514600" cy="777240"/>
          </a:xfrm>
          <a:prstGeom prst="rect">
            <a:avLst/>
          </a:prstGeom>
          <a:noFill/>
        </p:spPr>
        <p:txBody>
          <a:bodyPr wrap="square" anchor="t">
            <a:spAutoFit/>
          </a:bodyPr>
          <a:lstStyle/>
          <a:p>
            <a:pPr algn="ctr">
              <a:lnSpc>
                <a:spcPct val="95000"/>
              </a:lnSpc>
              <a:spcAft>
                <a:spcPts val="1000"/>
              </a:spcAft>
            </a:pPr>
            <a:r>
              <a:rPr sz="5400" b="1">
                <a:solidFill>
                  <a:srgbClr val="006600"/>
                </a:solidFill>
                <a:latin typeface="Arial"/>
              </a:rPr>
              <a:t>35%</a:t>
            </a:r>
          </a:p>
        </p:txBody>
      </p:sp>
      <p:sp>
        <p:nvSpPr>
          <p:cNvPr id="140" name="TextBox 139"/>
          <p:cNvSpPr txBox="1"/>
          <p:nvPr/>
        </p:nvSpPr>
        <p:spPr>
          <a:xfrm>
            <a:off x="16459200" y="6236208"/>
            <a:ext cx="2514600" cy="685800"/>
          </a:xfrm>
          <a:prstGeom prst="rect">
            <a:avLst/>
          </a:prstGeom>
          <a:noFill/>
        </p:spPr>
        <p:txBody>
          <a:bodyPr wrap="square" anchor="t">
            <a:spAutoFit/>
          </a:bodyPr>
          <a:lstStyle/>
          <a:p>
            <a:pPr algn="ctr">
              <a:lnSpc>
                <a:spcPct val="95000"/>
              </a:lnSpc>
              <a:spcAft>
                <a:spcPts val="1000"/>
              </a:spcAft>
            </a:pPr>
            <a:r>
              <a:rPr sz="1900" b="0">
                <a:solidFill>
                  <a:srgbClr val="444444"/>
                </a:solidFill>
                <a:latin typeface="Arial"/>
              </a:rPr>
              <a:t>face a mapped hazard</a:t>
            </a:r>
          </a:p>
        </p:txBody>
      </p:sp>
      <p:sp>
        <p:nvSpPr>
          <p:cNvPr id="141" name="TextBox 140"/>
          <p:cNvSpPr txBox="1"/>
          <p:nvPr/>
        </p:nvSpPr>
        <p:spPr>
          <a:xfrm>
            <a:off x="19019519" y="5486400"/>
            <a:ext cx="2514600" cy="777240"/>
          </a:xfrm>
          <a:prstGeom prst="rect">
            <a:avLst/>
          </a:prstGeom>
          <a:noFill/>
        </p:spPr>
        <p:txBody>
          <a:bodyPr wrap="square" anchor="t">
            <a:spAutoFit/>
          </a:bodyPr>
          <a:lstStyle/>
          <a:p>
            <a:pPr algn="ctr">
              <a:lnSpc>
                <a:spcPct val="95000"/>
              </a:lnSpc>
              <a:spcAft>
                <a:spcPts val="1000"/>
              </a:spcAft>
            </a:pPr>
            <a:r>
              <a:rPr sz="5400" b="1">
                <a:solidFill>
                  <a:srgbClr val="006600"/>
                </a:solidFill>
                <a:latin typeface="Arial"/>
              </a:rPr>
              <a:t>0.7%</a:t>
            </a:r>
          </a:p>
        </p:txBody>
      </p:sp>
      <p:sp>
        <p:nvSpPr>
          <p:cNvPr id="142" name="TextBox 141"/>
          <p:cNvSpPr txBox="1"/>
          <p:nvPr/>
        </p:nvSpPr>
        <p:spPr>
          <a:xfrm>
            <a:off x="19019519" y="6236208"/>
            <a:ext cx="2514600" cy="685800"/>
          </a:xfrm>
          <a:prstGeom prst="rect">
            <a:avLst/>
          </a:prstGeom>
          <a:noFill/>
        </p:spPr>
        <p:txBody>
          <a:bodyPr wrap="square" anchor="t">
            <a:spAutoFit/>
          </a:bodyPr>
          <a:lstStyle/>
          <a:p>
            <a:pPr algn="ctr">
              <a:lnSpc>
                <a:spcPct val="95000"/>
              </a:lnSpc>
              <a:spcAft>
                <a:spcPts val="1000"/>
              </a:spcAft>
            </a:pPr>
            <a:r>
              <a:rPr sz="1900" b="0">
                <a:solidFill>
                  <a:srgbClr val="444444"/>
                </a:solidFill>
                <a:latin typeface="Arial"/>
              </a:rPr>
              <a:t>of Virginia's 409</a:t>
            </a:r>
          </a:p>
        </p:txBody>
      </p:sp>
      <p:sp>
        <p:nvSpPr>
          <p:cNvPr id="143" name="TextBox 142"/>
          <p:cNvSpPr txBox="1"/>
          <p:nvPr/>
        </p:nvSpPr>
        <p:spPr>
          <a:xfrm>
            <a:off x="11292840" y="7040880"/>
            <a:ext cx="10332720" cy="1097280"/>
          </a:xfrm>
          <a:prstGeom prst="rect">
            <a:avLst/>
          </a:prstGeom>
          <a:noFill/>
        </p:spPr>
        <p:txBody>
          <a:bodyPr wrap="square" anchor="t">
            <a:spAutoFit/>
          </a:bodyPr>
          <a:lstStyle/>
          <a:p>
            <a:pPr algn="l">
              <a:lnSpc>
                <a:spcPct val="95000"/>
              </a:lnSpc>
              <a:spcAft>
                <a:spcPts val="1000"/>
              </a:spcAft>
            </a:pPr>
            <a:r>
              <a:rPr sz="3100" b="1">
                <a:solidFill>
                  <a:srgbClr val="000000"/>
                </a:solidFill>
                <a:latin typeface="Arial"/>
              </a:rPr>
              <a:t>Hazard exposure is bimodal. It is decided by which cluster a facility sits in, not by anything about data centers.</a:t>
            </a:r>
          </a:p>
        </p:txBody>
      </p:sp>
      <p:pic>
        <p:nvPicPr>
          <p:cNvPr id="144" name="Picture 143" descr="fig1_map.png"/>
          <p:cNvPicPr>
            <a:picLocks noChangeAspect="1"/>
          </p:cNvPicPr>
          <p:nvPr/>
        </p:nvPicPr>
        <p:blipFill>
          <a:blip r:embed="rId5"/>
          <a:stretch>
            <a:fillRect/>
          </a:stretch>
        </p:blipFill>
        <p:spPr>
          <a:xfrm>
            <a:off x="11292840" y="8229600"/>
            <a:ext cx="10332720" cy="4307742"/>
          </a:xfrm>
          <a:prstGeom prst="rect">
            <a:avLst/>
          </a:prstGeom>
        </p:spPr>
      </p:pic>
      <p:sp>
        <p:nvSpPr>
          <p:cNvPr id="145" name="TextBox 144"/>
          <p:cNvSpPr txBox="1"/>
          <p:nvPr/>
        </p:nvSpPr>
        <p:spPr>
          <a:xfrm>
            <a:off x="11292840" y="12673584"/>
            <a:ext cx="10332720" cy="960120"/>
          </a:xfrm>
          <a:prstGeom prst="rect">
            <a:avLst/>
          </a:prstGeom>
          <a:noFill/>
        </p:spPr>
        <p:txBody>
          <a:bodyPr wrap="square" anchor="t">
            <a:spAutoFit/>
          </a:bodyPr>
          <a:lstStyle/>
          <a:p>
            <a:pPr algn="l">
              <a:lnSpc>
                <a:spcPct val="95000"/>
              </a:lnSpc>
              <a:spcAft>
                <a:spcPts val="1000"/>
              </a:spcAft>
            </a:pPr>
            <a:r>
              <a:rPr sz="2400" b="1">
                <a:solidFill>
                  <a:srgbClr val="000000"/>
                </a:solidFill>
                <a:latin typeface="Arial"/>
              </a:rPr>
              <a:t>Fig 1. Two thirds of US data centers face no mapped hazard. Exposure is regional, not universal.</a:t>
            </a:r>
          </a:p>
        </p:txBody>
      </p:sp>
      <p:sp>
        <p:nvSpPr>
          <p:cNvPr id="146" name="TextBox 145"/>
          <p:cNvSpPr txBox="1"/>
          <p:nvPr/>
        </p:nvSpPr>
        <p:spPr>
          <a:xfrm>
            <a:off x="11292840" y="13679424"/>
            <a:ext cx="10332720" cy="3840480"/>
          </a:xfrm>
          <a:prstGeom prst="rect">
            <a:avLst/>
          </a:prstGeom>
          <a:noFill/>
        </p:spPr>
        <p:txBody>
          <a:bodyPr wrap="square" anchor="t">
            <a:spAutoFit/>
          </a:bodyPr>
          <a:lstStyle/>
          <a:p>
            <a:pPr algn="l">
              <a:lnSpc>
                <a:spcPct val="95000"/>
              </a:lnSpc>
              <a:spcAft>
                <a:spcPts val="1000"/>
              </a:spcAft>
            </a:pPr>
            <a:r>
              <a:rPr sz="2800" b="0">
                <a:solidFill>
                  <a:srgbClr val="000000"/>
                </a:solidFill>
                <a:latin typeface="Arial"/>
              </a:rPr>
              <a:t>Of 2,696 facilities, 1,742 face no mapped hazard and 205 face two or more. Eighteen states holding half the national fleet sit below 10% exposed, while ten states holding a third sit above 60%. Almost nothing falls in between.</a:t>
            </a:r>
          </a:p>
          <a:p>
            <a:pPr algn="l">
              <a:lnSpc>
                <a:spcPct val="95000"/>
              </a:lnSpc>
              <a:spcAft>
                <a:spcPts val="1000"/>
              </a:spcAft>
            </a:pPr>
            <a:r>
              <a:rPr sz="2800" b="0">
                <a:solidFill>
                  <a:srgbClr val="000000"/>
                </a:solidFill>
                <a:latin typeface="Arial"/>
              </a:rPr>
              <a:t/>
            </a:r>
          </a:p>
          <a:p>
            <a:pPr algn="l">
              <a:lnSpc>
                <a:spcPct val="95000"/>
              </a:lnSpc>
              <a:spcAft>
                <a:spcPts val="1000"/>
              </a:spcAft>
            </a:pPr>
            <a:r>
              <a:rPr sz="2800" b="0">
                <a:solidFill>
                  <a:srgbClr val="000000"/>
                </a:solidFill>
                <a:latin typeface="Arial"/>
              </a:rPr>
              <a:t>Virginia, the largest concentration on Earth with 409 facilities, is 0.7% exposed. California and New Jersey are 100%.</a:t>
            </a:r>
          </a:p>
          <a:p>
            <a:pPr algn="l">
              <a:lnSpc>
                <a:spcPct val="95000"/>
              </a:lnSpc>
              <a:spcAft>
                <a:spcPts val="1000"/>
              </a:spcAft>
            </a:pPr>
            <a:r>
              <a:rPr sz="2800" b="0">
                <a:solidFill>
                  <a:srgbClr val="000000"/>
                </a:solidFill>
                <a:latin typeface="Arial"/>
              </a:rPr>
              <a:t/>
            </a:r>
          </a:p>
          <a:p>
            <a:pPr algn="l">
              <a:lnSpc>
                <a:spcPct val="95000"/>
              </a:lnSpc>
              <a:spcAft>
                <a:spcPts val="1000"/>
              </a:spcAft>
            </a:pPr>
            <a:r>
              <a:rPr sz="2800" b="0">
                <a:solidFill>
                  <a:srgbClr val="000000"/>
                </a:solidFill>
                <a:latin typeface="Arial"/>
              </a:rPr>
              <a:t>Water stress is the exception that does reach Virginia: 952 facilities nationally sit in high or extremely-high stress basins, a binding constraint for evaporative cooling.</a:t>
            </a:r>
          </a:p>
        </p:txBody>
      </p:sp>
      <p:pic>
        <p:nvPicPr>
          <p:cNvPr id="147" name="Picture 146" descr="fig2_states.png"/>
          <p:cNvPicPr>
            <a:picLocks noChangeAspect="1"/>
          </p:cNvPicPr>
          <p:nvPr/>
        </p:nvPicPr>
        <p:blipFill>
          <a:blip r:embed="rId6"/>
          <a:stretch>
            <a:fillRect/>
          </a:stretch>
        </p:blipFill>
        <p:spPr>
          <a:xfrm>
            <a:off x="11292840" y="17611344"/>
            <a:ext cx="10332720" cy="5491236"/>
          </a:xfrm>
          <a:prstGeom prst="rect">
            <a:avLst/>
          </a:prstGeom>
        </p:spPr>
      </p:pic>
      <p:sp>
        <p:nvSpPr>
          <p:cNvPr id="148" name="TextBox 147"/>
          <p:cNvSpPr txBox="1"/>
          <p:nvPr/>
        </p:nvSpPr>
        <p:spPr>
          <a:xfrm>
            <a:off x="11292840" y="23244048"/>
            <a:ext cx="10332720" cy="868680"/>
          </a:xfrm>
          <a:prstGeom prst="rect">
            <a:avLst/>
          </a:prstGeom>
          <a:noFill/>
        </p:spPr>
        <p:txBody>
          <a:bodyPr wrap="square" anchor="t">
            <a:spAutoFit/>
          </a:bodyPr>
          <a:lstStyle/>
          <a:p>
            <a:pPr algn="l">
              <a:lnSpc>
                <a:spcPct val="95000"/>
              </a:lnSpc>
              <a:spcAft>
                <a:spcPts val="1000"/>
              </a:spcAft>
            </a:pPr>
            <a:r>
              <a:rPr sz="2400" b="1">
                <a:solidFill>
                  <a:srgbClr val="000000"/>
                </a:solidFill>
                <a:latin typeface="Arial"/>
              </a:rPr>
              <a:t>Fig 2. States split into two groups with almost nothing between them.</a:t>
            </a:r>
          </a:p>
        </p:txBody>
      </p:sp>
      <p:sp>
        <p:nvSpPr>
          <p:cNvPr id="149" name="Rectangle 148"/>
          <p:cNvSpPr/>
          <p:nvPr/>
        </p:nvSpPr>
        <p:spPr>
          <a:xfrm>
            <a:off x="22128480" y="4526280"/>
            <a:ext cx="10332720" cy="868680"/>
          </a:xfrm>
          <a:prstGeom prst="rect">
            <a:avLst/>
          </a:prstGeom>
          <a:solidFill>
            <a:srgbClr val="006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TextBox 149"/>
          <p:cNvSpPr txBox="1"/>
          <p:nvPr/>
        </p:nvSpPr>
        <p:spPr>
          <a:xfrm>
            <a:off x="22311360" y="4581144"/>
            <a:ext cx="10058400" cy="777240"/>
          </a:xfrm>
          <a:prstGeom prst="rect">
            <a:avLst/>
          </a:prstGeom>
          <a:noFill/>
        </p:spPr>
        <p:txBody>
          <a:bodyPr wrap="square" anchor="ctr">
            <a:spAutoFit/>
          </a:bodyPr>
          <a:lstStyle/>
          <a:p>
            <a:pPr algn="l">
              <a:lnSpc>
                <a:spcPct val="95000"/>
              </a:lnSpc>
              <a:spcAft>
                <a:spcPts val="1000"/>
              </a:spcAft>
            </a:pPr>
            <a:r>
              <a:rPr sz="4400" b="1">
                <a:solidFill>
                  <a:srgbClr val="FFFFFF"/>
                </a:solidFill>
                <a:latin typeface="Arial"/>
              </a:rPr>
              <a:t>Conclusions</a:t>
            </a:r>
          </a:p>
        </p:txBody>
      </p:sp>
      <p:sp>
        <p:nvSpPr>
          <p:cNvPr id="151" name="TextBox 150"/>
          <p:cNvSpPr txBox="1"/>
          <p:nvPr/>
        </p:nvSpPr>
        <p:spPr>
          <a:xfrm>
            <a:off x="22128480" y="5486400"/>
            <a:ext cx="10332720" cy="3977639"/>
          </a:xfrm>
          <a:prstGeom prst="rect">
            <a:avLst/>
          </a:prstGeom>
          <a:noFill/>
        </p:spPr>
        <p:txBody>
          <a:bodyPr wrap="square" anchor="t">
            <a:spAutoFit/>
          </a:bodyPr>
          <a:lstStyle/>
          <a:p>
            <a:pPr algn="l">
              <a:lnSpc>
                <a:spcPct val="95000"/>
              </a:lnSpc>
              <a:spcAft>
                <a:spcPts val="1000"/>
              </a:spcAft>
            </a:pPr>
            <a:r>
              <a:rPr sz="2700" b="0">
                <a:solidFill>
                  <a:srgbClr val="000000"/>
                </a:solidFill>
                <a:latin typeface="Arial"/>
              </a:rPr>
              <a:t>•  A national average describes no real facility. Exposure is concentrated in a nameable minority of places.</a:t>
            </a:r>
          </a:p>
          <a:p>
            <a:pPr algn="l">
              <a:lnSpc>
                <a:spcPct val="95000"/>
              </a:lnSpc>
              <a:spcAft>
                <a:spcPts val="1000"/>
              </a:spcAft>
            </a:pPr>
            <a:r>
              <a:rPr sz="2700" b="0">
                <a:solidFill>
                  <a:srgbClr val="000000"/>
                </a:solidFill>
                <a:latin typeface="Arial"/>
              </a:rPr>
              <a:t/>
            </a:r>
          </a:p>
          <a:p>
            <a:pPr algn="l">
              <a:lnSpc>
                <a:spcPct val="95000"/>
              </a:lnSpc>
              <a:spcAft>
                <a:spcPts val="1000"/>
              </a:spcAft>
            </a:pPr>
            <a:r>
              <a:rPr sz="2700" b="0">
                <a:solidFill>
                  <a:srgbClr val="000000"/>
                </a:solidFill>
                <a:latin typeface="Arial"/>
              </a:rPr>
              <a:t>•  The industry has clustered in the low-exposure half of the country. That is a finding about siting.</a:t>
            </a:r>
          </a:p>
          <a:p>
            <a:pPr algn="l">
              <a:lnSpc>
                <a:spcPct val="95000"/>
              </a:lnSpc>
              <a:spcAft>
                <a:spcPts val="1000"/>
              </a:spcAft>
            </a:pPr>
            <a:r>
              <a:rPr sz="2700" b="0">
                <a:solidFill>
                  <a:srgbClr val="000000"/>
                </a:solidFill>
                <a:latin typeface="Arial"/>
              </a:rPr>
              <a:t/>
            </a:r>
          </a:p>
          <a:p>
            <a:pPr algn="l">
              <a:lnSpc>
                <a:spcPct val="95000"/>
              </a:lnSpc>
              <a:spcAft>
                <a:spcPts val="1000"/>
              </a:spcAft>
            </a:pPr>
            <a:r>
              <a:rPr sz="2700" b="0">
                <a:solidFill>
                  <a:srgbClr val="000000"/>
                </a:solidFill>
                <a:latin typeface="Arial"/>
              </a:rPr>
              <a:t>•  Building height belongs in the vulnerability term, not the exposure term.</a:t>
            </a:r>
          </a:p>
          <a:p>
            <a:pPr algn="l">
              <a:lnSpc>
                <a:spcPct val="95000"/>
              </a:lnSpc>
              <a:spcAft>
                <a:spcPts val="1000"/>
              </a:spcAft>
            </a:pPr>
            <a:r>
              <a:rPr sz="2700" b="0">
                <a:solidFill>
                  <a:srgbClr val="000000"/>
                </a:solidFill>
                <a:latin typeface="Arial"/>
              </a:rPr>
              <a:t/>
            </a:r>
          </a:p>
          <a:p>
            <a:pPr algn="l">
              <a:lnSpc>
                <a:spcPct val="95000"/>
              </a:lnSpc>
              <a:spcAft>
                <a:spcPts val="1000"/>
              </a:spcAft>
            </a:pPr>
            <a:r>
              <a:rPr sz="2700" b="0">
                <a:solidFill>
                  <a:srgbClr val="000000"/>
                </a:solidFill>
                <a:latin typeface="Arial"/>
              </a:rPr>
              <a:t>•  Next: fragility curves for server and cooling equipment, to turn exposure into estimated loss.</a:t>
            </a:r>
          </a:p>
        </p:txBody>
      </p:sp>
      <p:sp>
        <p:nvSpPr>
          <p:cNvPr id="152" name="Rectangle 151"/>
          <p:cNvSpPr/>
          <p:nvPr/>
        </p:nvSpPr>
        <p:spPr>
          <a:xfrm>
            <a:off x="22128480" y="9555480"/>
            <a:ext cx="10332720" cy="2240280"/>
          </a:xfrm>
          <a:prstGeom prst="rect">
            <a:avLst/>
          </a:prstGeom>
          <a:solidFill>
            <a:srgbClr val="E5E5E5"/>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Rectangle 152"/>
          <p:cNvSpPr/>
          <p:nvPr/>
        </p:nvSpPr>
        <p:spPr>
          <a:xfrm>
            <a:off x="22128480" y="9555480"/>
            <a:ext cx="128016" cy="2240280"/>
          </a:xfrm>
          <a:prstGeom prst="rect">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TextBox 153"/>
          <p:cNvSpPr txBox="1"/>
          <p:nvPr/>
        </p:nvSpPr>
        <p:spPr>
          <a:xfrm>
            <a:off x="22357080" y="9628632"/>
            <a:ext cx="9921240" cy="2093976"/>
          </a:xfrm>
          <a:prstGeom prst="rect">
            <a:avLst/>
          </a:prstGeom>
          <a:noFill/>
        </p:spPr>
        <p:txBody>
          <a:bodyPr wrap="square" anchor="t">
            <a:spAutoFit/>
          </a:bodyPr>
          <a:lstStyle/>
          <a:p>
            <a:pPr algn="l">
              <a:lnSpc>
                <a:spcPct val="95000"/>
              </a:lnSpc>
              <a:spcAft>
                <a:spcPts val="1000"/>
              </a:spcAft>
            </a:pPr>
            <a:r>
              <a:rPr sz="2300" b="0">
                <a:solidFill>
                  <a:srgbClr val="000000"/>
                </a:solidFill>
                <a:latin typeface="Arial"/>
              </a:rPr>
              <a:t>Two things we expected and did not find</a:t>
            </a:r>
          </a:p>
          <a:p>
            <a:pPr algn="l">
              <a:lnSpc>
                <a:spcPct val="95000"/>
              </a:lnSpc>
              <a:spcAft>
                <a:spcPts val="1000"/>
              </a:spcAft>
            </a:pPr>
            <a:r>
              <a:rPr sz="2300" b="0">
                <a:solidFill>
                  <a:srgbClr val="000000"/>
                </a:solidFill>
                <a:latin typeface="Arial"/>
              </a:rPr>
              <a:t>Measuring hazard across the whole building footprint instead of one point changed the answer for only 8.9% of facilities. Building height showed no association with exposure once state was controlled, with a median difference of exactly 0.0 across 23 states.</a:t>
            </a:r>
          </a:p>
        </p:txBody>
      </p:sp>
      <p:pic>
        <p:nvPicPr>
          <p:cNvPr id="155" name="Picture 154" descr="fig3_confidence.png"/>
          <p:cNvPicPr>
            <a:picLocks noChangeAspect="1"/>
          </p:cNvPicPr>
          <p:nvPr/>
        </p:nvPicPr>
        <p:blipFill>
          <a:blip r:embed="rId7"/>
          <a:stretch>
            <a:fillRect/>
          </a:stretch>
        </p:blipFill>
        <p:spPr>
          <a:xfrm>
            <a:off x="22128480" y="11932919"/>
            <a:ext cx="10332720" cy="3880657"/>
          </a:xfrm>
          <a:prstGeom prst="rect">
            <a:avLst/>
          </a:prstGeom>
        </p:spPr>
      </p:pic>
      <p:sp>
        <p:nvSpPr>
          <p:cNvPr id="156" name="TextBox 155"/>
          <p:cNvSpPr txBox="1"/>
          <p:nvPr/>
        </p:nvSpPr>
        <p:spPr>
          <a:xfrm>
            <a:off x="22128480" y="15919704"/>
            <a:ext cx="10332720" cy="960120"/>
          </a:xfrm>
          <a:prstGeom prst="rect">
            <a:avLst/>
          </a:prstGeom>
          <a:noFill/>
        </p:spPr>
        <p:txBody>
          <a:bodyPr wrap="square" anchor="t">
            <a:spAutoFit/>
          </a:bodyPr>
          <a:lstStyle/>
          <a:p>
            <a:pPr algn="l">
              <a:lnSpc>
                <a:spcPct val="95000"/>
              </a:lnSpc>
              <a:spcAft>
                <a:spcPts val="1000"/>
              </a:spcAft>
            </a:pPr>
            <a:r>
              <a:rPr sz="2400" b="1">
                <a:solidFill>
                  <a:srgbClr val="000000"/>
                </a:solidFill>
                <a:latin typeface="Arial"/>
              </a:rPr>
              <a:t>Fig 3. Coordinate quality was measured, not assumed. Results stay stable under realistic positional error.</a:t>
            </a:r>
          </a:p>
        </p:txBody>
      </p:sp>
      <p:sp>
        <p:nvSpPr>
          <p:cNvPr id="157" name="Rectangle 156"/>
          <p:cNvSpPr/>
          <p:nvPr/>
        </p:nvSpPr>
        <p:spPr>
          <a:xfrm>
            <a:off x="22128480" y="16971264"/>
            <a:ext cx="10332720" cy="868680"/>
          </a:xfrm>
          <a:prstGeom prst="rect">
            <a:avLst/>
          </a:prstGeom>
          <a:solidFill>
            <a:srgbClr val="006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TextBox 157"/>
          <p:cNvSpPr txBox="1"/>
          <p:nvPr/>
        </p:nvSpPr>
        <p:spPr>
          <a:xfrm>
            <a:off x="22311360" y="17026127"/>
            <a:ext cx="10058400" cy="777240"/>
          </a:xfrm>
          <a:prstGeom prst="rect">
            <a:avLst/>
          </a:prstGeom>
          <a:noFill/>
        </p:spPr>
        <p:txBody>
          <a:bodyPr wrap="square" anchor="ctr">
            <a:spAutoFit/>
          </a:bodyPr>
          <a:lstStyle/>
          <a:p>
            <a:pPr algn="l">
              <a:lnSpc>
                <a:spcPct val="95000"/>
              </a:lnSpc>
              <a:spcAft>
                <a:spcPts val="1000"/>
              </a:spcAft>
            </a:pPr>
            <a:r>
              <a:rPr sz="4400" b="1">
                <a:solidFill>
                  <a:srgbClr val="FFFFFF"/>
                </a:solidFill>
                <a:latin typeface="Arial"/>
              </a:rPr>
              <a:t>Major Citations</a:t>
            </a:r>
          </a:p>
        </p:txBody>
      </p:sp>
      <p:sp>
        <p:nvSpPr>
          <p:cNvPr id="159" name="TextBox 158"/>
          <p:cNvSpPr txBox="1"/>
          <p:nvPr/>
        </p:nvSpPr>
        <p:spPr>
          <a:xfrm>
            <a:off x="22128480" y="17931384"/>
            <a:ext cx="10332720" cy="2331720"/>
          </a:xfrm>
          <a:prstGeom prst="rect">
            <a:avLst/>
          </a:prstGeom>
          <a:noFill/>
        </p:spPr>
        <p:txBody>
          <a:bodyPr wrap="square" anchor="t">
            <a:spAutoFit/>
          </a:bodyPr>
          <a:lstStyle/>
          <a:p>
            <a:pPr algn="l">
              <a:lnSpc>
                <a:spcPct val="90000"/>
              </a:lnSpc>
              <a:spcAft>
                <a:spcPts val="1000"/>
              </a:spcAft>
            </a:pPr>
            <a:r>
              <a:rPr sz="1900" b="0">
                <a:solidFill>
                  <a:srgbClr val="333333"/>
                </a:solidFill>
                <a:latin typeface="Arial"/>
              </a:rPr>
              <a:t>Dillon, G.K. (2023) Wildfire Hazard Potential for the United States, 270-m, v2023. USDA Forest Service. doi:10.2737/RDS-2015-0047-4</a:t>
            </a:r>
          </a:p>
          <a:p>
            <a:pPr algn="l">
              <a:lnSpc>
                <a:spcPct val="90000"/>
              </a:lnSpc>
              <a:spcAft>
                <a:spcPts val="1000"/>
              </a:spcAft>
            </a:pPr>
            <a:r>
              <a:rPr sz="1900" b="0">
                <a:solidFill>
                  <a:srgbClr val="333333"/>
                </a:solidFill>
                <a:latin typeface="Arial"/>
              </a:rPr>
              <a:t>Petersen, M.D. et al. (2023) 2023 US National Seismic Hazard Model. USGS. doi:10.5066/P9GNPCOD</a:t>
            </a:r>
          </a:p>
          <a:p>
            <a:pPr algn="l">
              <a:lnSpc>
                <a:spcPct val="90000"/>
              </a:lnSpc>
              <a:spcAft>
                <a:spcPts val="1000"/>
              </a:spcAft>
            </a:pPr>
            <a:r>
              <a:rPr sz="1900" b="0">
                <a:solidFill>
                  <a:srgbClr val="333333"/>
                </a:solidFill>
                <a:latin typeface="Arial"/>
              </a:rPr>
              <a:t>FEMA (2026) National Flood Hazard Layer. hazards.fema.gov</a:t>
            </a:r>
          </a:p>
          <a:p>
            <a:pPr algn="l">
              <a:lnSpc>
                <a:spcPct val="90000"/>
              </a:lnSpc>
              <a:spcAft>
                <a:spcPts val="1000"/>
              </a:spcAft>
            </a:pPr>
            <a:r>
              <a:rPr sz="1900" b="0">
                <a:solidFill>
                  <a:srgbClr val="333333"/>
                </a:solidFill>
                <a:latin typeface="Arial"/>
              </a:rPr>
              <a:t>Oughton, E.J. &amp; Weigel, R. (2026) A Comparative Multi-Hazard Risk Assessment of the US High-Voltage Transmission Network. Zenodo. doi:10.5281/zenodo.20331026 (CC BY 4.0)</a:t>
            </a:r>
          </a:p>
          <a:p>
            <a:pPr algn="l">
              <a:lnSpc>
                <a:spcPct val="90000"/>
              </a:lnSpc>
              <a:spcAft>
                <a:spcPts val="1000"/>
              </a:spcAft>
            </a:pPr>
            <a:r>
              <a:rPr sz="1900" b="0">
                <a:solidFill>
                  <a:srgbClr val="333333"/>
                </a:solidFill>
                <a:latin typeface="Arial"/>
              </a:rPr>
              <a:t>WRI (2023) Aqueduct 4.0 Water Risk Atlas.</a:t>
            </a:r>
          </a:p>
        </p:txBody>
      </p:sp>
      <p:sp>
        <p:nvSpPr>
          <p:cNvPr id="160" name="Rectangle 159"/>
          <p:cNvSpPr/>
          <p:nvPr/>
        </p:nvSpPr>
        <p:spPr>
          <a:xfrm>
            <a:off x="22128480" y="20327112"/>
            <a:ext cx="10332720" cy="868680"/>
          </a:xfrm>
          <a:prstGeom prst="rect">
            <a:avLst/>
          </a:prstGeom>
          <a:solidFill>
            <a:srgbClr val="006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22311360" y="20381976"/>
            <a:ext cx="10058400" cy="777240"/>
          </a:xfrm>
          <a:prstGeom prst="rect">
            <a:avLst/>
          </a:prstGeom>
          <a:noFill/>
        </p:spPr>
        <p:txBody>
          <a:bodyPr wrap="square" anchor="ctr">
            <a:spAutoFit/>
          </a:bodyPr>
          <a:lstStyle/>
          <a:p>
            <a:pPr algn="l">
              <a:lnSpc>
                <a:spcPct val="95000"/>
              </a:lnSpc>
              <a:spcAft>
                <a:spcPts val="1000"/>
              </a:spcAft>
            </a:pPr>
            <a:r>
              <a:rPr sz="4400" b="1">
                <a:solidFill>
                  <a:srgbClr val="FFFFFF"/>
                </a:solidFill>
                <a:latin typeface="Arial"/>
              </a:rPr>
              <a:t>Acknowledgements</a:t>
            </a:r>
          </a:p>
        </p:txBody>
      </p:sp>
      <p:sp>
        <p:nvSpPr>
          <p:cNvPr id="162" name="TextBox 161"/>
          <p:cNvSpPr txBox="1"/>
          <p:nvPr/>
        </p:nvSpPr>
        <p:spPr>
          <a:xfrm>
            <a:off x="22128480" y="21287232"/>
            <a:ext cx="10332720" cy="1691640"/>
          </a:xfrm>
          <a:prstGeom prst="rect">
            <a:avLst/>
          </a:prstGeom>
          <a:noFill/>
        </p:spPr>
        <p:txBody>
          <a:bodyPr wrap="square" anchor="t">
            <a:spAutoFit/>
          </a:bodyPr>
          <a:lstStyle/>
          <a:p>
            <a:pPr algn="l">
              <a:lnSpc>
                <a:spcPct val="95000"/>
              </a:lnSpc>
              <a:spcAft>
                <a:spcPts val="1000"/>
              </a:spcAft>
            </a:pPr>
            <a:r>
              <a:rPr sz="2100" b="0">
                <a:solidFill>
                  <a:srgbClr val="333333"/>
                </a:solidFill>
                <a:latin typeface="Arial"/>
              </a:rPr>
              <a:t>Made possible by George Mason University's College of Science, which supports the ASSIP Program. Thanks to Prof. Edward Oughton for supervision and Dennies Bor for the multi-hazard layers.</a:t>
            </a:r>
          </a:p>
          <a:p>
            <a:pPr algn="l">
              <a:lnSpc>
                <a:spcPct val="95000"/>
              </a:lnSpc>
              <a:spcAft>
                <a:spcPts val="1000"/>
              </a:spcAft>
            </a:pPr>
            <a:r>
              <a:rPr sz="2100" b="0">
                <a:solidFill>
                  <a:srgbClr val="333333"/>
                </a:solidFill>
                <a:latin typeface="Arial"/>
              </a:rPr>
              <a:t/>
            </a:r>
          </a:p>
          <a:p>
            <a:pPr algn="l">
              <a:lnSpc>
                <a:spcPct val="95000"/>
              </a:lnSpc>
              <a:spcAft>
                <a:spcPts val="1000"/>
              </a:spcAft>
            </a:pPr>
            <a:r>
              <a:rPr sz="2100" b="0">
                <a:solidFill>
                  <a:srgbClr val="333333"/>
                </a:solidFill>
                <a:latin typeface="Arial"/>
              </a:rPr>
              <a:t>Data and code: github.com/aviangirekula/datacenter-dataset</a:t>
            </a:r>
          </a:p>
        </p:txBody>
      </p:sp>
    </p:spTree>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Office 2013 - 2022 Theme</Template>
  <TotalTime>1916</TotalTime>
  <Words>1018</Words>
  <Application>Microsoft Office PowerPoint</Application>
  <PresentationFormat>Custom</PresentationFormat>
  <Paragraphs>59</Paragraphs>
  <Slides>1</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Times New Roman</vt:lpstr>
      <vt:lpstr>Arial</vt:lpstr>
      <vt:lpstr>Calibri</vt:lpstr>
      <vt:lpstr>Palatino</vt:lpstr>
      <vt:lpstr>Calibri Light</vt:lpstr>
      <vt:lpstr>Office 2013 - 2022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Amanda Haymond</dc:creator>
  <cp:lastModifiedBy>Amanda Still</cp:lastModifiedBy>
  <cp:revision>45</cp:revision>
  <dcterms:modified xsi:type="dcterms:W3CDTF">2026-06-17T19:45:41Z</dcterms:modified>
</cp:coreProperties>
</file>
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3649979"/>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demand has concentrated US computing into a few dozen metro clusters that face earthquakes, wildfire and flooding.</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Existing sources are proprietary, or give city-level coordinates never checked against a building.</a:t>
            </a:r>
          </a:p>
          <a:p>
            <a:pPr algn="l" marL="346710" indent="-346710">
              <a:lnSpc>
                <a:spcPct val="95000"/>
              </a:lnSpc>
              <a:spcAft>
                <a:spcPts val="1000"/>
              </a:spcAft>
            </a:pPr>
            <a:r>
              <a:rPr sz="2600" b="0">
                <a:solidFill>
                  <a:srgbClr val="000000"/>
                </a:solidFill>
                <a:latin typeface="Arial"/>
              </a:rPr>
              <a:t>•  We built an open, building-level inventory of the contiguous US, with positional uncertainty carried through the hazard sampling.</a:t>
            </a:r>
          </a:p>
          <a:p>
            <a:pPr algn="l" marL="346710" indent="-346710">
              <a:lnSpc>
                <a:spcPct val="95000"/>
              </a:lnSpc>
              <a:spcAft>
                <a:spcPts val="1000"/>
              </a:spcAft>
            </a:pPr>
            <a:r>
              <a:rPr sz="2600" b="0">
                <a:solidFill>
                  <a:srgbClr val="000000"/>
                </a:solidFill>
                <a:latin typeface="Arial"/>
              </a:rPr>
              <a:t>•  We measured exposure, meaning whether a site lies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3035236"/>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row per site across the contiguous US, logging all 194 merges with their evidence.</a:t>
            </a:r>
          </a:p>
          <a:p>
            <a:pPr algn="l">
              <a:lnSpc>
                <a:spcPct val="95000"/>
              </a:lnSpc>
              <a:spcAft>
                <a:spcPts val="1000"/>
              </a:spcAft>
            </a:pPr>
            <a:r>
              <a:rPr sz="2600" b="0">
                <a:solidFill>
                  <a:srgbClr val="000000"/>
                </a:solidFill>
                <a:latin typeface="Arial"/>
              </a:rPr>
              <a:t>Every coordinate was checked against FEMA USA Structures footprints. 1,681 fall inside a building, 993 match the nearest, 22 have no match. Wildfire buffers use an equal-area projection, the rest are point queries:</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18776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Exposure is set by geography. Virginia's 409 sites are 0.7% exposed. California's 223 are 100%.</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328923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 national average hides the pattern. Only 7 of the 32 states with 20 or more sites fall between 10% and 60% exposed.</a:t>
            </a:r>
          </a:p>
          <a:p>
            <a:pPr algn="l" marL="346710" indent="-346710">
              <a:lnSpc>
                <a:spcPct val="95000"/>
              </a:lnSpc>
              <a:spcAft>
                <a:spcPts val="1000"/>
              </a:spcAft>
            </a:pPr>
            <a:r>
              <a:rPr sz="2600" b="0">
                <a:solidFill>
                  <a:srgbClr val="000000"/>
                </a:solidFill>
                <a:latin typeface="Arial"/>
              </a:rPr>
              <a:t>•  Most sites sit in low-exposure regions, but we cannot say whether hazard influenced siting.</a:t>
            </a:r>
          </a:p>
          <a:p>
            <a:pPr algn="l" marL="346710" indent="-346710">
              <a:lnSpc>
                <a:spcPct val="95000"/>
              </a:lnSpc>
              <a:spcAft>
                <a:spcPts val="1000"/>
              </a:spcAft>
            </a:pPr>
            <a:r>
              <a:rPr sz="2600" b="0">
                <a:solidFill>
                  <a:srgbClr val="000000"/>
                </a:solidFill>
                <a:latin typeface="Arial"/>
              </a:rPr>
              <a:t>•  New Jersey and California are both 100% exposed for opposite reasons, so a national index must report hazards separately.</a:t>
            </a:r>
          </a:p>
          <a:p>
            <a:pPr algn="l" marL="346710" indent="-346710">
              <a:lnSpc>
                <a:spcPct val="95000"/>
              </a:lnSpc>
              <a:spcAft>
                <a:spcPts val="1000"/>
              </a:spcAft>
            </a:pPr>
            <a:r>
              <a:rPr sz="2600" b="0">
                <a:solidFill>
                  <a:srgbClr val="000000"/>
                </a:solidFill>
                <a:latin typeface="Arial"/>
              </a:rPr>
              <a:t>•  Next: fragility curves to turn exposure into estimated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Petersen, M.D. et al. (2023) 2023 US National Seismic Hazard Model. USGS. doi:10.5066/P9GNPCOD</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620012"/>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a:p>
            <a:pPr algn="l">
              <a:lnSpc>
                <a:spcPct val="95000"/>
              </a:lnSpc>
              <a:spcAft>
                <a:spcPts val="1000"/>
              </a:spcAft>
            </a:pPr>
            <a:r>
              <a:rPr sz="2000" b="0">
                <a:solidFill>
                  <a:srgbClr val="333333"/>
                </a:solidFill>
                <a:latin typeface="Arial"/>
              </a:rPr>
              <a:t>Data and code: github.com/aviangirekula/datacenter-dataset</a:t>
            </a: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247889"/>
            <a:ext cx="10282778" cy="4506023"/>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247889"/>
            <a:ext cx="128016" cy="4506023"/>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321041"/>
            <a:ext cx="9871298" cy="4359719"/>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Limitations</a:t>
            </a:r>
          </a:p>
          <a:p>
            <a:pPr algn="l" marL="320040" indent="-320040">
              <a:lnSpc>
                <a:spcPct val="95000"/>
              </a:lnSpc>
              <a:spcAft>
                <a:spcPts val="800"/>
              </a:spcAft>
            </a:pPr>
            <a:r>
              <a:rPr sz="2400" b="0">
                <a:solidFill>
                  <a:srgbClr val="000000"/>
                </a:solidFill>
                <a:latin typeface="Arial"/>
              </a:rPr>
              <a:t>•  Coverage is uneven. OpenStreetMap supplies 83% of Virginia's records but 48% of California's, so state contrasts partly reflect who mapped them.</a:t>
            </a:r>
          </a:p>
          <a:p>
            <a:pPr algn="l" marL="320040" indent="-320040">
              <a:lnSpc>
                <a:spcPct val="95000"/>
              </a:lnSpc>
              <a:spcAft>
                <a:spcPts val="800"/>
              </a:spcAft>
            </a:pPr>
            <a:r>
              <a:rPr sz="2400" b="0">
                <a:solidFill>
                  <a:srgbClr val="000000"/>
                </a:solidFill>
                <a:latin typeface="Arial"/>
              </a:rPr>
              <a:t>•  Hail and wind reports rise with population density (Spearman 0.39 and 0.34 within state), so we excluded both.</a:t>
            </a:r>
          </a:p>
          <a:p>
            <a:pPr algn="l" marL="320040" indent="-320040">
              <a:lnSpc>
                <a:spcPct val="95000"/>
              </a:lnSpc>
              <a:spcAft>
                <a:spcPts val="800"/>
              </a:spcAft>
            </a:pPr>
            <a:r>
              <a:rPr sz="2400" b="0">
                <a:solidFill>
                  <a:srgbClr val="000000"/>
                </a:solidFill>
                <a:latin typeface="Arial"/>
              </a:rPr>
              <a:t>•  No open source lists power capacity, so a small suite counts the same as a large campus.</a:t>
            </a:r>
          </a:p>
          <a:p>
            <a:pPr algn="l" marL="320040" indent="-320040">
              <a:lnSpc>
                <a:spcPct val="95000"/>
              </a:lnSpc>
              <a:spcAft>
                <a:spcPts val="800"/>
              </a:spcAft>
            </a:pPr>
            <a:r>
              <a:rPr sz="2400" b="0">
                <a:solidFill>
                  <a:srgbClr val="000000"/>
                </a:solidFill>
                <a:latin typeface="Arial"/>
              </a:rPr>
              <a:t>•  40 sites shown as clear sit outside FEMA's mapped extent and 8 outside the wildfire raster, so 35% is a floor.</a:t>
            </a:r>
          </a:p>
        </p:txBody>
      </p:sp>
      <p:sp>
        <p:nvSpPr>
          <p:cNvPr id="135" name="Rectangle 134"/>
          <p:cNvSpPr/>
          <p:nvPr/>
        </p:nvSpPr>
        <p:spPr>
          <a:xfrm>
            <a:off x="422419" y="18332178"/>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8350466"/>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Earthquake</a:t>
            </a:r>
          </a:p>
        </p:txBody>
      </p:sp>
      <p:sp>
        <p:nvSpPr>
          <p:cNvPr id="137" name="TextBox 136"/>
          <p:cNvSpPr txBox="1"/>
          <p:nvPr/>
        </p:nvSpPr>
        <p:spPr>
          <a:xfrm>
            <a:off x="3531380" y="18350466"/>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USGS ASCE 7-22, MCE_G PGA, site class BC</a:t>
            </a:r>
          </a:p>
        </p:txBody>
      </p:sp>
      <p:sp>
        <p:nvSpPr>
          <p:cNvPr id="138" name="Rectangle 137"/>
          <p:cNvSpPr/>
          <p:nvPr/>
        </p:nvSpPr>
        <p:spPr>
          <a:xfrm>
            <a:off x="422419" y="19036266"/>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9054554"/>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Wildfire</a:t>
            </a:r>
          </a:p>
        </p:txBody>
      </p:sp>
      <p:sp>
        <p:nvSpPr>
          <p:cNvPr id="140" name="TextBox 139"/>
          <p:cNvSpPr txBox="1"/>
          <p:nvPr/>
        </p:nvSpPr>
        <p:spPr>
          <a:xfrm>
            <a:off x="3531380" y="19054554"/>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USFS Hazard Potential 270 m, max in 2.4 km</a:t>
            </a:r>
          </a:p>
        </p:txBody>
      </p:sp>
      <p:sp>
        <p:nvSpPr>
          <p:cNvPr id="141" name="Rectangle 140"/>
          <p:cNvSpPr/>
          <p:nvPr/>
        </p:nvSpPr>
        <p:spPr>
          <a:xfrm>
            <a:off x="422419" y="19740354"/>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19758642"/>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Flood</a:t>
            </a:r>
          </a:p>
        </p:txBody>
      </p:sp>
      <p:sp>
        <p:nvSpPr>
          <p:cNvPr id="143" name="TextBox 142"/>
          <p:cNvSpPr txBox="1"/>
          <p:nvPr/>
        </p:nvSpPr>
        <p:spPr>
          <a:xfrm>
            <a:off x="3531380" y="19758642"/>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FEMA NFHL layer 28, SFHA flag</a:t>
            </a:r>
          </a:p>
        </p:txBody>
      </p:sp>
      <p:sp>
        <p:nvSpPr>
          <p:cNvPr id="144" name="Rectangle 143"/>
          <p:cNvSpPr/>
          <p:nvPr/>
        </p:nvSpPr>
        <p:spPr>
          <a:xfrm>
            <a:off x="422419" y="20444442"/>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20462730"/>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Water stress</a:t>
            </a:r>
          </a:p>
        </p:txBody>
      </p:sp>
      <p:sp>
        <p:nvSpPr>
          <p:cNvPr id="146" name="TextBox 145"/>
          <p:cNvSpPr txBox="1"/>
          <p:nvPr/>
        </p:nvSpPr>
        <p:spPr>
          <a:xfrm>
            <a:off x="3531380" y="20462730"/>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WRI Aqueduct 4.0 (a supply limit, reported apart)</a:t>
            </a:r>
          </a:p>
        </p:txBody>
      </p:sp>
      <p:sp>
        <p:nvSpPr>
          <p:cNvPr id="147" name="Rectangle 146"/>
          <p:cNvSpPr/>
          <p:nvPr/>
        </p:nvSpPr>
        <p:spPr>
          <a:xfrm>
            <a:off x="422419" y="21148530"/>
            <a:ext cx="10191338" cy="6217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1166818"/>
            <a:ext cx="2926080" cy="585216"/>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Uncertainty</a:t>
            </a:r>
          </a:p>
        </p:txBody>
      </p:sp>
      <p:sp>
        <p:nvSpPr>
          <p:cNvPr id="149" name="TextBox 148"/>
          <p:cNvSpPr txBox="1"/>
          <p:nvPr/>
        </p:nvSpPr>
        <p:spPr>
          <a:xfrm>
            <a:off x="3531380" y="21166818"/>
            <a:ext cx="6899497" cy="585216"/>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500 relocations per site, 10-500 m by precision</a:t>
            </a:r>
          </a:p>
        </p:txBody>
      </p:sp>
      <p:sp>
        <p:nvSpPr>
          <p:cNvPr id="150" name="TextBox 149"/>
          <p:cNvSpPr txBox="1"/>
          <p:nvPr/>
        </p:nvSpPr>
        <p:spPr>
          <a:xfrm>
            <a:off x="376700" y="21944058"/>
            <a:ext cx="10282778" cy="218674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site counts as exposed if it lies within 2.4 km of land rated High or Very High for wildfire, inside a FEMA Special Flood Hazard Area, or at MCE_G peak ground acceleration of 0.30 g or above. Where a layer has no value there, the site is recorded as unknown, not as safe.</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mapped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35%</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a mapped hazard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0.7%</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of Virginia's 409</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100%</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of California's 223</a:t>
            </a:r>
          </a:p>
        </p:txBody>
      </p:sp>
      <p:pic>
        <p:nvPicPr>
          <p:cNvPr id="159" name="Picture 158" descr="fig1_map.png"/>
          <p:cNvPicPr>
            <a:picLocks noChangeAspect="1"/>
          </p:cNvPicPr>
          <p:nvPr/>
        </p:nvPicPr>
        <p:blipFill>
          <a:blip r:embed="rId5"/>
          <a:stretch>
            <a:fillRect/>
          </a:stretch>
        </p:blipFill>
        <p:spPr>
          <a:xfrm>
            <a:off x="10965973" y="8231765"/>
            <a:ext cx="10781748" cy="5086182"/>
          </a:xfrm>
          <a:prstGeom prst="rect">
            <a:avLst/>
          </a:prstGeom>
        </p:spPr>
      </p:pic>
      <p:sp>
        <p:nvSpPr>
          <p:cNvPr id="160" name="TextBox 159"/>
          <p:cNvSpPr txBox="1"/>
          <p:nvPr/>
        </p:nvSpPr>
        <p:spPr>
          <a:xfrm>
            <a:off x="10965973" y="13391100"/>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One third of US data centers face a mapped hazard. Sites facing two or more (orange) concentrate in California and the Northeast.</a:t>
            </a:r>
          </a:p>
        </p:txBody>
      </p:sp>
      <p:sp>
        <p:nvSpPr>
          <p:cNvPr id="161" name="TextBox 160"/>
          <p:cNvSpPr txBox="1"/>
          <p:nvPr/>
        </p:nvSpPr>
        <p:spPr>
          <a:xfrm>
            <a:off x="10965973" y="14476061"/>
            <a:ext cx="10781748" cy="4010723"/>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Which hazard dominates depends on the region. New Jersey reaches 100% through wildfire alone (the Pine Barrens rate High or Very High) and 0% through earthquake. California is 96% earthquake.</a:t>
            </a:r>
          </a:p>
          <a:p>
            <a:pPr algn="l">
              <a:lnSpc>
                <a:spcPct val="95000"/>
              </a:lnSpc>
              <a:spcAft>
                <a:spcPts val="800"/>
              </a:spcAft>
            </a:pPr>
            <a:r>
              <a:rPr sz="2600" b="0">
                <a:solidFill>
                  <a:srgbClr val="000000"/>
                </a:solidFill>
                <a:latin typeface="Arial"/>
              </a:rPr>
              <a:t>Nationally 646 sites are exposed to wildfire, 448 to earthquake and 71 to flood. 205 face more than one, so these overlap.</a:t>
            </a:r>
          </a:p>
          <a:p>
            <a:pPr algn="l">
              <a:lnSpc>
                <a:spcPct val="95000"/>
              </a:lnSpc>
              <a:spcAft>
                <a:spcPts val="800"/>
              </a:spcAft>
            </a:pPr>
            <a:r>
              <a:rPr sz="2600" b="0">
                <a:solidFill>
                  <a:srgbClr val="000000"/>
                </a:solidFill>
                <a:latin typeface="Arial"/>
              </a:rPr>
              <a:t>Virginia avoids the mapped hazards but not water. 31% of its 409 sites lie in high water-stress basins, against 0.7% for the three hazards.</a:t>
            </a:r>
          </a:p>
          <a:p>
            <a:pPr algn="l">
              <a:lnSpc>
                <a:spcPct val="95000"/>
              </a:lnSpc>
              <a:spcAft>
                <a:spcPts val="800"/>
              </a:spcAft>
            </a:pPr>
            <a:r>
              <a:rPr sz="2600" b="0">
                <a:solidFill>
                  <a:srgbClr val="000000"/>
                </a:solidFill>
                <a:latin typeface="Arial"/>
              </a:rPr>
              <a:t>Widening the wildfire buffer from 2.4 km to 5 km takes that count from 646 to 953, so the threshold moves the answer by half.</a:t>
            </a:r>
          </a:p>
        </p:txBody>
      </p:sp>
      <p:pic>
        <p:nvPicPr>
          <p:cNvPr id="162" name="Picture 161" descr="fig2_states.png"/>
          <p:cNvPicPr>
            <a:picLocks noChangeAspect="1"/>
          </p:cNvPicPr>
          <p:nvPr/>
        </p:nvPicPr>
        <p:blipFill>
          <a:blip r:embed="rId6"/>
          <a:stretch>
            <a:fillRect/>
          </a:stretch>
        </p:blipFill>
        <p:spPr>
          <a:xfrm>
            <a:off x="10965973" y="18578224"/>
            <a:ext cx="10781748" cy="4238557"/>
          </a:xfrm>
          <a:prstGeom prst="rect">
            <a:avLst/>
          </a:prstGeom>
        </p:spPr>
      </p:pic>
      <p:sp>
        <p:nvSpPr>
          <p:cNvPr id="163" name="TextBox 162"/>
          <p:cNvSpPr txBox="1"/>
          <p:nvPr/>
        </p:nvSpPr>
        <p:spPr>
          <a:xfrm>
            <a:off x="10965973" y="22871645"/>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Every state with 20 or more facilities. 25 of 32 sit below 10% or above 60%, and colour shows which hazard drives each one.</a:t>
            </a:r>
          </a:p>
        </p:txBody>
      </p:sp>
      <p:sp>
        <p:nvSpPr>
          <p:cNvPr id="164" name="Rectangle 163"/>
          <p:cNvSpPr/>
          <p:nvPr/>
        </p:nvSpPr>
        <p:spPr>
          <a:xfrm>
            <a:off x="22090621" y="8723890"/>
            <a:ext cx="10397100" cy="2390679"/>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8723890"/>
            <a:ext cx="128016" cy="2390679"/>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8797042"/>
            <a:ext cx="9985620" cy="2244375"/>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checks that came back negative</a:t>
            </a:r>
          </a:p>
          <a:p>
            <a:pPr algn="l">
              <a:lnSpc>
                <a:spcPct val="95000"/>
              </a:lnSpc>
              <a:spcAft>
                <a:spcPts val="800"/>
              </a:spcAft>
            </a:pPr>
            <a:r>
              <a:rPr sz="2400" b="0">
                <a:solidFill>
                  <a:srgbClr val="000000"/>
                </a:solidFill>
                <a:latin typeface="Arial"/>
              </a:rPr>
              <a:t>Sampling hazard across a building's whole footprint instead of its centre changed the answer for 29 of the 326 sites where both could be compared. Building height showed no association with exposure once state was held constant.</a:t>
            </a:r>
          </a:p>
        </p:txBody>
      </p:sp>
      <p:pic>
        <p:nvPicPr>
          <p:cNvPr id="167" name="Picture 166" descr="fig3_confidence.png"/>
          <p:cNvPicPr>
            <a:picLocks noChangeAspect="1"/>
          </p:cNvPicPr>
          <p:nvPr/>
        </p:nvPicPr>
        <p:blipFill>
          <a:blip r:embed="rId7"/>
          <a:stretch>
            <a:fillRect/>
          </a:stretch>
        </p:blipFill>
        <p:spPr>
          <a:xfrm>
            <a:off x="22090621" y="11242586"/>
            <a:ext cx="10397100" cy="3460706"/>
          </a:xfrm>
          <a:prstGeom prst="rect">
            <a:avLst/>
          </a:prstGeom>
        </p:spPr>
      </p:pic>
      <p:sp>
        <p:nvSpPr>
          <p:cNvPr id="168" name="TextBox 167"/>
          <p:cNvSpPr txBox="1"/>
          <p:nvPr/>
        </p:nvSpPr>
        <p:spPr>
          <a:xfrm>
            <a:off x="22090621" y="14739868"/>
            <a:ext cx="10397100"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We re-ran the analysis with simulated location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
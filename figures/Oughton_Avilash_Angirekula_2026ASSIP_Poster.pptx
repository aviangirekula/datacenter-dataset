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37146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 free, public, building-level inventory of the contiguous US, and tested how much the answer moves when a coordinate is wrong.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883723"/>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record per site across the contiguous US, matching on name and distance, with written evidence kept for all 194 merges.</a:t>
            </a:r>
          </a:p>
          <a:p>
            <a:pPr algn="l">
              <a:lnSpc>
                <a:spcPct val="95000"/>
              </a:lnSpc>
              <a:spcAft>
                <a:spcPts val="1000"/>
              </a:spcAft>
            </a:pPr>
            <a:r>
              <a:rPr sz="2600" b="0">
                <a:solidFill>
                  <a:srgbClr val="000000"/>
                </a:solidFill>
                <a:latin typeface="Arial"/>
              </a:rPr>
              <a:t>Against FEMA USA Structures footprints, 1,681 coordinates fall inside a building, 993 match the nearest and 22 have no match. A second non-OSM source confirmed 1,546, and we re-checked the 1,150 least certain with an AI-assisted pipeline we then reviewed.</a:t>
            </a:r>
          </a:p>
          <a:p>
            <a:pPr algn="l">
              <a:lnSpc>
                <a:spcPct val="95000"/>
              </a:lnSpc>
              <a:spcAft>
                <a:spcPts val="1000"/>
              </a:spcAft>
            </a:pPr>
            <a:r>
              <a:rPr sz="2600" b="0">
                <a:solidFill>
                  <a:srgbClr val="000000"/>
                </a:solidFill>
                <a:latin typeface="Arial"/>
              </a:rPr>
              <a:t>Our first seismic layer failed validation against USGS reference values (22 of 150 sites within 10%), so we replaced it:</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The hazard map and the water map barely overlap. Counting water stress takes the fleet from 35% to 56% constrained.</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28923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The 35% headline is the least useful number here. Only 7 of 32 states with 20 or more sites fall between 10% and 60% exposed.</a:t>
            </a:r>
          </a:p>
          <a:p>
            <a:pPr algn="l" marL="346710" indent="-346710">
              <a:lnSpc>
                <a:spcPct val="95000"/>
              </a:lnSpc>
              <a:spcAft>
                <a:spcPts val="1000"/>
              </a:spcAft>
            </a:pPr>
            <a:r>
              <a:rPr sz="2600" b="0">
                <a:solidFill>
                  <a:srgbClr val="000000"/>
                </a:solidFill>
                <a:latin typeface="Arial"/>
              </a:rPr>
              <a:t>•  Water stress is not a natural hazard, but it constrains the same buildings, and it is high where the hazard map says clear.</a:t>
            </a:r>
          </a:p>
          <a:p>
            <a:pPr algn="l" marL="346710" indent="-346710">
              <a:lnSpc>
                <a:spcPct val="95000"/>
              </a:lnSpc>
              <a:spcAft>
                <a:spcPts val="1000"/>
              </a:spcAft>
            </a:pPr>
            <a:r>
              <a:rPr sz="2600" b="0">
                <a:solidFill>
                  <a:srgbClr val="000000"/>
                </a:solidFill>
                <a:latin typeface="Arial"/>
              </a:rPr>
              <a:t>•  New Jersey and California are both 100% exposed for opposite reasons, so one national score would hide what a site faces.</a:t>
            </a:r>
          </a:p>
          <a:p>
            <a:pPr algn="l" marL="346710" indent="-346710">
              <a:lnSpc>
                <a:spcPct val="95000"/>
              </a:lnSpc>
              <a:spcAft>
                <a:spcPts val="1000"/>
              </a:spcAft>
            </a:pPr>
            <a:r>
              <a:rPr sz="2600" b="0">
                <a:solidFill>
                  <a:srgbClr val="000000"/>
                </a:solidFill>
                <a:latin typeface="Arial"/>
              </a:rPr>
              <a:t>•  Next: fragility curves, to turn exposure into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USGS (2026) ASCE 7-22 Seismic Design Maps web service. earthquake.usgs.gov/ws/designmaps</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860984"/>
            <a:ext cx="10282778" cy="4547647"/>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860984"/>
            <a:ext cx="128016" cy="4547647"/>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934136"/>
            <a:ext cx="9871298" cy="4401343"/>
          </a:xfrm>
          <a:prstGeom prst="rect">
            <a:avLst/>
          </a:prstGeom>
          <a:noFill/>
        </p:spPr>
        <p:txBody>
          <a:bodyPr wrap="square" anchor="t" tIns="36576" bIns="36576">
            <a:spAutoFit/>
          </a:bodyPr>
          <a:lstStyle/>
          <a:p>
            <a:pPr algn="l">
              <a:lnSpc>
                <a:spcPct val="95000"/>
              </a:lnSpc>
              <a:spcAft>
                <a:spcPts val="800"/>
              </a:spcAft>
            </a:pPr>
            <a:r>
              <a:rPr sz="2300" b="1">
                <a:solidFill>
                  <a:srgbClr val="000000"/>
                </a:solidFill>
                <a:latin typeface="Arial"/>
              </a:rPr>
              <a:t>Limitations</a:t>
            </a:r>
          </a:p>
          <a:p>
            <a:pPr algn="l" marL="293370" indent="-293370">
              <a:lnSpc>
                <a:spcPct val="95000"/>
              </a:lnSpc>
              <a:spcAft>
                <a:spcPts val="800"/>
              </a:spcAft>
            </a:pPr>
            <a:r>
              <a:rPr sz="2200" b="0">
                <a:solidFill>
                  <a:srgbClr val="000000"/>
                </a:solidFill>
                <a:latin typeface="Arial"/>
              </a:rPr>
              <a:t>•  Coverage is uneven. 83% of our Virginia sites come from OpenStreetMap against 48% of our California ones, so part of the gap between states reflects who did the mapping.</a:t>
            </a:r>
          </a:p>
          <a:p>
            <a:pPr algn="l" marL="293370" indent="-293370">
              <a:lnSpc>
                <a:spcPct val="95000"/>
              </a:lnSpc>
              <a:spcAft>
                <a:spcPts val="800"/>
              </a:spcAft>
            </a:pPr>
            <a:r>
              <a:rPr sz="2200" b="0">
                <a:solidFill>
                  <a:srgbClr val="000000"/>
                </a:solidFill>
                <a:latin typeface="Arial"/>
              </a:rPr>
              <a:t>•  Hail and wind come from eyewitness reports, so within a state their rates track how built-up the surroundings are (rank correlation 0.39 and 0.34). We left both out, along with lightning, tornado and hurricane.</a:t>
            </a:r>
          </a:p>
          <a:p>
            <a:pPr algn="l" marL="293370" indent="-293370">
              <a:lnSpc>
                <a:spcPct val="95000"/>
              </a:lnSpc>
              <a:spcAft>
                <a:spcPts val="800"/>
              </a:spcAft>
            </a:pPr>
            <a:r>
              <a:rPr sz="2200" b="0">
                <a:solidFill>
                  <a:srgbClr val="000000"/>
                </a:solidFill>
                <a:latin typeface="Arial"/>
              </a:rPr>
              <a:t>•  No public source lists power capacity, so a single server room counts the same as a 100 MW campus.</a:t>
            </a:r>
          </a:p>
          <a:p>
            <a:pPr algn="l" marL="293370" indent="-293370">
              <a:lnSpc>
                <a:spcPct val="95000"/>
              </a:lnSpc>
              <a:spcAft>
                <a:spcPts val="800"/>
              </a:spcAft>
            </a:pPr>
            <a:r>
              <a:rPr sz="22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9180665"/>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9189809"/>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Earthquake</a:t>
            </a:r>
          </a:p>
        </p:txBody>
      </p:sp>
      <p:sp>
        <p:nvSpPr>
          <p:cNvPr id="137" name="TextBox 136"/>
          <p:cNvSpPr txBox="1"/>
          <p:nvPr/>
        </p:nvSpPr>
        <p:spPr>
          <a:xfrm>
            <a:off x="3531380" y="19189809"/>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USGS ASCE 7-22 shaking, 2% chance in 50 yr</a:t>
            </a:r>
          </a:p>
        </p:txBody>
      </p:sp>
      <p:sp>
        <p:nvSpPr>
          <p:cNvPr id="138" name="Rectangle 137"/>
          <p:cNvSpPr/>
          <p:nvPr/>
        </p:nvSpPr>
        <p:spPr>
          <a:xfrm>
            <a:off x="422419" y="19811601"/>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820745"/>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Wildfire</a:t>
            </a:r>
          </a:p>
        </p:txBody>
      </p:sp>
      <p:sp>
        <p:nvSpPr>
          <p:cNvPr id="140" name="TextBox 139"/>
          <p:cNvSpPr txBox="1"/>
          <p:nvPr/>
        </p:nvSpPr>
        <p:spPr>
          <a:xfrm>
            <a:off x="3531380" y="19820745"/>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USFS Hazard Potential 270 m, max in 2.4 km</a:t>
            </a:r>
          </a:p>
        </p:txBody>
      </p:sp>
      <p:sp>
        <p:nvSpPr>
          <p:cNvPr id="141" name="Rectangle 140"/>
          <p:cNvSpPr/>
          <p:nvPr/>
        </p:nvSpPr>
        <p:spPr>
          <a:xfrm>
            <a:off x="422419" y="20442537"/>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20451681"/>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Flood</a:t>
            </a:r>
          </a:p>
        </p:txBody>
      </p:sp>
      <p:sp>
        <p:nvSpPr>
          <p:cNvPr id="143" name="TextBox 142"/>
          <p:cNvSpPr txBox="1"/>
          <p:nvPr/>
        </p:nvSpPr>
        <p:spPr>
          <a:xfrm>
            <a:off x="3531380" y="20451681"/>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FEMA NFHL layer 28, SFHA flag</a:t>
            </a:r>
          </a:p>
        </p:txBody>
      </p:sp>
      <p:sp>
        <p:nvSpPr>
          <p:cNvPr id="144" name="Rectangle 143"/>
          <p:cNvSpPr/>
          <p:nvPr/>
        </p:nvSpPr>
        <p:spPr>
          <a:xfrm>
            <a:off x="422419" y="21073473"/>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1082617"/>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Water stress</a:t>
            </a:r>
          </a:p>
        </p:txBody>
      </p:sp>
      <p:sp>
        <p:nvSpPr>
          <p:cNvPr id="146" name="TextBox 145"/>
          <p:cNvSpPr txBox="1"/>
          <p:nvPr/>
        </p:nvSpPr>
        <p:spPr>
          <a:xfrm>
            <a:off x="3531380" y="21082617"/>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WRI Aqueduct 4.0 (a supply limit, reported apart)</a:t>
            </a:r>
          </a:p>
        </p:txBody>
      </p:sp>
      <p:sp>
        <p:nvSpPr>
          <p:cNvPr id="147" name="Rectangle 146"/>
          <p:cNvSpPr/>
          <p:nvPr/>
        </p:nvSpPr>
        <p:spPr>
          <a:xfrm>
            <a:off x="422419" y="21704409"/>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713553"/>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Uncertainty</a:t>
            </a:r>
          </a:p>
        </p:txBody>
      </p:sp>
      <p:sp>
        <p:nvSpPr>
          <p:cNvPr id="149" name="TextBox 148"/>
          <p:cNvSpPr txBox="1"/>
          <p:nvPr/>
        </p:nvSpPr>
        <p:spPr>
          <a:xfrm>
            <a:off x="3531380" y="21713553"/>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500 relocations per site, 10-500 m by precision</a:t>
            </a:r>
          </a:p>
        </p:txBody>
      </p:sp>
      <p:sp>
        <p:nvSpPr>
          <p:cNvPr id="150" name="TextBox 149"/>
          <p:cNvSpPr txBox="1"/>
          <p:nvPr/>
        </p:nvSpPr>
        <p:spPr>
          <a:xfrm>
            <a:off x="376700" y="22426785"/>
            <a:ext cx="10282778" cy="1826005"/>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peak ground acceleration of 0.30 g or above. The 2.4 km radius is the 1.5 mile ember-cast distance.</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located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954</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952</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in a high water-stress basin</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563</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water-stressed only</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129876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Of the 205 facing two or more (orange), California holds 119, with smaller clusters in Utah, Nevada and New Jersey.</a:t>
            </a:r>
          </a:p>
        </p:txBody>
      </p:sp>
      <p:sp>
        <p:nvSpPr>
          <p:cNvPr id="161" name="TextBox 160"/>
          <p:cNvSpPr txBox="1"/>
          <p:nvPr/>
        </p:nvSpPr>
        <p:spPr>
          <a:xfrm>
            <a:off x="10965973" y="14781305"/>
            <a:ext cx="10781748" cy="4605210"/>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952 sites lie in a high or extremely-high water-stress basin, almost exactly the 954 facing a mapped hazard, but only 389 are the same sites. Water stress lands hardest where the hazard map says clear: Virginia is 0.7% hazard-exposed and 31% water-stressed, Illinois 2.7% and 95%.</a:t>
            </a:r>
          </a:p>
          <a:p>
            <a:pPr algn="l">
              <a:lnSpc>
                <a:spcPct val="95000"/>
              </a:lnSpc>
              <a:spcAft>
                <a:spcPts val="800"/>
              </a:spcAft>
            </a:pPr>
            <a:r>
              <a:rPr sz="2600" b="0">
                <a:solidFill>
                  <a:srgbClr val="000000"/>
                </a:solidFill>
                <a:latin typeface="Arial"/>
              </a:rPr>
              <a:t>Which hazard dominates depends on the region. New Jersey reaches 100% through wildfire alone and 0% through earthquake, California 96% earthquake. Nationally 646 sites are exposed to wildfire, 448 to earthquake and 71 to flood, and 205 face more than one.</a:t>
            </a:r>
          </a:p>
          <a:p>
            <a:pPr algn="l">
              <a:lnSpc>
                <a:spcPct val="95000"/>
              </a:lnSpc>
              <a:spcAft>
                <a:spcPts val="800"/>
              </a:spcAft>
            </a:pPr>
            <a:r>
              <a:rPr sz="2600" b="0">
                <a:solidFill>
                  <a:srgbClr val="000000"/>
                </a:solidFill>
                <a:latin typeface="Arial"/>
              </a:rPr>
              <a:t>Widening the wildfire buffer to 5 km takes that count from 646 to 953, a 48% jump.</a:t>
            </a:r>
          </a:p>
        </p:txBody>
      </p:sp>
      <p:pic>
        <p:nvPicPr>
          <p:cNvPr id="162" name="Picture 161" descr="fig2_states.png"/>
          <p:cNvPicPr>
            <a:picLocks noChangeAspect="1"/>
          </p:cNvPicPr>
          <p:nvPr/>
        </p:nvPicPr>
        <p:blipFill>
          <a:blip r:embed="rId6"/>
          <a:stretch>
            <a:fillRect/>
          </a:stretch>
        </p:blipFill>
        <p:spPr>
          <a:xfrm>
            <a:off x="10965973" y="19477956"/>
            <a:ext cx="10781748" cy="4075236"/>
          </a:xfrm>
          <a:prstGeom prst="rect">
            <a:avLst/>
          </a:prstGeom>
        </p:spPr>
      </p:pic>
      <p:sp>
        <p:nvSpPr>
          <p:cNvPr id="163" name="TextBox 162"/>
          <p:cNvSpPr txBox="1"/>
          <p:nvPr/>
        </p:nvSpPr>
        <p:spPr>
          <a:xfrm>
            <a:off x="10965973" y="23608056"/>
            <a:ext cx="10781748"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All 32 states with 20 or more sites, coloured by dominant hazard.</a:t>
            </a:r>
          </a:p>
        </p:txBody>
      </p:sp>
      <p:sp>
        <p:nvSpPr>
          <p:cNvPr id="164" name="Rectangle 163"/>
          <p:cNvSpPr/>
          <p:nvPr/>
        </p:nvSpPr>
        <p:spPr>
          <a:xfrm>
            <a:off x="22090621" y="8723890"/>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723890"/>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797042"/>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on our choices</a:t>
            </a:r>
          </a:p>
          <a:p>
            <a:pPr algn="l">
              <a:lnSpc>
                <a:spcPct val="95000"/>
              </a:lnSpc>
              <a:spcAft>
                <a:spcPts val="800"/>
              </a:spcAft>
            </a:pPr>
            <a:r>
              <a:rPr sz="2400" b="0">
                <a:solidFill>
                  <a:srgbClr val="000000"/>
                </a:solidFill>
                <a:latin typeface="Arial"/>
              </a:rPr>
              <a:t>Sampling across a building's whole footprint instead of its centre changed the answer for 29 of the 326 sites where both could be compared. Taller buildings looked more exposed nationally, but that vanished within states, so it was geography and not height.</a:t>
            </a:r>
          </a:p>
        </p:txBody>
      </p:sp>
      <p:pic>
        <p:nvPicPr>
          <p:cNvPr id="167" name="Picture 166" descr="fig3_confidence.png"/>
          <p:cNvPicPr>
            <a:picLocks noChangeAspect="1"/>
          </p:cNvPicPr>
          <p:nvPr/>
        </p:nvPicPr>
        <p:blipFill>
          <a:blip r:embed="rId7"/>
          <a:stretch>
            <a:fillRect/>
          </a:stretch>
        </p:blipFill>
        <p:spPr>
          <a:xfrm>
            <a:off x="22090621" y="11242586"/>
            <a:ext cx="10397100" cy="3301903"/>
          </a:xfrm>
          <a:prstGeom prst="rect">
            <a:avLst/>
          </a:prstGeom>
        </p:spPr>
      </p:pic>
      <p:sp>
        <p:nvSpPr>
          <p:cNvPr id="168" name="TextBox 167"/>
          <p:cNvSpPr txBox="1"/>
          <p:nvPr/>
        </p:nvSpPr>
        <p:spPr>
          <a:xfrm>
            <a:off x="22090621" y="14581065"/>
            <a:ext cx="10397100"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Moving each coordinate 500 times flips the wildfire class for at most 9% of sites placed within 100 m.</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